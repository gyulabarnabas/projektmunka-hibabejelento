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media/image6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 dia áthelyezéséhez kattintson 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hu-H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jegyzetformátum szerkesztéséhez kattintson ide</a:t>
            </a:r>
            <a:endParaRPr lang="hu-H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&lt;élőfej&gt;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&lt;dátum/idő&gt;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1F0120C-A637-433D-8E7A-07460DB83934}" type="slidenum"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&lt;szám&gt;</a:t>
            </a:fld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Ezt nem látja senki</a:t>
            </a:r>
            <a:endParaRPr lang="hu-H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hu-H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3EB58BE-8E15-4133-8471-4A5A633DEA17}" type="slidenum">
              <a:rPr lang="hu-H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822D417-5B94-408C-99D0-4DFFF29E62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12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Címszöveg formátumának szerkesztése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Vázlatszöveg formátumának szerkesztése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Második vázlatszint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Harmadik vázlatszint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Negyedik vázlatszint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Ötödik vázlatszint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Hatodik vázlatszint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Hetedik vázlatszint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&lt;dátum/idő&gt;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D744716-9E99-48C8-A067-7F9319DCDE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Vázlatszöveg formátumának szerkesztése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Második vázlatszint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Harmadik vázlatszint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Negyedik vázlatszint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Ötödik vázlatszint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Hatodik vázlatszint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Hetedik vázlatszint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&lt;dátum/idő&gt;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F0E982D-6D8D-4535-9FDD-709FB90DAA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&lt;dátum/idő&gt;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62EA27C-E23C-4F9C-A358-94FE1B88AC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&lt;dátum/idő&gt;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C10E896-A58A-4783-B5F7-3BD1F042E0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&lt;dátum/idő&gt;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0158E2A-835F-4ACE-B20B-2EE420E6E2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&lt;dátum/idő&gt;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661AF6C-C33D-4C3D-B9D0-0FF7497719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&lt;dátum/idő&gt;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BF77971-5E2E-4369-B96C-E96DED293A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&lt;dátum/idő&gt;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45F5F03-1E44-4111-93B5-1CBEBC36DE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&lt;dátum/idő&gt;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68C392E-186B-4B2F-9B72-A98F02D680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&lt;dátum/idő&gt;</a:t>
            </a:r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&lt;élőláb&gt;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C0E7450-CBF2-40EE-A7AE-5280A3A9C2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&lt;szám&gt;</a:t>
            </a:fld>
            <a:endParaRPr lang="hu-H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sv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Oval 1"/>
          <p:cNvSpPr/>
          <p:nvPr/>
        </p:nvSpPr>
        <p:spPr>
          <a:xfrm>
            <a:off x="-914400" y="457200"/>
            <a:ext cx="7314480" cy="7314480"/>
          </a:xfrm>
          <a:prstGeom prst="ellipse">
            <a:avLst/>
          </a:prstGeom>
          <a:solidFill>
            <a:srgbClr val="0D213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4846320" y="457200"/>
            <a:ext cx="27424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4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🛠️</a:t>
            </a:r>
            <a:endParaRPr lang="hu-HU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2011680" y="1737360"/>
            <a:ext cx="8228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VIZSGAREMEK  -  2026. M</a:t>
            </a:r>
            <a:r>
              <a:rPr lang="hu-HU" sz="10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Á</a:t>
            </a:r>
            <a:r>
              <a:rPr lang="en-US" sz="10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JUS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731520" y="2148840"/>
            <a:ext cx="10697760" cy="9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Hibabejelent</a:t>
            </a:r>
            <a:r>
              <a:rPr lang="hu-HU" sz="54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ő</a:t>
            </a:r>
            <a:endParaRPr lang="hu-HU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1371600" y="3429000"/>
            <a:ext cx="941760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Webes hibabejelent</a:t>
            </a:r>
            <a:r>
              <a:rPr lang="hu-HU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ő</a:t>
            </a:r>
            <a:r>
              <a:rPr lang="en-US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 </a:t>
            </a:r>
            <a:r>
              <a:rPr lang="hu-HU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é</a:t>
            </a:r>
            <a:r>
              <a:rPr lang="en-US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s -nyil</a:t>
            </a:r>
            <a:r>
              <a:rPr lang="hu-HU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vá</a:t>
            </a:r>
            <a:r>
              <a:rPr lang="en-US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ntart</a:t>
            </a:r>
            <a:r>
              <a:rPr lang="hu-HU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ó</a:t>
            </a:r>
            <a:r>
              <a:rPr lang="en-US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 rendszer iskolai k</a:t>
            </a:r>
            <a:r>
              <a:rPr lang="hu-HU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ö</a:t>
            </a:r>
            <a:r>
              <a:rPr lang="en-US" sz="1700" b="0" u="none" strike="noStrike">
                <a:solidFill>
                  <a:srgbClr val="90CAF9"/>
                </a:solidFill>
                <a:effectLst/>
                <a:uFillTx/>
                <a:latin typeface="Segoe UI"/>
              </a:rPr>
              <a:t>rnyezetbe</a:t>
            </a:r>
            <a:endParaRPr lang="hu-HU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920520" y="4356000"/>
            <a:ext cx="1645200" cy="401760"/>
          </a:xfrm>
          <a:prstGeom prst="rect">
            <a:avLst/>
          </a:prstGeom>
          <a:solidFill>
            <a:srgbClr val="1B2D45"/>
          </a:solidFill>
          <a:ln w="15240">
            <a:solidFill>
              <a:srgbClr val="1A73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920520" y="4341960"/>
            <a:ext cx="16452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A73E8"/>
                </a:solidFill>
                <a:effectLst/>
                <a:uFillTx/>
                <a:latin typeface="Segoe UI"/>
              </a:rPr>
              <a:t>Node.js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8"/>
          <p:cNvSpPr/>
          <p:nvPr/>
        </p:nvSpPr>
        <p:spPr>
          <a:xfrm>
            <a:off x="2709720" y="4356000"/>
            <a:ext cx="1645200" cy="401760"/>
          </a:xfrm>
          <a:prstGeom prst="rect">
            <a:avLst/>
          </a:prstGeom>
          <a:solidFill>
            <a:srgbClr val="1B2D45"/>
          </a:solidFill>
          <a:ln w="15240">
            <a:solidFill>
              <a:srgbClr val="1A73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2709720" y="4356000"/>
            <a:ext cx="16452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A73E8"/>
                </a:solidFill>
                <a:effectLst/>
                <a:uFillTx/>
                <a:latin typeface="Segoe UI"/>
              </a:rPr>
              <a:t>Express.js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ectangle 10"/>
          <p:cNvSpPr/>
          <p:nvPr/>
        </p:nvSpPr>
        <p:spPr>
          <a:xfrm>
            <a:off x="4498560" y="4343400"/>
            <a:ext cx="1645200" cy="401760"/>
          </a:xfrm>
          <a:prstGeom prst="rect">
            <a:avLst/>
          </a:prstGeom>
          <a:solidFill>
            <a:srgbClr val="1B2D45"/>
          </a:solidFill>
          <a:ln w="15240">
            <a:solidFill>
              <a:srgbClr val="43E9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4498560" y="4330440"/>
            <a:ext cx="16452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SQLite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12"/>
          <p:cNvSpPr/>
          <p:nvPr/>
        </p:nvSpPr>
        <p:spPr>
          <a:xfrm>
            <a:off x="6291000" y="4349880"/>
            <a:ext cx="1645200" cy="401760"/>
          </a:xfrm>
          <a:prstGeom prst="rect">
            <a:avLst/>
          </a:prstGeom>
          <a:solidFill>
            <a:srgbClr val="1B2D45"/>
          </a:solidFill>
          <a:ln w="15240">
            <a:solidFill>
              <a:srgbClr val="F9A82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Rectangle 14"/>
          <p:cNvSpPr/>
          <p:nvPr/>
        </p:nvSpPr>
        <p:spPr>
          <a:xfrm>
            <a:off x="9856800" y="4354200"/>
            <a:ext cx="1645200" cy="401760"/>
          </a:xfrm>
          <a:prstGeom prst="rect">
            <a:avLst/>
          </a:prstGeom>
          <a:solidFill>
            <a:srgbClr val="1B2D45"/>
          </a:solidFill>
          <a:ln w="15240">
            <a:solidFill>
              <a:srgbClr val="EF53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15"/>
          <p:cNvSpPr/>
          <p:nvPr/>
        </p:nvSpPr>
        <p:spPr>
          <a:xfrm>
            <a:off x="9859680" y="4367160"/>
            <a:ext cx="16452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F5350"/>
                </a:solidFill>
                <a:effectLst/>
                <a:uFillTx/>
                <a:latin typeface="Segoe UI"/>
              </a:rPr>
              <a:t>JWT + bcrypt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16"/>
          <p:cNvSpPr/>
          <p:nvPr/>
        </p:nvSpPr>
        <p:spPr>
          <a:xfrm>
            <a:off x="914400" y="6217920"/>
            <a:ext cx="1033200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17"/>
          <p:cNvSpPr/>
          <p:nvPr/>
        </p:nvSpPr>
        <p:spPr>
          <a:xfrm>
            <a:off x="914400" y="6309360"/>
            <a:ext cx="1033200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Node.js + Express  -  SQLite  - JS  -  Bootstrap 5  -  JWT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8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1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3"/>
          <p:cNvSpPr/>
          <p:nvPr/>
        </p:nvSpPr>
        <p:spPr>
          <a:xfrm>
            <a:off x="6294240" y="4349880"/>
            <a:ext cx="16452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9A825"/>
                </a:solidFill>
                <a:effectLst/>
                <a:uFillTx/>
                <a:latin typeface="Segoe UI"/>
              </a:rPr>
              <a:t>Bootstrap 5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12"/>
          <p:cNvSpPr/>
          <p:nvPr/>
        </p:nvSpPr>
        <p:spPr>
          <a:xfrm>
            <a:off x="8076960" y="4337640"/>
            <a:ext cx="1645200" cy="401760"/>
          </a:xfrm>
          <a:prstGeom prst="rect">
            <a:avLst/>
          </a:prstGeom>
          <a:solidFill>
            <a:srgbClr val="1B2D45"/>
          </a:solidFill>
          <a:ln w="15240">
            <a:solidFill>
              <a:srgbClr val="F9A82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13"/>
          <p:cNvSpPr/>
          <p:nvPr/>
        </p:nvSpPr>
        <p:spPr>
          <a:xfrm>
            <a:off x="8073360" y="4355640"/>
            <a:ext cx="1645200" cy="2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hu-HU" sz="1100" b="1" u="none" strike="noStrike">
                <a:solidFill>
                  <a:srgbClr val="F9A825"/>
                </a:solidFill>
                <a:effectLst/>
                <a:uFillTx/>
                <a:latin typeface="Segoe UI"/>
              </a:rPr>
              <a:t>JavaScript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1"/>
          <p:cNvSpPr/>
          <p:nvPr/>
        </p:nvSpPr>
        <p:spPr>
          <a:xfrm>
            <a:off x="457200" y="25596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KIINDULAS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Mi volt a probl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ma?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Rectangle 4"/>
          <p:cNvSpPr/>
          <p:nvPr/>
        </p:nvSpPr>
        <p:spPr>
          <a:xfrm>
            <a:off x="457200" y="1234440"/>
            <a:ext cx="5302800" cy="521136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640080" y="1325880"/>
            <a:ext cx="9136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📒</a:t>
            </a:r>
            <a:endParaRPr lang="hu-H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1554480" y="1371600"/>
            <a:ext cx="39312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R</a:t>
            </a:r>
            <a:r>
              <a:rPr lang="hu-HU" sz="16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é</a:t>
            </a:r>
            <a:r>
              <a:rPr lang="en-US" sz="16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gi megold</a:t>
            </a:r>
            <a:r>
              <a:rPr lang="hu-HU" sz="16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á</a:t>
            </a:r>
            <a:r>
              <a:rPr lang="en-US" sz="16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s</a:t>
            </a:r>
            <a:endParaRPr lang="hu-H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7"/>
          <p:cNvSpPr/>
          <p:nvPr/>
        </p:nvSpPr>
        <p:spPr>
          <a:xfrm>
            <a:off x="640080" y="1965960"/>
            <a:ext cx="484560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Az iskola port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j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n egy papir f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ü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zet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Tan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rok k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zzel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í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rjak be a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bajokat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Karbantartok manu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lis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an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jel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tek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Nehezen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te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kinthet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ő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, elveszhet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Nincs visszakereses / sz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ű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res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8"/>
          <p:cNvSpPr/>
          <p:nvPr/>
        </p:nvSpPr>
        <p:spPr>
          <a:xfrm>
            <a:off x="5669280" y="3383280"/>
            <a:ext cx="7765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0" u="none" strike="noStrike">
                <a:solidFill>
                  <a:srgbClr val="4FC3F7"/>
                </a:solidFill>
                <a:effectLst/>
                <a:uFillTx/>
                <a:latin typeface="Cascadia Code"/>
              </a:rPr>
              <a:t>-&gt;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Rectangle 9"/>
          <p:cNvSpPr/>
          <p:nvPr/>
        </p:nvSpPr>
        <p:spPr>
          <a:xfrm>
            <a:off x="6400800" y="1234440"/>
            <a:ext cx="5302800" cy="521136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6583680" y="1325880"/>
            <a:ext cx="9136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💻</a:t>
            </a:r>
            <a:endParaRPr lang="hu-H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1"/>
          <p:cNvSpPr/>
          <p:nvPr/>
        </p:nvSpPr>
        <p:spPr>
          <a:xfrm>
            <a:off x="7498080" y="1371600"/>
            <a:ext cx="39312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Az </a:t>
            </a:r>
            <a:r>
              <a:rPr lang="hu-HU" sz="16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ú</a:t>
            </a:r>
            <a:r>
              <a:rPr lang="en-US" sz="16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j megold</a:t>
            </a:r>
            <a:r>
              <a:rPr lang="hu-HU" sz="16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á</a:t>
            </a:r>
            <a:r>
              <a:rPr lang="en-US" sz="16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s</a:t>
            </a:r>
            <a:endParaRPr lang="hu-H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2"/>
          <p:cNvSpPr/>
          <p:nvPr/>
        </p:nvSpPr>
        <p:spPr>
          <a:xfrm>
            <a:off x="6583680" y="1965960"/>
            <a:ext cx="484560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Webes fel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ü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let - PC-n es mobilon is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Valos idej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ű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adatb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zis-nyilvantart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Szerepk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ör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alap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ú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jogosultsagkezel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that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lista sz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ű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resi lehet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ő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seggel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Autom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tikus datum- es adatr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gzit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3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2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" name="Picture 2" descr="Emblémázott Mini füzet tollal, natúr/piros (füzet, notesz)"/>
          <p:cNvPicPr/>
          <p:nvPr/>
        </p:nvPicPr>
        <p:blipFill>
          <a:blip r:embed="rId1"/>
          <a:stretch/>
        </p:blipFill>
        <p:spPr>
          <a:xfrm>
            <a:off x="1563480" y="3809160"/>
            <a:ext cx="2142360" cy="214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Kép 14"/>
          <p:cNvPicPr/>
          <p:nvPr/>
        </p:nvPicPr>
        <p:blipFill>
          <a:blip r:embed="rId2"/>
          <a:stretch/>
        </p:blipFill>
        <p:spPr>
          <a:xfrm>
            <a:off x="7723440" y="3443040"/>
            <a:ext cx="2583000" cy="290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457200" y="25596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SPECIFIKACIO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Felhaszn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á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l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ó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i szerepk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örö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k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Rectangle 4"/>
          <p:cNvSpPr/>
          <p:nvPr/>
        </p:nvSpPr>
        <p:spPr>
          <a:xfrm>
            <a:off x="457200" y="1234440"/>
            <a:ext cx="3656880" cy="521136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640080" y="1324440"/>
            <a:ext cx="822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👩‍🏫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1874520" y="1428120"/>
            <a:ext cx="82224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Tan</a:t>
            </a:r>
            <a:r>
              <a:rPr lang="hu-HU" sz="17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á</a:t>
            </a:r>
            <a:r>
              <a:rPr lang="en-US" sz="17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r</a:t>
            </a:r>
            <a:endParaRPr lang="hu-HU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685800" y="2148840"/>
            <a:ext cx="3199680" cy="55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Bejelenthet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ú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j hib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kat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Megtekintheti az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sszes hibabejelentest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8"/>
          <p:cNvSpPr/>
          <p:nvPr/>
        </p:nvSpPr>
        <p:spPr>
          <a:xfrm>
            <a:off x="4389120" y="1234440"/>
            <a:ext cx="3656880" cy="521136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9"/>
          <p:cNvSpPr/>
          <p:nvPr/>
        </p:nvSpPr>
        <p:spPr>
          <a:xfrm>
            <a:off x="4572000" y="1317960"/>
            <a:ext cx="822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🔧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0"/>
          <p:cNvSpPr/>
          <p:nvPr/>
        </p:nvSpPr>
        <p:spPr>
          <a:xfrm>
            <a:off x="5429880" y="1428120"/>
            <a:ext cx="237672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9A825"/>
                </a:solidFill>
                <a:effectLst/>
                <a:uFillTx/>
                <a:latin typeface="Segoe UI"/>
              </a:rPr>
              <a:t>Karbantart</a:t>
            </a:r>
            <a:r>
              <a:rPr lang="hu-HU" sz="1700" b="1" u="none" strike="noStrike">
                <a:solidFill>
                  <a:srgbClr val="F9A825"/>
                </a:solidFill>
                <a:effectLst/>
                <a:uFillTx/>
                <a:latin typeface="Segoe UI"/>
              </a:rPr>
              <a:t>ó</a:t>
            </a:r>
            <a:endParaRPr lang="hu-HU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4617720" y="2148840"/>
            <a:ext cx="319968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Megtekintheti az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sszes hib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Bejelentve -&gt; Kijavitva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llapot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Jav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í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 d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tuma automatikusan r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gz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ű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12"/>
          <p:cNvSpPr/>
          <p:nvPr/>
        </p:nvSpPr>
        <p:spPr>
          <a:xfrm>
            <a:off x="8321040" y="1234440"/>
            <a:ext cx="3656880" cy="521136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3"/>
          <p:cNvSpPr/>
          <p:nvPr/>
        </p:nvSpPr>
        <p:spPr>
          <a:xfrm>
            <a:off x="8503920" y="1317960"/>
            <a:ext cx="822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🛡️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4"/>
          <p:cNvSpPr/>
          <p:nvPr/>
        </p:nvSpPr>
        <p:spPr>
          <a:xfrm>
            <a:off x="9326880" y="1438200"/>
            <a:ext cx="237672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EF5350"/>
                </a:solidFill>
                <a:effectLst/>
                <a:uFillTx/>
                <a:latin typeface="Segoe UI"/>
              </a:rPr>
              <a:t>Adminisztr</a:t>
            </a:r>
            <a:r>
              <a:rPr lang="hu-HU" sz="1700" b="1" u="none" strike="noStrike">
                <a:solidFill>
                  <a:srgbClr val="EF5350"/>
                </a:solidFill>
                <a:effectLst/>
                <a:uFillTx/>
                <a:latin typeface="Segoe UI"/>
              </a:rPr>
              <a:t>á</a:t>
            </a:r>
            <a:r>
              <a:rPr lang="en-US" sz="1700" b="1" u="none" strike="noStrike">
                <a:solidFill>
                  <a:srgbClr val="EF5350"/>
                </a:solidFill>
                <a:effectLst/>
                <a:uFillTx/>
                <a:latin typeface="Segoe UI"/>
              </a:rPr>
              <a:t>tor</a:t>
            </a:r>
            <a:endParaRPr lang="hu-HU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5"/>
          <p:cNvSpPr/>
          <p:nvPr/>
        </p:nvSpPr>
        <p:spPr>
          <a:xfrm>
            <a:off x="8549640" y="2148840"/>
            <a:ext cx="319968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Minden tan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ri / karbantart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i jog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Ú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j felhaszn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k felv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tele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Felhaszn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lok 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rlese (mag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 nem)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6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3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8" name="Kép 17"/>
          <p:cNvPicPr/>
          <p:nvPr/>
        </p:nvPicPr>
        <p:blipFill>
          <a:blip r:embed="rId1"/>
          <a:stretch/>
        </p:blipFill>
        <p:spPr>
          <a:xfrm>
            <a:off x="1008000" y="3129840"/>
            <a:ext cx="2555280" cy="2869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Kép 18"/>
          <p:cNvPicPr/>
          <p:nvPr/>
        </p:nvPicPr>
        <p:blipFill>
          <a:blip r:embed="rId2"/>
          <a:stretch/>
        </p:blipFill>
        <p:spPr>
          <a:xfrm>
            <a:off x="8871840" y="3129840"/>
            <a:ext cx="2555280" cy="285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Kép 19"/>
          <p:cNvPicPr/>
          <p:nvPr/>
        </p:nvPicPr>
        <p:blipFill>
          <a:blip r:embed="rId3"/>
          <a:stretch/>
        </p:blipFill>
        <p:spPr>
          <a:xfrm>
            <a:off x="4939920" y="3139200"/>
            <a:ext cx="2555280" cy="285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457200" y="255960"/>
            <a:ext cx="9143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RENDSZERTERV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Rendszer architekt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ú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ra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Rectangle 4"/>
          <p:cNvSpPr/>
          <p:nvPr/>
        </p:nvSpPr>
        <p:spPr>
          <a:xfrm>
            <a:off x="457200" y="1298520"/>
            <a:ext cx="3291120" cy="2193840"/>
          </a:xfrm>
          <a:prstGeom prst="rect">
            <a:avLst/>
          </a:prstGeom>
          <a:solidFill>
            <a:srgbClr val="1B2D45"/>
          </a:solidFill>
          <a:ln w="12700">
            <a:solidFill>
              <a:srgbClr val="4FC3F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5"/>
          <p:cNvSpPr/>
          <p:nvPr/>
        </p:nvSpPr>
        <p:spPr>
          <a:xfrm>
            <a:off x="640080" y="1417320"/>
            <a:ext cx="822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🌐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6"/>
          <p:cNvSpPr/>
          <p:nvPr/>
        </p:nvSpPr>
        <p:spPr>
          <a:xfrm>
            <a:off x="1463040" y="1463040"/>
            <a:ext cx="2102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Frontend</a:t>
            </a:r>
            <a:endParaRPr lang="hu-HU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1463040" y="1965960"/>
            <a:ext cx="2010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Segoe UI"/>
              </a:rPr>
              <a:t>HTML, CSS, JS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Segoe UI"/>
              </a:rPr>
              <a:t>Bootstrap 5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8"/>
          <p:cNvSpPr/>
          <p:nvPr/>
        </p:nvSpPr>
        <p:spPr>
          <a:xfrm>
            <a:off x="4160520" y="1298520"/>
            <a:ext cx="3291120" cy="2193840"/>
          </a:xfrm>
          <a:prstGeom prst="rect">
            <a:avLst/>
          </a:prstGeom>
          <a:solidFill>
            <a:srgbClr val="1B2D45"/>
          </a:solidFill>
          <a:ln w="12700">
            <a:solidFill>
              <a:srgbClr val="43E9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9"/>
          <p:cNvSpPr/>
          <p:nvPr/>
        </p:nvSpPr>
        <p:spPr>
          <a:xfrm>
            <a:off x="4343400" y="1417320"/>
            <a:ext cx="822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⚙️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0"/>
          <p:cNvSpPr/>
          <p:nvPr/>
        </p:nvSpPr>
        <p:spPr>
          <a:xfrm>
            <a:off x="5166360" y="1463040"/>
            <a:ext cx="2102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REST API</a:t>
            </a:r>
            <a:endParaRPr lang="hu-HU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1"/>
          <p:cNvSpPr/>
          <p:nvPr/>
        </p:nvSpPr>
        <p:spPr>
          <a:xfrm>
            <a:off x="5166360" y="1965960"/>
            <a:ext cx="2010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Segoe UI"/>
              </a:rPr>
              <a:t>Node.js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Segoe UI"/>
              </a:rPr>
              <a:t>Express.js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12"/>
          <p:cNvSpPr/>
          <p:nvPr/>
        </p:nvSpPr>
        <p:spPr>
          <a:xfrm>
            <a:off x="7863840" y="1298520"/>
            <a:ext cx="3291120" cy="2193840"/>
          </a:xfrm>
          <a:prstGeom prst="rect">
            <a:avLst/>
          </a:prstGeom>
          <a:solidFill>
            <a:srgbClr val="1B2D45"/>
          </a:solidFill>
          <a:ln w="12700">
            <a:solidFill>
              <a:srgbClr val="F9A82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3"/>
          <p:cNvSpPr/>
          <p:nvPr/>
        </p:nvSpPr>
        <p:spPr>
          <a:xfrm>
            <a:off x="8046720" y="1417320"/>
            <a:ext cx="82224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🗄️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4"/>
          <p:cNvSpPr/>
          <p:nvPr/>
        </p:nvSpPr>
        <p:spPr>
          <a:xfrm>
            <a:off x="8869680" y="1463040"/>
            <a:ext cx="2102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9A825"/>
                </a:solidFill>
                <a:effectLst/>
                <a:uFillTx/>
                <a:latin typeface="Segoe UI"/>
              </a:rPr>
              <a:t>Adatbazis</a:t>
            </a:r>
            <a:endParaRPr lang="hu-HU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15"/>
          <p:cNvSpPr/>
          <p:nvPr/>
        </p:nvSpPr>
        <p:spPr>
          <a:xfrm>
            <a:off x="8869680" y="1965960"/>
            <a:ext cx="2010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Segoe UI"/>
              </a:rPr>
              <a:t>SQLite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Segoe UI"/>
              </a:rPr>
              <a:t>better-sqlite3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6"/>
          <p:cNvSpPr/>
          <p:nvPr/>
        </p:nvSpPr>
        <p:spPr>
          <a:xfrm>
            <a:off x="3726360" y="2057400"/>
            <a:ext cx="456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FC3F7"/>
                </a:solidFill>
                <a:effectLst/>
                <a:uFillTx/>
                <a:latin typeface="Cascadia Code"/>
              </a:rPr>
              <a:t>&lt;--&gt;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7"/>
          <p:cNvSpPr/>
          <p:nvPr/>
        </p:nvSpPr>
        <p:spPr>
          <a:xfrm>
            <a:off x="7429680" y="2057400"/>
            <a:ext cx="456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FC3F7"/>
                </a:solidFill>
                <a:effectLst/>
                <a:uFillTx/>
                <a:latin typeface="Cascadia Code"/>
              </a:rPr>
              <a:t>&lt;--&gt;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18"/>
          <p:cNvSpPr/>
          <p:nvPr/>
        </p:nvSpPr>
        <p:spPr>
          <a:xfrm>
            <a:off x="457200" y="3794760"/>
            <a:ext cx="5394240" cy="269676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19"/>
          <p:cNvSpPr/>
          <p:nvPr/>
        </p:nvSpPr>
        <p:spPr>
          <a:xfrm>
            <a:off x="658440" y="3886200"/>
            <a:ext cx="493704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🔐  Hiteles</a:t>
            </a:r>
            <a:r>
              <a:rPr lang="hu-HU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í</a:t>
            </a:r>
            <a:r>
              <a:rPr lang="en-US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tes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20"/>
          <p:cNvSpPr/>
          <p:nvPr/>
        </p:nvSpPr>
        <p:spPr>
          <a:xfrm>
            <a:off x="658440" y="4316040"/>
            <a:ext cx="49370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bcrypt.js: jelszavak hashelve tarol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dnak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JWT token: bejelentkez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sk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o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 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llitodik ki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sessionStorage: token t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rol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sa a kliense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n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21"/>
          <p:cNvSpPr/>
          <p:nvPr/>
        </p:nvSpPr>
        <p:spPr>
          <a:xfrm>
            <a:off x="6327720" y="3794760"/>
            <a:ext cx="5394240" cy="269676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22"/>
          <p:cNvSpPr/>
          <p:nvPr/>
        </p:nvSpPr>
        <p:spPr>
          <a:xfrm>
            <a:off x="6510600" y="3886200"/>
            <a:ext cx="493704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📡  Kommunikaci</a:t>
            </a:r>
            <a:r>
              <a:rPr lang="hu-HU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ó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23"/>
          <p:cNvSpPr/>
          <p:nvPr/>
        </p:nvSpPr>
        <p:spPr>
          <a:xfrm>
            <a:off x="6510600" y="4316040"/>
            <a:ext cx="49370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Frontend: fetch() API hivasokkal kommunik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Minden v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dett k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res: Authorization: Bearer &lt;token&gt;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.env: JWT_SECRET, DB_PATH, PORT konfig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4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4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4"/>
          <p:cNvSpPr/>
          <p:nvPr/>
        </p:nvSpPr>
        <p:spPr>
          <a:xfrm>
            <a:off x="457200" y="1261800"/>
            <a:ext cx="11273760" cy="525708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1"/>
          <p:cNvSpPr/>
          <p:nvPr/>
        </p:nvSpPr>
        <p:spPr>
          <a:xfrm>
            <a:off x="457200" y="255960"/>
            <a:ext cx="91432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ADATB</a:t>
            </a:r>
            <a:r>
              <a:rPr lang="hu-HU" sz="18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Á</a:t>
            </a:r>
            <a:r>
              <a:rPr lang="en-US" sz="18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ZIS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  -  SQLITE DDL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Adatb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á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zis s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ma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TextBox 5"/>
          <p:cNvSpPr/>
          <p:nvPr/>
        </p:nvSpPr>
        <p:spPr>
          <a:xfrm>
            <a:off x="594360" y="1371600"/>
            <a:ext cx="4456080" cy="36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CREATE TABLE </a:t>
            </a:r>
            <a:r>
              <a:rPr lang="en-US" sz="105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felhasznalok</a:t>
            </a: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(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id             INTEGER  </a:t>
            </a:r>
            <a:r>
              <a:rPr lang="en-US" sz="105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PRIMARY KEY AUTOINCREMENT</a:t>
            </a: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nev            TEXT     NOT NULL,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felhasznalonev TEXT     UNIQUE NOT NULL,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jelszo         TEXT     NOT NULL,      </a:t>
            </a:r>
            <a:r>
              <a:rPr lang="en-US" sz="105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-- bcrypt hash, soha nem plain text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szerep         TEXT     NOT NULL       </a:t>
            </a:r>
            <a:r>
              <a:rPr lang="en-US" sz="105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-- tanar | karbantarto | admin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);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CREATE TABLE </a:t>
            </a:r>
            <a:r>
              <a:rPr lang="en-US" sz="105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hibak</a:t>
            </a: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(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id               INTEGER  </a:t>
            </a:r>
            <a:r>
              <a:rPr lang="en-US" sz="105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PRIMARY KEY AUTOINCREMENT</a:t>
            </a: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datum            TEXT     NOT NULL,  </a:t>
            </a:r>
            <a:r>
              <a:rPr lang="en-US" sz="105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-- YYYY-MM-DD, auto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bejelento_id     INTEGER  NOT NULL,  </a:t>
            </a:r>
            <a:r>
              <a:rPr lang="en-US" sz="105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-- FK -&gt; felhasznalok.id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terem            TEXT     NOT NULL,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leiras           TEXT     NOT NULL,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allapot          TEXT     NOT NULL,  </a:t>
            </a:r>
            <a:r>
              <a:rPr lang="en-US" sz="105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-- bejelentve | kijavitva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javito_id        INTEGER,            </a:t>
            </a:r>
            <a:r>
              <a:rPr lang="en-US" sz="105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-- FK -&gt; felhasznalok.id (NULL amig nincs javitva)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javitas_datuma   TEXT,               </a:t>
            </a:r>
            <a:r>
              <a:rPr lang="en-US" sz="105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-- auto, YYYY-MM-DD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FOREIGN KEY (bejelento_id) REFERENCES </a:t>
            </a:r>
            <a:r>
              <a:rPr lang="en-US" sz="105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felhasznalok</a:t>
            </a: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(id),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FOREIGN KEY (javito_id)    REFERENCES </a:t>
            </a:r>
            <a:r>
              <a:rPr lang="en-US" sz="105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felhasznalok</a:t>
            </a: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(id)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);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6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12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Box 1"/>
          <p:cNvSpPr/>
          <p:nvPr/>
        </p:nvSpPr>
        <p:spPr>
          <a:xfrm>
            <a:off x="457200" y="255960"/>
            <a:ext cx="914328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ADATB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Á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ZIS  -  SQLITE DDL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Adatbázis relációs diagram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12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320120" y="1877760"/>
            <a:ext cx="9479880" cy="406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Box 1"/>
          <p:cNvSpPr/>
          <p:nvPr/>
        </p:nvSpPr>
        <p:spPr>
          <a:xfrm>
            <a:off x="2113920" y="334080"/>
            <a:ext cx="79599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-  SERVER.JS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Szerver inicializ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á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l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á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sa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ectangle 4"/>
          <p:cNvSpPr/>
          <p:nvPr/>
        </p:nvSpPr>
        <p:spPr>
          <a:xfrm>
            <a:off x="457200" y="1261800"/>
            <a:ext cx="11273760" cy="525708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5"/>
          <p:cNvSpPr/>
          <p:nvPr/>
        </p:nvSpPr>
        <p:spPr>
          <a:xfrm>
            <a:off x="594360" y="1371600"/>
            <a:ext cx="10999440" cy="50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require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('dotenv').config();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express 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</a:t>
            </a: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require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('express');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Database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</a:t>
            </a: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require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('better-sqlite3');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bcrypt  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</a:t>
            </a: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require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('bcryptjs');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jwt     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</a:t>
            </a: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require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('jsonwebtoken');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PORT      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process.env.PORT ||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3000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JWT_SECRET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process.env.JWT_SECRET;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DB_PATH   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process.env.DB_PATH ||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'./hibabejelento.db'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app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</a:t>
            </a: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express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app.use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(express.json());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app.use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(express.static(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"public"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Adatbazis - better-sqlite3 (szinkron API)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db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</a:t>
            </a: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new </a:t>
            </a: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Database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(DB_PATH);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db.pragma(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'foreign_keys = ON'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); 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Kaszkad-torlés megakadalyozasa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db.pragma(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'journal_mode = WAL'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); 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Jobb teljesitmeny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app.listen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(PORT, () =&gt; console.log(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`Szerver fut: http://localhost:${PORT}`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6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5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2" name="Kép 10"/>
          <p:cNvPicPr/>
          <p:nvPr/>
        </p:nvPicPr>
        <p:blipFill>
          <a:blip r:embed="rId1"/>
          <a:stretch/>
        </p:blipFill>
        <p:spPr>
          <a:xfrm>
            <a:off x="8179560" y="1297080"/>
            <a:ext cx="3341160" cy="513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Szövegdoboz 11"/>
          <p:cNvSpPr/>
          <p:nvPr/>
        </p:nvSpPr>
        <p:spPr>
          <a:xfrm>
            <a:off x="457200" y="255960"/>
            <a:ext cx="18997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hu-HU" sz="18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BACKEND KÓD</a:t>
            </a:r>
            <a:endParaRPr lang="hu-H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Box 1"/>
          <p:cNvSpPr/>
          <p:nvPr/>
        </p:nvSpPr>
        <p:spPr>
          <a:xfrm>
            <a:off x="457200" y="255960"/>
            <a:ext cx="914328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BACKEND K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Ó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D  -  SERVER.JS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JWT hiteles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í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t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és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i middleware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Rectangle 4"/>
          <p:cNvSpPr/>
          <p:nvPr/>
        </p:nvSpPr>
        <p:spPr>
          <a:xfrm>
            <a:off x="457200" y="1261800"/>
            <a:ext cx="11273760" cy="525708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Box 5"/>
          <p:cNvSpPr/>
          <p:nvPr/>
        </p:nvSpPr>
        <p:spPr>
          <a:xfrm>
            <a:off x="594360" y="1371600"/>
            <a:ext cx="10999440" cy="50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Middleware: JWT token ellenorzese minden vedett vegponton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function </a:t>
            </a: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authenticateToken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(req, res, next)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authHeader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req.headers[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'authorization'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];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token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authHeader &amp;&amp; authHeader.split(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 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)[1];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(!token)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return res.status(</a:t>
            </a:r>
            <a:r>
              <a:rPr lang="en-US" sz="1100" b="0" u="none" strike="noStrike">
                <a:solidFill>
                  <a:srgbClr val="FF8A80"/>
                </a:solidFill>
                <a:effectLst/>
                <a:uFillTx/>
                <a:latin typeface="Cascadia Code"/>
              </a:rPr>
              <a:t>401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).json({ error: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'Hianyzo token.'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  jwt.verify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(token, JWT_SECRET, (err, user) =&gt;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(err) return res.status(</a:t>
            </a:r>
            <a:r>
              <a:rPr lang="en-US" sz="1100" b="0" u="none" strike="noStrike">
                <a:solidFill>
                  <a:srgbClr val="FF8A80"/>
                </a:solidFill>
                <a:effectLst/>
                <a:uFillTx/>
                <a:latin typeface="Cascadia Code"/>
              </a:rPr>
              <a:t>403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).json({ error: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'Ervénytelen token.'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    req.user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user; 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{ id, felhasznalonev, szerep }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next();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}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Hasznalat: minden vedett vegponton masodik parameter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app.get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('/api/hibak', </a:t>
            </a:r>
            <a:r>
              <a:rPr lang="en-US" sz="1100" b="0" u="none" strike="noStrike">
                <a:solidFill>
                  <a:srgbClr val="82B1FF"/>
                </a:solidFill>
                <a:effectLst/>
                <a:uFillTx/>
                <a:latin typeface="Cascadia Code"/>
              </a:rPr>
              <a:t>authenticateToken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 async (req, res) =&gt;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  // req.user mar tartalmazza a JWT adatait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const hibak = dbAll('SELECT * FROM hibak ORDER BY datum DESC');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res.json(hibak);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6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6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0" name="Kép 14"/>
          <p:cNvPicPr/>
          <p:nvPr/>
        </p:nvPicPr>
        <p:blipFill>
          <a:blip r:embed="rId1"/>
          <a:stretch/>
        </p:blipFill>
        <p:spPr>
          <a:xfrm>
            <a:off x="7406640" y="1297080"/>
            <a:ext cx="4114080" cy="522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Box 1"/>
          <p:cNvSpPr/>
          <p:nvPr/>
        </p:nvSpPr>
        <p:spPr>
          <a:xfrm>
            <a:off x="457200" y="255960"/>
            <a:ext cx="914328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BACKEND K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Ó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D  -  SERVER.JS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POST /api/hibak  -  Hiba bejelent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se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ectangle 4"/>
          <p:cNvSpPr/>
          <p:nvPr/>
        </p:nvSpPr>
        <p:spPr>
          <a:xfrm>
            <a:off x="457200" y="1261800"/>
            <a:ext cx="11273760" cy="525708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5"/>
          <p:cNvSpPr/>
          <p:nvPr/>
        </p:nvSpPr>
        <p:spPr>
          <a:xfrm>
            <a:off x="594360" y="1371600"/>
            <a:ext cx="10999440" cy="50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app.post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('/api/hibak', </a:t>
            </a:r>
            <a:r>
              <a:rPr lang="en-US" sz="1100" b="0" u="none" strike="noStrike">
                <a:solidFill>
                  <a:srgbClr val="82B1FF"/>
                </a:solidFill>
                <a:effectLst/>
                <a:uFillTx/>
                <a:latin typeface="Cascadia Code"/>
              </a:rPr>
              <a:t>authenticateToken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 async (req, res) =&gt;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{ terem, leiras }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req.body;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currentUser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req.user; 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JWT-bol dekodolva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  // Jogosultsag ellenorzés: csak tanar vagy admin rogzithet hibat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(currentUser.szerep !==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'tanar'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&amp;&amp; currentUser.szerep !==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'admin'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return res.status(</a:t>
            </a:r>
            <a:r>
              <a:rPr lang="en-US" sz="1100" b="0" u="none" strike="noStrike">
                <a:solidFill>
                  <a:srgbClr val="FF8A80"/>
                </a:solidFill>
                <a:effectLst/>
                <a:uFillTx/>
                <a:latin typeface="Cascadia Code"/>
              </a:rPr>
              <a:t>403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).json({ error: 'Nincs jogosultsaga.' 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datum 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new Date().toISOString().split(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'T'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)[0];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YYYY-MM-DD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result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dbRun(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    'INSERT INTO hibak (datum, bejelento_id, terem, leiras, allapot) VALUES (?,?,?,?,?)',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[datum, currentUser.id, terem, leiras,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'bejelentve'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]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  // Visszaadjuk az uj rekordot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ujHiba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dbGet(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'SELECT * FROM hibak WHERE id = ?'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 [result.lastInsertRowid]);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res.status(</a:t>
            </a: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201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).json(ujHiba);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6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8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7" name="Kép 8"/>
          <p:cNvPicPr/>
          <p:nvPr/>
        </p:nvPicPr>
        <p:blipFill>
          <a:blip r:embed="rId1"/>
          <a:stretch/>
        </p:blipFill>
        <p:spPr>
          <a:xfrm>
            <a:off x="8471880" y="1297080"/>
            <a:ext cx="3048840" cy="522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"/>
          <p:cNvSpPr/>
          <p:nvPr/>
        </p:nvSpPr>
        <p:spPr>
          <a:xfrm>
            <a:off x="457200" y="255960"/>
            <a:ext cx="914328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BACKEND K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Ó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D  -  SERVER.JS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POST /api/login  -  Bejelentkez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Rectangle 4"/>
          <p:cNvSpPr/>
          <p:nvPr/>
        </p:nvSpPr>
        <p:spPr>
          <a:xfrm>
            <a:off x="457200" y="1261800"/>
            <a:ext cx="11273760" cy="525708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5"/>
          <p:cNvSpPr/>
          <p:nvPr/>
        </p:nvSpPr>
        <p:spPr>
          <a:xfrm>
            <a:off x="594360" y="1371600"/>
            <a:ext cx="10999440" cy="50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app.post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('/api/login', async (req, res) =&gt;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{ felhasznalonev, jelszo }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req.body;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(!felhasznalonev || !jelszo) return res.status(</a:t>
            </a:r>
            <a:r>
              <a:rPr lang="en-US" sz="1100" b="0" u="none" strike="noStrike">
                <a:solidFill>
                  <a:srgbClr val="FF8A80"/>
                </a:solidFill>
                <a:effectLst/>
                <a:uFillTx/>
                <a:latin typeface="Cascadia Code"/>
              </a:rPr>
              <a:t>400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).json(...);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  // 1. Felhasznalo keresese az adatbazisban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user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dbGet(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'SELECT * FROM felhasznalok WHERE felhasznalonev = ?'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 [felhasznalonev]);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(!user) return res.status(</a:t>
            </a:r>
            <a:r>
              <a:rPr lang="en-US" sz="1100" b="0" u="none" strike="noStrike">
                <a:solidFill>
                  <a:srgbClr val="FF8A80"/>
                </a:solidFill>
                <a:effectLst/>
                <a:uFillTx/>
                <a:latin typeface="Cascadia Code"/>
              </a:rPr>
              <a:t>401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).json({ error: 'Hibas felhasznalonev.' 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  // 2. Jelszo-hash ellenorzese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valid </a:t>
            </a: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= await </a:t>
            </a: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bcrypt.compare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(jelszo, user.jelszo);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(!valid) return res.status(</a:t>
            </a:r>
            <a:r>
              <a:rPr lang="en-US" sz="1100" b="0" u="none" strike="noStrike">
                <a:solidFill>
                  <a:srgbClr val="FF8A80"/>
                </a:solidFill>
                <a:effectLst/>
                <a:uFillTx/>
                <a:latin typeface="Cascadia Code"/>
              </a:rPr>
              <a:t>401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).json({ error: 'Hibas jelszo.' 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  // 3. JWT token generalasa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token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jwt.sign(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{ id: user.id, felhasznalonev: user.felhasznalonev, szerep: user.szerep },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JWT_SECRET, { expiresIn: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'1h'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} 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1 ora utan lejár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  res.json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({ token }); 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kliens eltárolja sessionStorage-ben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6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7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" name="Kép 8"/>
          <p:cNvPicPr/>
          <p:nvPr/>
        </p:nvPicPr>
        <p:blipFill>
          <a:blip r:embed="rId1"/>
          <a:stretch/>
        </p:blipFill>
        <p:spPr>
          <a:xfrm>
            <a:off x="8920440" y="1297080"/>
            <a:ext cx="2600280" cy="522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457200" y="255960"/>
            <a:ext cx="914328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BACKEND K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Ó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D  -  SERVER.JS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PUT /api/hibak/:id/javitas  -  Hiba jav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í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t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á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sa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Rectangle 4"/>
          <p:cNvSpPr/>
          <p:nvPr/>
        </p:nvSpPr>
        <p:spPr>
          <a:xfrm>
            <a:off x="457200" y="1261800"/>
            <a:ext cx="11273760" cy="525708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5"/>
          <p:cNvSpPr/>
          <p:nvPr/>
        </p:nvSpPr>
        <p:spPr>
          <a:xfrm>
            <a:off x="594360" y="1371600"/>
            <a:ext cx="7890120" cy="31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app.put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('/api/hibak/:id/javitas', </a:t>
            </a:r>
            <a:r>
              <a:rPr lang="en-US" sz="1100" b="0" u="none" strike="noStrike">
                <a:solidFill>
                  <a:srgbClr val="82B1FF"/>
                </a:solidFill>
                <a:effectLst/>
                <a:uFillTx/>
                <a:latin typeface="Cascadia Code"/>
              </a:rPr>
              <a:t>authenticateToken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 async (req, res) =&gt;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{ id }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req.params;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currentUser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req.user;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(currentUser.szerep !==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'karbantarto'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&amp;&amp; currentUser.szerep !==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'admin'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return res.status(</a:t>
            </a:r>
            <a:r>
              <a:rPr lang="en-US" sz="1100" b="0" u="none" strike="noStrike">
                <a:solidFill>
                  <a:srgbClr val="FF8A80"/>
                </a:solidFill>
                <a:effectLst/>
                <a:uFillTx/>
                <a:latin typeface="Cascadia Code"/>
              </a:rPr>
              <a:t>403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).json({ error: 'Nincs jogosultsaga.' 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hiba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dbGet(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'SELECT * FROM hibak WHERE id = ?'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 [id]);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(!hiba)  return res.status(</a:t>
            </a:r>
            <a:r>
              <a:rPr lang="en-US" sz="1100" b="0" u="none" strike="noStrike">
                <a:solidFill>
                  <a:srgbClr val="FF8A80"/>
                </a:solidFill>
                <a:effectLst/>
                <a:uFillTx/>
                <a:latin typeface="Cascadia Code"/>
              </a:rPr>
              <a:t>404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).json(...);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(hiba.allapot ===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'kijavitva'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 return res.status(</a:t>
            </a:r>
            <a:r>
              <a:rPr lang="en-US" sz="1100" b="0" u="none" strike="noStrike">
                <a:solidFill>
                  <a:srgbClr val="FF8A80"/>
                </a:solidFill>
                <a:effectLst/>
                <a:uFillTx/>
                <a:latin typeface="Cascadia Code"/>
              </a:rPr>
              <a:t>409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).json(...); 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mar ki van javitva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javitas_datuma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new Date().toISOString().split(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'T'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)[0];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dbRun(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    'UPDATE hibak SET allapot=?, javito_id=?, javitas_datuma=? WHERE id=?',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[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'kijavitva'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 currentUser.id, javitas_datuma, id]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  res.json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(dbGet('SELECT * FROM hibak WHERE id = ?', [id]));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6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9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1" name="Kép 8"/>
          <p:cNvPicPr/>
          <p:nvPr/>
        </p:nvPicPr>
        <p:blipFill>
          <a:blip r:embed="rId1"/>
          <a:stretch/>
        </p:blipFill>
        <p:spPr>
          <a:xfrm>
            <a:off x="8365680" y="1297080"/>
            <a:ext cx="3155040" cy="5235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Box 1"/>
          <p:cNvSpPr/>
          <p:nvPr/>
        </p:nvSpPr>
        <p:spPr>
          <a:xfrm>
            <a:off x="457200" y="255960"/>
            <a:ext cx="91432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FRONTEND</a:t>
            </a:r>
            <a:endParaRPr lang="hu-H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Az alkalmaz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á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 oldalai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Rectangle 4"/>
          <p:cNvSpPr/>
          <p:nvPr/>
        </p:nvSpPr>
        <p:spPr>
          <a:xfrm>
            <a:off x="457200" y="1261800"/>
            <a:ext cx="5394240" cy="248652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5"/>
          <p:cNvSpPr/>
          <p:nvPr/>
        </p:nvSpPr>
        <p:spPr>
          <a:xfrm>
            <a:off x="640080" y="1353240"/>
            <a:ext cx="730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🔑</a:t>
            </a:r>
            <a:endParaRPr lang="hu-H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6"/>
          <p:cNvSpPr/>
          <p:nvPr/>
        </p:nvSpPr>
        <p:spPr>
          <a:xfrm>
            <a:off x="1463040" y="1380600"/>
            <a:ext cx="402264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Bejelentkez</a:t>
            </a:r>
            <a:r>
              <a:rPr lang="hu-HU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é</a:t>
            </a:r>
            <a:r>
              <a:rPr lang="en-US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s</a:t>
            </a:r>
            <a:endParaRPr lang="hu-H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7"/>
          <p:cNvSpPr/>
          <p:nvPr/>
        </p:nvSpPr>
        <p:spPr>
          <a:xfrm>
            <a:off x="1463040" y="1783080"/>
            <a:ext cx="40226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FFE082"/>
                </a:solidFill>
                <a:effectLst/>
                <a:uFillTx/>
                <a:latin typeface="Cascadia Code"/>
              </a:rPr>
              <a:t>index.html + login.js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8"/>
          <p:cNvSpPr/>
          <p:nvPr/>
        </p:nvSpPr>
        <p:spPr>
          <a:xfrm>
            <a:off x="685800" y="2176200"/>
            <a:ext cx="49370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Felhasznal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n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v + jelsz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bevitel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JWT -&gt; sessionStorage -&gt; main.html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9"/>
          <p:cNvSpPr/>
          <p:nvPr/>
        </p:nvSpPr>
        <p:spPr>
          <a:xfrm>
            <a:off x="6309360" y="1261800"/>
            <a:ext cx="5394240" cy="248652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TextBox 10"/>
          <p:cNvSpPr/>
          <p:nvPr/>
        </p:nvSpPr>
        <p:spPr>
          <a:xfrm>
            <a:off x="6492240" y="1353240"/>
            <a:ext cx="730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📋</a:t>
            </a:r>
            <a:endParaRPr lang="hu-H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11"/>
          <p:cNvSpPr/>
          <p:nvPr/>
        </p:nvSpPr>
        <p:spPr>
          <a:xfrm>
            <a:off x="7315200" y="1380600"/>
            <a:ext cx="402264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F</a:t>
            </a:r>
            <a:r>
              <a:rPr lang="hu-HU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ő</a:t>
            </a:r>
            <a:r>
              <a:rPr lang="en-US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oldal</a:t>
            </a:r>
            <a:endParaRPr lang="hu-H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12"/>
          <p:cNvSpPr/>
          <p:nvPr/>
        </p:nvSpPr>
        <p:spPr>
          <a:xfrm>
            <a:off x="7315200" y="1783080"/>
            <a:ext cx="40226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FFE082"/>
                </a:solidFill>
                <a:effectLst/>
                <a:uFillTx/>
                <a:latin typeface="Cascadia Code"/>
              </a:rPr>
              <a:t>main.html + main-app.js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13"/>
          <p:cNvSpPr/>
          <p:nvPr/>
        </p:nvSpPr>
        <p:spPr>
          <a:xfrm>
            <a:off x="6537960" y="2176200"/>
            <a:ext cx="49370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Hib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k t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bl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zata 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llapot-sz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u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val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ú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j hiba 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ü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rlap (tan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 / admin)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Javit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 gomb (karbantart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 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/ admin)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14"/>
          <p:cNvSpPr/>
          <p:nvPr/>
        </p:nvSpPr>
        <p:spPr>
          <a:xfrm>
            <a:off x="457200" y="3858840"/>
            <a:ext cx="5394240" cy="248652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15"/>
          <p:cNvSpPr/>
          <p:nvPr/>
        </p:nvSpPr>
        <p:spPr>
          <a:xfrm>
            <a:off x="640080" y="3950280"/>
            <a:ext cx="730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👤</a:t>
            </a:r>
            <a:endParaRPr lang="hu-H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16"/>
          <p:cNvSpPr/>
          <p:nvPr/>
        </p:nvSpPr>
        <p:spPr>
          <a:xfrm>
            <a:off x="1463040" y="3977640"/>
            <a:ext cx="402264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Felhaszn</a:t>
            </a:r>
            <a:r>
              <a:rPr lang="hu-HU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á</a:t>
            </a:r>
            <a:r>
              <a:rPr lang="en-US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l</a:t>
            </a:r>
            <a:r>
              <a:rPr lang="hu-HU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o</a:t>
            </a:r>
            <a:r>
              <a:rPr lang="en-US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kézeles</a:t>
            </a:r>
            <a:endParaRPr lang="hu-H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17"/>
          <p:cNvSpPr/>
          <p:nvPr/>
        </p:nvSpPr>
        <p:spPr>
          <a:xfrm>
            <a:off x="1463040" y="4380120"/>
            <a:ext cx="40226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FFE082"/>
                </a:solidFill>
                <a:effectLst/>
                <a:uFillTx/>
                <a:latin typeface="Cascadia Code"/>
              </a:rPr>
              <a:t>admin_users.html + .js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18"/>
          <p:cNvSpPr/>
          <p:nvPr/>
        </p:nvSpPr>
        <p:spPr>
          <a:xfrm>
            <a:off x="685800" y="4773240"/>
            <a:ext cx="493704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Csak adminisztr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tor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nak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l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that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Ú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j felhaszn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áló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hozz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ad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sa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Felhaszn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lok t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rl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se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19"/>
          <p:cNvSpPr/>
          <p:nvPr/>
        </p:nvSpPr>
        <p:spPr>
          <a:xfrm>
            <a:off x="6309360" y="3858840"/>
            <a:ext cx="5394240" cy="248652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20"/>
          <p:cNvSpPr/>
          <p:nvPr/>
        </p:nvSpPr>
        <p:spPr>
          <a:xfrm>
            <a:off x="6492240" y="3950280"/>
            <a:ext cx="730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❓</a:t>
            </a:r>
            <a:endParaRPr lang="hu-H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21"/>
          <p:cNvSpPr/>
          <p:nvPr/>
        </p:nvSpPr>
        <p:spPr>
          <a:xfrm>
            <a:off x="7315200" y="3977640"/>
            <a:ext cx="402264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Sug</a:t>
            </a:r>
            <a:r>
              <a:rPr lang="hu-HU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ó</a:t>
            </a:r>
            <a:endParaRPr lang="hu-H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22"/>
          <p:cNvSpPr/>
          <p:nvPr/>
        </p:nvSpPr>
        <p:spPr>
          <a:xfrm>
            <a:off x="7315200" y="4380120"/>
            <a:ext cx="40226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FFE082"/>
                </a:solidFill>
                <a:effectLst/>
                <a:uFillTx/>
                <a:latin typeface="Cascadia Code"/>
              </a:rPr>
              <a:t>help.html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23"/>
          <p:cNvSpPr/>
          <p:nvPr/>
        </p:nvSpPr>
        <p:spPr>
          <a:xfrm>
            <a:off x="6537960" y="4773240"/>
            <a:ext cx="49370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Statikus reszponz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í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v oldal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Navig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ciob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 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új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lapon ny</a:t>
            </a:r>
            <a:r>
              <a:rPr lang="hu-HU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í</a:t>
            </a:r>
            <a:r>
              <a:rPr lang="en-US" sz="12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lik meg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24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13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Box 1"/>
          <p:cNvSpPr/>
          <p:nvPr/>
        </p:nvSpPr>
        <p:spPr>
          <a:xfrm>
            <a:off x="457200" y="255960"/>
            <a:ext cx="914328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FRONTEND K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Ó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D  -  LOGIN.JS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Bejelentkez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si logika  (handleLogin)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Rectangle 4"/>
          <p:cNvSpPr/>
          <p:nvPr/>
        </p:nvSpPr>
        <p:spPr>
          <a:xfrm>
            <a:off x="457200" y="1261800"/>
            <a:ext cx="11273760" cy="525708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Box 5"/>
          <p:cNvSpPr/>
          <p:nvPr/>
        </p:nvSpPr>
        <p:spPr>
          <a:xfrm>
            <a:off x="594360" y="1371600"/>
            <a:ext cx="10999440" cy="50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async function </a:t>
            </a: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handleLogin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(event)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event.preventDefault();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felhasznalonev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document.getElementById(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'felhasznalonev'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).value;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jelszo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document.getElementById(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'jelszo'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).value;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  // POST keres az API-ra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response </a:t>
            </a: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= await </a:t>
            </a: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fetch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(`${API_BASE_URL}/login`,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method: 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'POST'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headers: { 'Content-Type':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'application/json'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},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    body:    JSON.stringify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({ felhasznalonev, jelszo })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data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await response.json();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(response.ok)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    sessionStorage.setItem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'authToken'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, data.token);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JWT elmentese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window.location.href 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'main.html'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; 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atiranyitas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} else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loginErrorDiv.textContent = data.error ||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'Sikertelen bejelentkezes.'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}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}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6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10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Kép 8"/>
          <p:cNvPicPr/>
          <p:nvPr/>
        </p:nvPicPr>
        <p:blipFill>
          <a:blip r:embed="rId1"/>
          <a:stretch/>
        </p:blipFill>
        <p:spPr>
          <a:xfrm>
            <a:off x="8659800" y="1261800"/>
            <a:ext cx="3071160" cy="522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Box 1"/>
          <p:cNvSpPr/>
          <p:nvPr/>
        </p:nvSpPr>
        <p:spPr>
          <a:xfrm>
            <a:off x="457200" y="255960"/>
            <a:ext cx="914328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FRONTEND K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Ó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D  -  MAIN-APP.JS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Hib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á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k megjelen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í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t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se  -  renderFaults()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Rectangle 4"/>
          <p:cNvSpPr/>
          <p:nvPr/>
        </p:nvSpPr>
        <p:spPr>
          <a:xfrm>
            <a:off x="457200" y="1261800"/>
            <a:ext cx="11273760" cy="525708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Box 5"/>
          <p:cNvSpPr/>
          <p:nvPr/>
        </p:nvSpPr>
        <p:spPr>
          <a:xfrm>
            <a:off x="594360" y="1371600"/>
            <a:ext cx="8307000" cy="36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function </a:t>
            </a: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renderFaults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(faults)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tableBody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document.getElementById(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'faultsTableBody'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tableBody.innerHTML = '';  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// tabla torleése ujrarendereles elott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  faults.forEach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(fault =&gt;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row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tableBody.insertRow();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row.insertCell().textContent = fault.datum;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row.insertCell().textContent = fault.terem;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row.insertCell().textContent = fault.leiras;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    // Allapot - Bootstrap badge szinezessel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szin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fault.allapot ===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'bejelentve'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?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'warning'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: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'success'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row.insertCell().innerHTML = `&lt;span class="badge bg-${szin}"&gt;${fault.allapot}&lt;/span&gt;`;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    // Javitas gomb - csak karbantarto / admin latja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  if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(fault.allapot ===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'bejelentve'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&amp;&amp; (szerep ===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'admin'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|| szerep ===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'karbantarto'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)) {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E93D8"/>
                </a:solidFill>
                <a:effectLst/>
                <a:uFillTx/>
                <a:latin typeface="Cascadia Code"/>
              </a:rPr>
              <a:t>      const </a:t>
            </a:r>
            <a:r>
              <a:rPr lang="en-US" sz="1100" b="0" u="none" strike="noStrike">
                <a:solidFill>
                  <a:srgbClr val="E8F0FE"/>
                </a:solidFill>
                <a:effectLst/>
                <a:uFillTx/>
                <a:latin typeface="Cascadia Code"/>
              </a:rPr>
              <a:t>btn 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= document.createElement(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'button'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  btn.textContent = </a:t>
            </a:r>
            <a:r>
              <a:rPr lang="en-US" sz="1100" b="0" u="none" strike="noStrike">
                <a:solidFill>
                  <a:srgbClr val="FFD54F"/>
                </a:solidFill>
                <a:effectLst/>
                <a:uFillTx/>
                <a:latin typeface="Cascadia Code"/>
              </a:rPr>
              <a:t>'Javitas'</a:t>
            </a: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;  btn.onclick = () =&gt; handleMarkAsFixed(fault.id);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  }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  });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0BEC5"/>
                </a:solidFill>
                <a:effectLst/>
                <a:uFillTx/>
                <a:latin typeface="Cascadia Code"/>
              </a:rPr>
              <a:t>}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6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11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9" name="Kép 8"/>
          <p:cNvPicPr/>
          <p:nvPr/>
        </p:nvPicPr>
        <p:blipFill>
          <a:blip r:embed="rId1"/>
          <a:stretch/>
        </p:blipFill>
        <p:spPr>
          <a:xfrm>
            <a:off x="8525520" y="1297080"/>
            <a:ext cx="3167280" cy="522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Box 1"/>
          <p:cNvSpPr/>
          <p:nvPr/>
        </p:nvSpPr>
        <p:spPr>
          <a:xfrm>
            <a:off x="457200" y="255960"/>
            <a:ext cx="914328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MIN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Ö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S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É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GBIZTOS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Í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T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Á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Tesztel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Rectangle 4"/>
          <p:cNvSpPr/>
          <p:nvPr/>
        </p:nvSpPr>
        <p:spPr>
          <a:xfrm>
            <a:off x="457200" y="1261800"/>
            <a:ext cx="3656880" cy="36568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5"/>
          <p:cNvSpPr/>
          <p:nvPr/>
        </p:nvSpPr>
        <p:spPr>
          <a:xfrm>
            <a:off x="640080" y="1417320"/>
            <a:ext cx="7308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🌐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6"/>
          <p:cNvSpPr/>
          <p:nvPr/>
        </p:nvSpPr>
        <p:spPr>
          <a:xfrm>
            <a:off x="1463040" y="1481400"/>
            <a:ext cx="23767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API tesztek</a:t>
            </a:r>
            <a:endParaRPr lang="hu-H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7"/>
          <p:cNvSpPr/>
          <p:nvPr/>
        </p:nvSpPr>
        <p:spPr>
          <a:xfrm>
            <a:off x="685800" y="2148840"/>
            <a:ext cx="319968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api_test.http - REST Client f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jl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Minden v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gpont manuálisan tesztelt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Login, hib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k, jav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í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s, 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8"/>
          <p:cNvSpPr/>
          <p:nvPr/>
        </p:nvSpPr>
        <p:spPr>
          <a:xfrm>
            <a:off x="4389120" y="1261800"/>
            <a:ext cx="3656880" cy="36568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9"/>
          <p:cNvSpPr/>
          <p:nvPr/>
        </p:nvSpPr>
        <p:spPr>
          <a:xfrm>
            <a:off x="4572000" y="1417320"/>
            <a:ext cx="7308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🖥️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10"/>
          <p:cNvSpPr/>
          <p:nvPr/>
        </p:nvSpPr>
        <p:spPr>
          <a:xfrm>
            <a:off x="5394960" y="1481400"/>
            <a:ext cx="23767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9A825"/>
                </a:solidFill>
                <a:effectLst/>
                <a:uFillTx/>
                <a:latin typeface="Segoe UI"/>
              </a:rPr>
              <a:t>E2E tesztek</a:t>
            </a:r>
            <a:endParaRPr lang="hu-H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11"/>
          <p:cNvSpPr/>
          <p:nvPr/>
        </p:nvSpPr>
        <p:spPr>
          <a:xfrm>
            <a:off x="4617720" y="2148840"/>
            <a:ext cx="319968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e2etests.md - forgat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k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nyvek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e2e_futtatás.xlsx - futtat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si napl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Teljes felhasznal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i folyamatok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12"/>
          <p:cNvSpPr/>
          <p:nvPr/>
        </p:nvSpPr>
        <p:spPr>
          <a:xfrm>
            <a:off x="8321040" y="1261800"/>
            <a:ext cx="3656880" cy="365688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13"/>
          <p:cNvSpPr/>
          <p:nvPr/>
        </p:nvSpPr>
        <p:spPr>
          <a:xfrm>
            <a:off x="8503920" y="1417320"/>
            <a:ext cx="7308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🗃️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14"/>
          <p:cNvSpPr/>
          <p:nvPr/>
        </p:nvSpPr>
        <p:spPr>
          <a:xfrm>
            <a:off x="9326880" y="1481400"/>
            <a:ext cx="23767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Tesztadatok</a:t>
            </a:r>
            <a:endParaRPr lang="hu-H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15"/>
          <p:cNvSpPr/>
          <p:nvPr/>
        </p:nvSpPr>
        <p:spPr>
          <a:xfrm>
            <a:off x="8549640" y="2148840"/>
            <a:ext cx="319968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tesztadatok.sql - 5 felhaszn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admin / tan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rok / karbantartok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5 el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re defini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lt hibabejelent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Rectangle 16"/>
          <p:cNvSpPr/>
          <p:nvPr/>
        </p:nvSpPr>
        <p:spPr>
          <a:xfrm>
            <a:off x="457200" y="5166360"/>
            <a:ext cx="11273760" cy="134352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TextBox 17"/>
          <p:cNvSpPr/>
          <p:nvPr/>
        </p:nvSpPr>
        <p:spPr>
          <a:xfrm>
            <a:off x="640080" y="5257800"/>
            <a:ext cx="4571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Tesztkörnyezet inditasa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18"/>
          <p:cNvSpPr/>
          <p:nvPr/>
        </p:nvSpPr>
        <p:spPr>
          <a:xfrm>
            <a:off x="457200" y="5650920"/>
            <a:ext cx="11273760" cy="776520"/>
          </a:xfrm>
          <a:prstGeom prst="rect">
            <a:avLst/>
          </a:prstGeom>
          <a:solidFill>
            <a:srgbClr val="05101A"/>
          </a:solidFill>
          <a:ln w="12700">
            <a:solidFill>
              <a:srgbClr val="1A3A5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19"/>
          <p:cNvSpPr/>
          <p:nvPr/>
        </p:nvSpPr>
        <p:spPr>
          <a:xfrm>
            <a:off x="594360" y="5760720"/>
            <a:ext cx="1099944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$ sqlite3 hibabejelento.db &lt; tests/tesztadatok.sql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9F0AE"/>
                </a:solidFill>
                <a:effectLst/>
                <a:uFillTx/>
                <a:latin typeface="Cascadia Code"/>
              </a:rPr>
              <a:t>$ npm start</a:t>
            </a:r>
            <a:r>
              <a:rPr lang="en-US" sz="1100" b="0" u="none" strike="noStrike">
                <a:solidFill>
                  <a:srgbClr val="607D8B"/>
                </a:solidFill>
                <a:effectLst/>
                <a:uFillTx/>
                <a:latin typeface="Cascadia Code"/>
              </a:rPr>
              <a:t>   # -&gt; http://localhost:3000  (PORT konfiguralhato .env-ben)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20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14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" name="Kép 21"/>
          <p:cNvPicPr/>
          <p:nvPr/>
        </p:nvPicPr>
        <p:blipFill>
          <a:blip r:embed="rId1"/>
          <a:stretch/>
        </p:blipFill>
        <p:spPr>
          <a:xfrm>
            <a:off x="666000" y="3015360"/>
            <a:ext cx="3239280" cy="183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" name="Kép 22"/>
          <p:cNvPicPr/>
          <p:nvPr/>
        </p:nvPicPr>
        <p:blipFill>
          <a:blip r:embed="rId2"/>
          <a:stretch/>
        </p:blipFill>
        <p:spPr>
          <a:xfrm>
            <a:off x="8529840" y="3256200"/>
            <a:ext cx="3239280" cy="99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2" name="Kép 23"/>
          <p:cNvPicPr/>
          <p:nvPr/>
        </p:nvPicPr>
        <p:blipFill>
          <a:blip r:embed="rId3"/>
          <a:stretch/>
        </p:blipFill>
        <p:spPr>
          <a:xfrm>
            <a:off x="4597920" y="3036960"/>
            <a:ext cx="3239280" cy="174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TextBox 1"/>
          <p:cNvSpPr/>
          <p:nvPr/>
        </p:nvSpPr>
        <p:spPr>
          <a:xfrm>
            <a:off x="457200" y="255960"/>
            <a:ext cx="914328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Ö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SSZEFOGLAL</a:t>
            </a:r>
            <a:r>
              <a:rPr lang="hu-HU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Á</a:t>
            </a:r>
            <a:r>
              <a:rPr lang="en-US" sz="9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2"/>
          <p:cNvSpPr/>
          <p:nvPr/>
        </p:nvSpPr>
        <p:spPr>
          <a:xfrm>
            <a:off x="457200" y="530280"/>
            <a:ext cx="1127376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Eredm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ny &amp; Tovabb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 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fejleszt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si lehet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ő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s</a:t>
            </a:r>
            <a:r>
              <a:rPr lang="hu-HU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é</a:t>
            </a:r>
            <a:r>
              <a:rPr lang="en-US" sz="2600" b="1" u="none" strike="noStrike">
                <a:solidFill>
                  <a:srgbClr val="E8F0FE"/>
                </a:solidFill>
                <a:effectLst/>
                <a:uFillTx/>
                <a:latin typeface="Segoe UI"/>
              </a:rPr>
              <a:t>gek</a:t>
            </a:r>
            <a:endParaRPr lang="hu-H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Rectangle 3"/>
          <p:cNvSpPr/>
          <p:nvPr/>
        </p:nvSpPr>
        <p:spPr>
          <a:xfrm>
            <a:off x="457200" y="1078920"/>
            <a:ext cx="11273760" cy="26640"/>
          </a:xfrm>
          <a:prstGeom prst="rect">
            <a:avLst/>
          </a:prstGeom>
          <a:solidFill>
            <a:srgbClr val="4FC3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Rectangle 4"/>
          <p:cNvSpPr/>
          <p:nvPr/>
        </p:nvSpPr>
        <p:spPr>
          <a:xfrm>
            <a:off x="457200" y="1261800"/>
            <a:ext cx="5394240" cy="505584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7" name="TextBox 5"/>
          <p:cNvSpPr/>
          <p:nvPr/>
        </p:nvSpPr>
        <p:spPr>
          <a:xfrm>
            <a:off x="640080" y="1371600"/>
            <a:ext cx="493704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✅  Elk</a:t>
            </a:r>
            <a:r>
              <a:rPr lang="hu-HU" sz="14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é</a:t>
            </a:r>
            <a:r>
              <a:rPr lang="en-US" sz="14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szult funkci</a:t>
            </a:r>
            <a:r>
              <a:rPr lang="hu-HU" sz="14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ó</a:t>
            </a:r>
            <a:r>
              <a:rPr lang="en-US" sz="14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k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6"/>
          <p:cNvSpPr/>
          <p:nvPr/>
        </p:nvSpPr>
        <p:spPr>
          <a:xfrm>
            <a:off x="640080" y="1874520"/>
            <a:ext cx="4937040" cy="16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Szerepk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r-alap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ú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bejelentkezes (JWT)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Hibabejelentes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 list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z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 szur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óv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al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Jav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í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 kezel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se - javit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+ datum r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gz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í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tve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Admin felhaszn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kézel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ő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panel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Reszponz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í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v UI - Bootstrap 5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</a:t>
            </a:r>
            <a:r>
              <a:rPr lang="pt-BR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Manu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pt-BR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lis API-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o</a:t>
            </a:r>
            <a:r>
              <a:rPr lang="pt-BR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 E2E tesztek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7"/>
          <p:cNvSpPr/>
          <p:nvPr/>
        </p:nvSpPr>
        <p:spPr>
          <a:xfrm>
            <a:off x="6400800" y="1261800"/>
            <a:ext cx="5394240" cy="5055840"/>
          </a:xfrm>
          <a:prstGeom prst="rect">
            <a:avLst/>
          </a:prstGeom>
          <a:solidFill>
            <a:srgbClr val="1B2D45"/>
          </a:solidFill>
          <a:ln w="12700">
            <a:solidFill>
              <a:srgbClr val="2A4A6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8"/>
          <p:cNvSpPr/>
          <p:nvPr/>
        </p:nvSpPr>
        <p:spPr>
          <a:xfrm>
            <a:off x="6583680" y="1371600"/>
            <a:ext cx="493704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🚀  Tov</a:t>
            </a:r>
            <a:r>
              <a:rPr lang="hu-HU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á</a:t>
            </a:r>
            <a:r>
              <a:rPr lang="en-US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bb</a:t>
            </a:r>
            <a:r>
              <a:rPr lang="hu-HU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 </a:t>
            </a:r>
            <a:r>
              <a:rPr lang="en-US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fejleszt</a:t>
            </a:r>
            <a:r>
              <a:rPr lang="hu-HU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é</a:t>
            </a:r>
            <a:r>
              <a:rPr lang="en-US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si </a:t>
            </a:r>
            <a:r>
              <a:rPr lang="hu-HU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í</a:t>
            </a:r>
            <a:r>
              <a:rPr lang="en-US" sz="1400" b="1" u="none" strike="noStrike">
                <a:solidFill>
                  <a:srgbClr val="4FC3F7"/>
                </a:solidFill>
                <a:effectLst/>
                <a:uFillTx/>
                <a:latin typeface="Segoe UI"/>
              </a:rPr>
              <a:t>ranyok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9"/>
          <p:cNvSpPr/>
          <p:nvPr/>
        </p:nvSpPr>
        <p:spPr>
          <a:xfrm>
            <a:off x="6583680" y="1874520"/>
            <a:ext cx="4937040" cy="13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E-mail 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ér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tes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i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 karbantartoknak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K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p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felt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ö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ltes a hib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á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khoz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Prioritas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kezel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é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s a hibajegyeken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Reszletesebb napl</a:t>
            </a:r>
            <a:r>
              <a:rPr lang="hu-HU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ó</a:t>
            </a: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/ audit log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B0BEC5"/>
                </a:solidFill>
                <a:effectLst/>
                <a:uFillTx/>
                <a:latin typeface="Calibri"/>
              </a:rPr>
              <a:t>  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Rectangle 10"/>
          <p:cNvSpPr/>
          <p:nvPr/>
        </p:nvSpPr>
        <p:spPr>
          <a:xfrm>
            <a:off x="658440" y="6473880"/>
            <a:ext cx="2102400" cy="310320"/>
          </a:xfrm>
          <a:prstGeom prst="rect">
            <a:avLst/>
          </a:prstGeom>
          <a:solidFill>
            <a:srgbClr val="1B2D45"/>
          </a:solidFill>
          <a:ln w="12700">
            <a:solidFill>
              <a:srgbClr val="1A73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11"/>
          <p:cNvSpPr/>
          <p:nvPr/>
        </p:nvSpPr>
        <p:spPr>
          <a:xfrm>
            <a:off x="658440" y="6473880"/>
            <a:ext cx="21024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A73E8"/>
                </a:solidFill>
                <a:effectLst/>
                <a:uFillTx/>
                <a:latin typeface="Segoe UI"/>
              </a:rPr>
              <a:t>Node.js + Express.js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Rectangle 12"/>
          <p:cNvSpPr/>
          <p:nvPr/>
        </p:nvSpPr>
        <p:spPr>
          <a:xfrm>
            <a:off x="2834640" y="6473880"/>
            <a:ext cx="2102400" cy="310320"/>
          </a:xfrm>
          <a:prstGeom prst="rect">
            <a:avLst/>
          </a:prstGeom>
          <a:solidFill>
            <a:srgbClr val="1B2D45"/>
          </a:solidFill>
          <a:ln w="12700">
            <a:solidFill>
              <a:srgbClr val="43E9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Box 13"/>
          <p:cNvSpPr/>
          <p:nvPr/>
        </p:nvSpPr>
        <p:spPr>
          <a:xfrm>
            <a:off x="2834640" y="6473880"/>
            <a:ext cx="21024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43E97B"/>
                </a:solidFill>
                <a:effectLst/>
                <a:uFillTx/>
                <a:latin typeface="Segoe UI"/>
              </a:rPr>
              <a:t>SQLite + better-sqlite3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Rectangle 14"/>
          <p:cNvSpPr/>
          <p:nvPr/>
        </p:nvSpPr>
        <p:spPr>
          <a:xfrm>
            <a:off x="5010840" y="6473880"/>
            <a:ext cx="2102400" cy="310320"/>
          </a:xfrm>
          <a:prstGeom prst="rect">
            <a:avLst/>
          </a:prstGeom>
          <a:solidFill>
            <a:srgbClr val="1B2D45"/>
          </a:solidFill>
          <a:ln w="12700">
            <a:solidFill>
              <a:srgbClr val="F9A82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15"/>
          <p:cNvSpPr/>
          <p:nvPr/>
        </p:nvSpPr>
        <p:spPr>
          <a:xfrm>
            <a:off x="5010840" y="6473880"/>
            <a:ext cx="21024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9A825"/>
                </a:solidFill>
                <a:effectLst/>
                <a:uFillTx/>
                <a:latin typeface="Segoe UI"/>
              </a:rPr>
              <a:t>Bootstrap 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Rectangle 16"/>
          <p:cNvSpPr/>
          <p:nvPr/>
        </p:nvSpPr>
        <p:spPr>
          <a:xfrm>
            <a:off x="7187040" y="6473880"/>
            <a:ext cx="2102400" cy="310320"/>
          </a:xfrm>
          <a:prstGeom prst="rect">
            <a:avLst/>
          </a:prstGeom>
          <a:solidFill>
            <a:srgbClr val="1B2D45"/>
          </a:solidFill>
          <a:ln w="12700">
            <a:solidFill>
              <a:srgbClr val="EF53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TextBox 17"/>
          <p:cNvSpPr/>
          <p:nvPr/>
        </p:nvSpPr>
        <p:spPr>
          <a:xfrm>
            <a:off x="7187040" y="6473880"/>
            <a:ext cx="21024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EF5350"/>
                </a:solidFill>
                <a:effectLst/>
                <a:uFillTx/>
                <a:latin typeface="Segoe UI"/>
              </a:rPr>
              <a:t>bcrypt.js + JWT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18"/>
          <p:cNvSpPr/>
          <p:nvPr/>
        </p:nvSpPr>
        <p:spPr>
          <a:xfrm>
            <a:off x="9363600" y="6473880"/>
            <a:ext cx="2102400" cy="310320"/>
          </a:xfrm>
          <a:prstGeom prst="rect">
            <a:avLst/>
          </a:prstGeom>
          <a:solidFill>
            <a:srgbClr val="1B2D45"/>
          </a:solidFill>
          <a:ln w="12700">
            <a:solidFill>
              <a:srgbClr val="FF2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19"/>
          <p:cNvSpPr/>
          <p:nvPr/>
        </p:nvSpPr>
        <p:spPr>
          <a:xfrm>
            <a:off x="9363600" y="6473880"/>
            <a:ext cx="210240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29FF"/>
                </a:solidFill>
                <a:effectLst/>
                <a:uFillTx/>
                <a:latin typeface="Segoe UI"/>
              </a:rPr>
              <a:t>JS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0"/>
          <p:cNvSpPr/>
          <p:nvPr/>
        </p:nvSpPr>
        <p:spPr>
          <a:xfrm>
            <a:off x="10972800" y="6492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07D8B"/>
                </a:solidFill>
                <a:effectLst/>
                <a:uFillTx/>
                <a:latin typeface="Segoe UI"/>
              </a:rPr>
              <a:t>15 / 15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LibreOffice/26.2.0.3$Windows_X86_64 LibreOffice_project/620$Build-3</Application>
  <AppVersion>15.0000</AppVersion>
  <Words>2464</Words>
  <Paragraphs>325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hu-HU</dc:language>
  <cp:lastModifiedBy/>
  <dcterms:modified xsi:type="dcterms:W3CDTF">2026-04-06T22:01:08Z</dcterms:modified>
  <cp:revision>31</cp:revision>
  <dc:subject/>
  <dc:title>PowerPoint-bemutató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Egyéni</vt:lpwstr>
  </property>
  <property fmtid="{D5CDD505-2E9C-101B-9397-08002B2CF9AE}" pid="4" name="Slides">
    <vt:i4>16</vt:i4>
  </property>
</Properties>
</file>
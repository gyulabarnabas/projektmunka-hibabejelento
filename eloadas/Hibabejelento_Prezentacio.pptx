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7" r:id="rId6"/>
    <p:sldId id="271" r:id="rId7"/>
    <p:sldId id="260" r:id="rId8"/>
    <p:sldId id="261" r:id="rId9"/>
    <p:sldId id="263" r:id="rId10"/>
    <p:sldId id="262" r:id="rId11"/>
    <p:sldId id="264" r:id="rId12"/>
    <p:sldId id="268" r:id="rId13"/>
    <p:sldId id="265" r:id="rId14"/>
    <p:sldId id="266" r:id="rId15"/>
    <p:sldId id="269" r:id="rId16"/>
    <p:sldId id="270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9FF"/>
    <a:srgbClr val="15436D"/>
    <a:srgbClr val="1A5284"/>
    <a:srgbClr val="226CB0"/>
    <a:srgbClr val="386A80"/>
    <a:srgbClr val="122E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84" autoAdjust="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28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8683E-07FC-485E-975D-930772CD890E}" type="datetimeFigureOut">
              <a:rPr lang="hu-HU" smtClean="0"/>
              <a:t>2026. 03. 27.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339534-2B37-4120-A119-7F12207EB1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52532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Ezt nem látja senki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39534-2B37-4120-A119-7F12207EB128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6131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457200"/>
            <a:ext cx="7315200" cy="7315200"/>
          </a:xfrm>
          <a:prstGeom prst="ellipse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846320" y="4572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E8F0FE"/>
                </a:solidFill>
                <a:latin typeface="Segoe UI"/>
              </a:rPr>
              <a:t>🛠️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737360"/>
            <a:ext cx="8229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4FC3F7"/>
                </a:solidFill>
                <a:latin typeface="Segoe UI"/>
              </a:rPr>
              <a:t>VIZSGAREMEK  -  2025. M</a:t>
            </a:r>
            <a:r>
              <a:rPr lang="hu-HU" sz="1000" b="1" i="0" dirty="0">
                <a:solidFill>
                  <a:srgbClr val="4FC3F7"/>
                </a:solidFill>
                <a:latin typeface="Segoe UI"/>
              </a:rPr>
              <a:t>Á</a:t>
            </a:r>
            <a:r>
              <a:rPr sz="1000" b="1" i="0" dirty="0">
                <a:solidFill>
                  <a:srgbClr val="4FC3F7"/>
                </a:solidFill>
                <a:latin typeface="Segoe UI"/>
              </a:rPr>
              <a:t>JUS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 dirty="0" err="1">
                <a:solidFill>
                  <a:srgbClr val="E8F0FE"/>
                </a:solidFill>
                <a:latin typeface="Segoe UI"/>
              </a:rPr>
              <a:t>Hibabejelent</a:t>
            </a:r>
            <a:r>
              <a:rPr lang="hu-HU" sz="5400" b="1" i="0" dirty="0">
                <a:solidFill>
                  <a:srgbClr val="E8F0FE"/>
                </a:solidFill>
                <a:latin typeface="Segoe UI"/>
              </a:rPr>
              <a:t>ő</a:t>
            </a:r>
            <a:endParaRPr sz="5400" b="1" i="0" dirty="0">
              <a:solidFill>
                <a:srgbClr val="E8F0FE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3429000"/>
            <a:ext cx="94183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 dirty="0" err="1">
                <a:solidFill>
                  <a:srgbClr val="90CAF9"/>
                </a:solidFill>
                <a:latin typeface="Segoe UI"/>
              </a:rPr>
              <a:t>Webes</a:t>
            </a:r>
            <a:r>
              <a:rPr sz="1700" b="0" i="0" dirty="0">
                <a:solidFill>
                  <a:srgbClr val="90CAF9"/>
                </a:solidFill>
                <a:latin typeface="Segoe UI"/>
              </a:rPr>
              <a:t> </a:t>
            </a:r>
            <a:r>
              <a:rPr sz="1700" b="0" i="0" dirty="0" err="1">
                <a:solidFill>
                  <a:srgbClr val="90CAF9"/>
                </a:solidFill>
                <a:latin typeface="Segoe UI"/>
              </a:rPr>
              <a:t>hibabejelent</a:t>
            </a:r>
            <a:r>
              <a:rPr lang="hu-HU" sz="1700" dirty="0">
                <a:solidFill>
                  <a:srgbClr val="90CAF9"/>
                </a:solidFill>
                <a:latin typeface="Segoe UI"/>
              </a:rPr>
              <a:t>ő</a:t>
            </a:r>
            <a:r>
              <a:rPr sz="1700" b="0" i="0" dirty="0">
                <a:solidFill>
                  <a:srgbClr val="90CAF9"/>
                </a:solidFill>
                <a:latin typeface="Segoe UI"/>
              </a:rPr>
              <a:t> </a:t>
            </a:r>
            <a:r>
              <a:rPr lang="hu-HU" sz="1700" b="0" i="0" dirty="0">
                <a:solidFill>
                  <a:srgbClr val="90CAF9"/>
                </a:solidFill>
                <a:latin typeface="Segoe UI"/>
              </a:rPr>
              <a:t>é</a:t>
            </a:r>
            <a:r>
              <a:rPr sz="1700" b="0" i="0" dirty="0">
                <a:solidFill>
                  <a:srgbClr val="90CAF9"/>
                </a:solidFill>
                <a:latin typeface="Segoe UI"/>
              </a:rPr>
              <a:t>s -</a:t>
            </a:r>
            <a:r>
              <a:rPr sz="1700" b="0" i="0" dirty="0" err="1">
                <a:solidFill>
                  <a:srgbClr val="90CAF9"/>
                </a:solidFill>
                <a:latin typeface="Segoe UI"/>
              </a:rPr>
              <a:t>nyil</a:t>
            </a:r>
            <a:r>
              <a:rPr lang="hu-HU" sz="1700" b="0" i="0" dirty="0" err="1">
                <a:solidFill>
                  <a:srgbClr val="90CAF9"/>
                </a:solidFill>
                <a:latin typeface="Segoe UI"/>
              </a:rPr>
              <a:t>vá</a:t>
            </a:r>
            <a:r>
              <a:rPr sz="1700" b="0" i="0" dirty="0" err="1">
                <a:solidFill>
                  <a:srgbClr val="90CAF9"/>
                </a:solidFill>
                <a:latin typeface="Segoe UI"/>
              </a:rPr>
              <a:t>ntart</a:t>
            </a:r>
            <a:r>
              <a:rPr lang="hu-HU" sz="1700" b="0" i="0" dirty="0">
                <a:solidFill>
                  <a:srgbClr val="90CAF9"/>
                </a:solidFill>
                <a:latin typeface="Segoe UI"/>
              </a:rPr>
              <a:t>ó</a:t>
            </a:r>
            <a:r>
              <a:rPr sz="1700" b="0" i="0" dirty="0">
                <a:solidFill>
                  <a:srgbClr val="90CAF9"/>
                </a:solidFill>
                <a:latin typeface="Segoe UI"/>
              </a:rPr>
              <a:t> </a:t>
            </a:r>
            <a:r>
              <a:rPr sz="1700" b="0" i="0" dirty="0" err="1">
                <a:solidFill>
                  <a:srgbClr val="90CAF9"/>
                </a:solidFill>
                <a:latin typeface="Segoe UI"/>
              </a:rPr>
              <a:t>rendszer</a:t>
            </a:r>
            <a:r>
              <a:rPr sz="1700" b="0" i="0" dirty="0">
                <a:solidFill>
                  <a:srgbClr val="90CAF9"/>
                </a:solidFill>
                <a:latin typeface="Segoe UI"/>
              </a:rPr>
              <a:t> </a:t>
            </a:r>
            <a:r>
              <a:rPr sz="1700" b="0" i="0" dirty="0" err="1">
                <a:solidFill>
                  <a:srgbClr val="90CAF9"/>
                </a:solidFill>
                <a:latin typeface="Segoe UI"/>
              </a:rPr>
              <a:t>iskolai</a:t>
            </a:r>
            <a:r>
              <a:rPr sz="1700" b="0" i="0" dirty="0">
                <a:solidFill>
                  <a:srgbClr val="90CAF9"/>
                </a:solidFill>
                <a:latin typeface="Segoe UI"/>
              </a:rPr>
              <a:t> k</a:t>
            </a:r>
            <a:r>
              <a:rPr lang="hu-HU" sz="1700" b="0" i="0" dirty="0">
                <a:solidFill>
                  <a:srgbClr val="90CAF9"/>
                </a:solidFill>
                <a:latin typeface="Segoe UI"/>
              </a:rPr>
              <a:t>ö</a:t>
            </a:r>
            <a:r>
              <a:rPr sz="1700" b="0" i="0" dirty="0" err="1">
                <a:solidFill>
                  <a:srgbClr val="90CAF9"/>
                </a:solidFill>
                <a:latin typeface="Segoe UI"/>
              </a:rPr>
              <a:t>rnyezetbe</a:t>
            </a:r>
            <a:endParaRPr sz="1700" b="0" i="0" dirty="0">
              <a:solidFill>
                <a:srgbClr val="90CAF9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20498" y="4356000"/>
            <a:ext cx="1645920" cy="402336"/>
          </a:xfrm>
          <a:prstGeom prst="rect">
            <a:avLst/>
          </a:prstGeom>
          <a:solidFill>
            <a:srgbClr val="1B2D45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20498" y="434207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1A73E8"/>
                </a:solidFill>
                <a:latin typeface="Segoe UI"/>
              </a:rPr>
              <a:t>Node.js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9673" y="4356000"/>
            <a:ext cx="1645920" cy="402336"/>
          </a:xfrm>
          <a:prstGeom prst="rect">
            <a:avLst/>
          </a:prstGeom>
          <a:solidFill>
            <a:srgbClr val="1B2D45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09673" y="435600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1A73E8"/>
                </a:solidFill>
                <a:latin typeface="Segoe UI"/>
              </a:rPr>
              <a:t>Express.js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8721" y="4343400"/>
            <a:ext cx="1645920" cy="402336"/>
          </a:xfrm>
          <a:prstGeom prst="rect">
            <a:avLst/>
          </a:prstGeom>
          <a:solidFill>
            <a:srgbClr val="1B2D45"/>
          </a:solidFill>
          <a:ln w="1524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98721" y="4330403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43E97B"/>
                </a:solidFill>
                <a:latin typeface="Segoe UI"/>
              </a:rPr>
              <a:t>SQLite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0" y="4350059"/>
            <a:ext cx="1645920" cy="402336"/>
          </a:xfrm>
          <a:prstGeom prst="rect">
            <a:avLst/>
          </a:prstGeom>
          <a:solidFill>
            <a:srgbClr val="1B2D45"/>
          </a:solidFill>
          <a:ln w="1524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856722" y="4354272"/>
            <a:ext cx="1645920" cy="402336"/>
          </a:xfrm>
          <a:prstGeom prst="rect">
            <a:avLst/>
          </a:prstGeom>
          <a:solidFill>
            <a:srgbClr val="1B2D45"/>
          </a:solidFill>
          <a:ln w="1524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59770" y="4367333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5350"/>
                </a:solidFill>
                <a:latin typeface="Segoe UI"/>
              </a:rPr>
              <a:t>JWT + bcrypt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6217920"/>
            <a:ext cx="10332720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6309360"/>
            <a:ext cx="10332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607D8B"/>
                </a:solidFill>
                <a:latin typeface="Segoe UI"/>
              </a:rPr>
              <a:t>Node.js + Express  -  SQLite  - JS  -  Bootstrap 5  -  JWT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1 / 15</a:t>
            </a:r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6FD30B43-6E31-4496-8E11-A959D54468C3}"/>
              </a:ext>
            </a:extLst>
          </p:cNvPr>
          <p:cNvSpPr txBox="1"/>
          <p:nvPr/>
        </p:nvSpPr>
        <p:spPr>
          <a:xfrm>
            <a:off x="6294118" y="434970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9A825"/>
                </a:solidFill>
                <a:latin typeface="Segoe UI"/>
              </a:rPr>
              <a:t>Bootstrap 5</a:t>
            </a: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531D00ED-356C-4627-A438-3DAD6D5B0EAF}"/>
              </a:ext>
            </a:extLst>
          </p:cNvPr>
          <p:cNvSpPr/>
          <p:nvPr/>
        </p:nvSpPr>
        <p:spPr>
          <a:xfrm>
            <a:off x="8076944" y="4337498"/>
            <a:ext cx="1645920" cy="402336"/>
          </a:xfrm>
          <a:prstGeom prst="rect">
            <a:avLst/>
          </a:prstGeom>
          <a:solidFill>
            <a:srgbClr val="1B2D45"/>
          </a:solidFill>
          <a:ln w="1524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4B9C831A-C715-43C6-BCA9-46CC21A3D0C4}"/>
              </a:ext>
            </a:extLst>
          </p:cNvPr>
          <p:cNvSpPr txBox="1"/>
          <p:nvPr/>
        </p:nvSpPr>
        <p:spPr>
          <a:xfrm>
            <a:off x="8073513" y="4355704"/>
            <a:ext cx="1645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1100" b="1" i="0" dirty="0">
                <a:solidFill>
                  <a:srgbClr val="F9A825"/>
                </a:solidFill>
                <a:latin typeface="Segoe UI"/>
              </a:rPr>
              <a:t>JavaScript</a:t>
            </a:r>
            <a:endParaRPr sz="1100" b="1" i="0" dirty="0">
              <a:solidFill>
                <a:srgbClr val="F9A825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C3F7"/>
                </a:solidFill>
                <a:latin typeface="Segoe UI"/>
              </a:rPr>
              <a:t>KIINDULAS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7455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E8F0FE"/>
                </a:solidFill>
                <a:latin typeface="Segoe UI"/>
              </a:rPr>
              <a:t>Mi volt a 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probl</a:t>
            </a:r>
            <a:r>
              <a:rPr lang="hu-HU" sz="2600" b="1" i="0" dirty="0">
                <a:solidFill>
                  <a:srgbClr val="E8F0FE"/>
                </a:solidFill>
                <a:latin typeface="Segoe UI"/>
              </a:rPr>
              <a:t>é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ma?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303520" cy="5212080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F0FE"/>
                </a:solidFill>
                <a:latin typeface="Segoe UI"/>
              </a:rPr>
              <a:t>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371600"/>
            <a:ext cx="3931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4FC3F7"/>
                </a:solidFill>
                <a:latin typeface="Segoe UI"/>
              </a:rPr>
              <a:t>R</a:t>
            </a:r>
            <a:r>
              <a:rPr lang="hu-HU" sz="1600" b="1" i="0" dirty="0">
                <a:solidFill>
                  <a:srgbClr val="4FC3F7"/>
                </a:solidFill>
                <a:latin typeface="Segoe UI"/>
              </a:rPr>
              <a:t>é</a:t>
            </a:r>
            <a:r>
              <a:rPr sz="1600" b="1" i="0" dirty="0" err="1">
                <a:solidFill>
                  <a:srgbClr val="4FC3F7"/>
                </a:solidFill>
                <a:latin typeface="Segoe UI"/>
              </a:rPr>
              <a:t>gi</a:t>
            </a:r>
            <a:r>
              <a:rPr sz="1600" b="1" i="0" dirty="0">
                <a:solidFill>
                  <a:srgbClr val="4FC3F7"/>
                </a:solidFill>
                <a:latin typeface="Segoe UI"/>
              </a:rPr>
              <a:t> </a:t>
            </a:r>
            <a:r>
              <a:rPr sz="1600" b="1" i="0" dirty="0" err="1">
                <a:solidFill>
                  <a:srgbClr val="4FC3F7"/>
                </a:solidFill>
                <a:latin typeface="Segoe UI"/>
              </a:rPr>
              <a:t>megold</a:t>
            </a:r>
            <a:r>
              <a:rPr lang="hu-HU" sz="1600" b="1" i="0" dirty="0">
                <a:solidFill>
                  <a:srgbClr val="4FC3F7"/>
                </a:solidFill>
                <a:latin typeface="Segoe UI"/>
              </a:rPr>
              <a:t>á</a:t>
            </a:r>
            <a:r>
              <a:rPr sz="1600" b="1" i="0" dirty="0">
                <a:solidFill>
                  <a:srgbClr val="4FC3F7"/>
                </a:solidFill>
                <a:latin typeface="Segoe UI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4846320" cy="134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Az </a:t>
            </a:r>
            <a:r>
              <a:rPr sz="1300" dirty="0" err="1">
                <a:solidFill>
                  <a:srgbClr val="B0BEC5"/>
                </a:solidFill>
              </a:rPr>
              <a:t>iskola</a:t>
            </a:r>
            <a:r>
              <a:rPr sz="1300" dirty="0">
                <a:solidFill>
                  <a:srgbClr val="B0BEC5"/>
                </a:solidFill>
              </a:rPr>
              <a:t> port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>
                <a:solidFill>
                  <a:srgbClr val="B0BEC5"/>
                </a:solidFill>
              </a:rPr>
              <a:t>j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>
                <a:solidFill>
                  <a:srgbClr val="B0BEC5"/>
                </a:solidFill>
              </a:rPr>
              <a:t>n </a:t>
            </a:r>
            <a:r>
              <a:rPr sz="1300" dirty="0" err="1">
                <a:solidFill>
                  <a:srgbClr val="B0BEC5"/>
                </a:solidFill>
              </a:rPr>
              <a:t>egy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sz="1300" dirty="0" err="1">
                <a:solidFill>
                  <a:srgbClr val="B0BEC5"/>
                </a:solidFill>
              </a:rPr>
              <a:t>papir</a:t>
            </a:r>
            <a:r>
              <a:rPr sz="1300" dirty="0">
                <a:solidFill>
                  <a:srgbClr val="B0BEC5"/>
                </a:solidFill>
              </a:rPr>
              <a:t> f</a:t>
            </a:r>
            <a:r>
              <a:rPr lang="hu-HU" sz="1300" dirty="0">
                <a:solidFill>
                  <a:srgbClr val="B0BEC5"/>
                </a:solidFill>
              </a:rPr>
              <a:t>ü</a:t>
            </a:r>
            <a:r>
              <a:rPr sz="1300" dirty="0" err="1">
                <a:solidFill>
                  <a:srgbClr val="B0BEC5"/>
                </a:solidFill>
              </a:rPr>
              <a:t>zet</a:t>
            </a:r>
            <a:endParaRPr sz="1300" dirty="0">
              <a:solidFill>
                <a:srgbClr val="B0BEC5"/>
              </a:solidFill>
            </a:endParaRP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Tan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 err="1">
                <a:solidFill>
                  <a:srgbClr val="B0BEC5"/>
                </a:solidFill>
              </a:rPr>
              <a:t>rok</a:t>
            </a:r>
            <a:r>
              <a:rPr sz="1300" dirty="0">
                <a:solidFill>
                  <a:srgbClr val="B0BEC5"/>
                </a:solidFill>
              </a:rPr>
              <a:t> k</a:t>
            </a:r>
            <a:r>
              <a:rPr lang="hu-HU" sz="1300" dirty="0">
                <a:solidFill>
                  <a:srgbClr val="B0BEC5"/>
                </a:solidFill>
              </a:rPr>
              <a:t>é</a:t>
            </a:r>
            <a:r>
              <a:rPr sz="1300" dirty="0" err="1">
                <a:solidFill>
                  <a:srgbClr val="B0BEC5"/>
                </a:solidFill>
              </a:rPr>
              <a:t>zzel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lang="hu-HU" sz="1300" dirty="0">
                <a:solidFill>
                  <a:srgbClr val="B0BEC5"/>
                </a:solidFill>
              </a:rPr>
              <a:t>í</a:t>
            </a:r>
            <a:r>
              <a:rPr sz="1300" dirty="0" err="1">
                <a:solidFill>
                  <a:srgbClr val="B0BEC5"/>
                </a:solidFill>
              </a:rPr>
              <a:t>rjak</a:t>
            </a:r>
            <a:r>
              <a:rPr sz="1300" dirty="0">
                <a:solidFill>
                  <a:srgbClr val="B0BEC5"/>
                </a:solidFill>
              </a:rPr>
              <a:t> be a </a:t>
            </a:r>
            <a:r>
              <a:rPr lang="hu-HU" sz="1300" dirty="0">
                <a:solidFill>
                  <a:srgbClr val="B0BEC5"/>
                </a:solidFill>
              </a:rPr>
              <a:t>bajokat</a:t>
            </a:r>
            <a:endParaRPr sz="1300" dirty="0">
              <a:solidFill>
                <a:srgbClr val="B0BEC5"/>
              </a:solidFill>
            </a:endParaRP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</a:t>
            </a:r>
            <a:r>
              <a:rPr sz="1300" dirty="0" err="1">
                <a:solidFill>
                  <a:srgbClr val="B0BEC5"/>
                </a:solidFill>
              </a:rPr>
              <a:t>Karbantartok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sz="1300" dirty="0" err="1">
                <a:solidFill>
                  <a:srgbClr val="B0BEC5"/>
                </a:solidFill>
              </a:rPr>
              <a:t>manu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 err="1">
                <a:solidFill>
                  <a:srgbClr val="B0BEC5"/>
                </a:solidFill>
              </a:rPr>
              <a:t>lis</a:t>
            </a:r>
            <a:r>
              <a:rPr lang="hu-HU" sz="1300" dirty="0">
                <a:solidFill>
                  <a:srgbClr val="B0BEC5"/>
                </a:solidFill>
              </a:rPr>
              <a:t>an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sz="1300" dirty="0" err="1">
                <a:solidFill>
                  <a:srgbClr val="B0BEC5"/>
                </a:solidFill>
              </a:rPr>
              <a:t>jel</a:t>
            </a:r>
            <a:r>
              <a:rPr lang="hu-HU" sz="1300" dirty="0">
                <a:solidFill>
                  <a:srgbClr val="B0BEC5"/>
                </a:solidFill>
              </a:rPr>
              <a:t>ö</a:t>
            </a:r>
            <a:r>
              <a:rPr sz="1300" dirty="0">
                <a:solidFill>
                  <a:srgbClr val="B0BEC5"/>
                </a:solidFill>
              </a:rPr>
              <a:t>l</a:t>
            </a:r>
            <a:r>
              <a:rPr lang="hu-HU" sz="1300" dirty="0" err="1">
                <a:solidFill>
                  <a:srgbClr val="B0BEC5"/>
                </a:solidFill>
              </a:rPr>
              <a:t>tek</a:t>
            </a:r>
            <a:endParaRPr sz="1300" dirty="0">
              <a:solidFill>
                <a:srgbClr val="B0BEC5"/>
              </a:solidFill>
            </a:endParaRP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</a:t>
            </a:r>
            <a:r>
              <a:rPr sz="1300" dirty="0" err="1">
                <a:solidFill>
                  <a:srgbClr val="B0BEC5"/>
                </a:solidFill>
              </a:rPr>
              <a:t>Nehezen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>
                <a:solidFill>
                  <a:srgbClr val="B0BEC5"/>
                </a:solidFill>
              </a:rPr>
              <a:t>t</a:t>
            </a:r>
            <a:r>
              <a:rPr lang="hu-HU" sz="1300" dirty="0">
                <a:solidFill>
                  <a:srgbClr val="B0BEC5"/>
                </a:solidFill>
              </a:rPr>
              <a:t>te</a:t>
            </a:r>
            <a:r>
              <a:rPr sz="1300" dirty="0" err="1">
                <a:solidFill>
                  <a:srgbClr val="B0BEC5"/>
                </a:solidFill>
              </a:rPr>
              <a:t>kinthet</a:t>
            </a:r>
            <a:r>
              <a:rPr lang="hu-HU" sz="1300" dirty="0">
                <a:solidFill>
                  <a:srgbClr val="B0BEC5"/>
                </a:solidFill>
              </a:rPr>
              <a:t>ő</a:t>
            </a:r>
            <a:r>
              <a:rPr sz="1300" dirty="0">
                <a:solidFill>
                  <a:srgbClr val="B0BEC5"/>
                </a:solidFill>
              </a:rPr>
              <a:t>, </a:t>
            </a:r>
            <a:r>
              <a:rPr sz="1300" dirty="0" err="1">
                <a:solidFill>
                  <a:srgbClr val="B0BEC5"/>
                </a:solidFill>
              </a:rPr>
              <a:t>elveszhet</a:t>
            </a:r>
            <a:endParaRPr sz="1300" dirty="0">
              <a:solidFill>
                <a:srgbClr val="B0BEC5"/>
              </a:solidFill>
            </a:endParaRP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</a:t>
            </a:r>
            <a:r>
              <a:rPr sz="1300" dirty="0" err="1">
                <a:solidFill>
                  <a:srgbClr val="B0BEC5"/>
                </a:solidFill>
              </a:rPr>
              <a:t>Nincs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sz="1300" dirty="0" err="1">
                <a:solidFill>
                  <a:srgbClr val="B0BEC5"/>
                </a:solidFill>
              </a:rPr>
              <a:t>visszakereses</a:t>
            </a:r>
            <a:r>
              <a:rPr sz="1300" dirty="0">
                <a:solidFill>
                  <a:srgbClr val="B0BEC5"/>
                </a:solidFill>
              </a:rPr>
              <a:t> / </a:t>
            </a:r>
            <a:r>
              <a:rPr sz="1300" dirty="0" err="1">
                <a:solidFill>
                  <a:srgbClr val="B0BEC5"/>
                </a:solidFill>
              </a:rPr>
              <a:t>sz</a:t>
            </a:r>
            <a:r>
              <a:rPr lang="hu-HU" sz="1300" dirty="0">
                <a:solidFill>
                  <a:srgbClr val="B0BEC5"/>
                </a:solidFill>
              </a:rPr>
              <a:t>ű</a:t>
            </a:r>
            <a:r>
              <a:rPr sz="1300" dirty="0">
                <a:solidFill>
                  <a:srgbClr val="B0BEC5"/>
                </a:solidFill>
              </a:rPr>
              <a:t>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3383280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4FC3F7"/>
                </a:solidFill>
                <a:latin typeface="Cascadia Code"/>
              </a:rP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234440"/>
            <a:ext cx="5303520" cy="5212080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325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F0FE"/>
                </a:solidFill>
                <a:latin typeface="Segoe UI"/>
              </a:rPr>
              <a:t>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371600"/>
            <a:ext cx="3931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43E97B"/>
                </a:solidFill>
                <a:latin typeface="Segoe UI"/>
              </a:rPr>
              <a:t>Az </a:t>
            </a:r>
            <a:r>
              <a:rPr lang="hu-HU" sz="1600" b="1" dirty="0">
                <a:solidFill>
                  <a:srgbClr val="43E97B"/>
                </a:solidFill>
                <a:latin typeface="Segoe UI"/>
              </a:rPr>
              <a:t>ú</a:t>
            </a:r>
            <a:r>
              <a:rPr sz="1600" b="1" i="0" dirty="0">
                <a:solidFill>
                  <a:srgbClr val="43E97B"/>
                </a:solidFill>
                <a:latin typeface="Segoe UI"/>
              </a:rPr>
              <a:t>j </a:t>
            </a:r>
            <a:r>
              <a:rPr sz="1600" b="1" i="0" dirty="0" err="1">
                <a:solidFill>
                  <a:srgbClr val="43E97B"/>
                </a:solidFill>
                <a:latin typeface="Segoe UI"/>
              </a:rPr>
              <a:t>megold</a:t>
            </a:r>
            <a:r>
              <a:rPr lang="hu-HU" sz="1600" b="1" i="0" dirty="0">
                <a:solidFill>
                  <a:srgbClr val="43E97B"/>
                </a:solidFill>
                <a:latin typeface="Segoe UI"/>
              </a:rPr>
              <a:t>á</a:t>
            </a:r>
            <a:r>
              <a:rPr sz="1600" b="1" i="0" dirty="0">
                <a:solidFill>
                  <a:srgbClr val="43E97B"/>
                </a:solidFill>
                <a:latin typeface="Segoe UI"/>
              </a:rP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65960"/>
            <a:ext cx="4846320" cy="134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</a:t>
            </a:r>
            <a:r>
              <a:rPr sz="1300" dirty="0" err="1">
                <a:solidFill>
                  <a:srgbClr val="B0BEC5"/>
                </a:solidFill>
              </a:rPr>
              <a:t>Webes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sz="1300" dirty="0" err="1">
                <a:solidFill>
                  <a:srgbClr val="B0BEC5"/>
                </a:solidFill>
              </a:rPr>
              <a:t>fel</a:t>
            </a:r>
            <a:r>
              <a:rPr lang="hu-HU" sz="1300" dirty="0">
                <a:solidFill>
                  <a:srgbClr val="B0BEC5"/>
                </a:solidFill>
              </a:rPr>
              <a:t>ü</a:t>
            </a:r>
            <a:r>
              <a:rPr sz="1300" dirty="0">
                <a:solidFill>
                  <a:srgbClr val="B0BEC5"/>
                </a:solidFill>
              </a:rPr>
              <a:t>let - PC-n es </a:t>
            </a:r>
            <a:r>
              <a:rPr sz="1300" dirty="0" err="1">
                <a:solidFill>
                  <a:srgbClr val="B0BEC5"/>
                </a:solidFill>
              </a:rPr>
              <a:t>mobilon</a:t>
            </a:r>
            <a:r>
              <a:rPr sz="1300" dirty="0">
                <a:solidFill>
                  <a:srgbClr val="B0BEC5"/>
                </a:solidFill>
              </a:rPr>
              <a:t> is</a:t>
            </a: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</a:t>
            </a:r>
            <a:r>
              <a:rPr sz="1300" dirty="0" err="1">
                <a:solidFill>
                  <a:srgbClr val="B0BEC5"/>
                </a:solidFill>
              </a:rPr>
              <a:t>Valos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sz="1300" dirty="0" err="1">
                <a:solidFill>
                  <a:srgbClr val="B0BEC5"/>
                </a:solidFill>
              </a:rPr>
              <a:t>idej</a:t>
            </a:r>
            <a:r>
              <a:rPr lang="hu-HU" sz="1300" dirty="0">
                <a:solidFill>
                  <a:srgbClr val="B0BEC5"/>
                </a:solidFill>
              </a:rPr>
              <a:t>ű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sz="1300" dirty="0" err="1">
                <a:solidFill>
                  <a:srgbClr val="B0BEC5"/>
                </a:solidFill>
              </a:rPr>
              <a:t>adatb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 err="1">
                <a:solidFill>
                  <a:srgbClr val="B0BEC5"/>
                </a:solidFill>
              </a:rPr>
              <a:t>zis-nyilvantart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>
                <a:solidFill>
                  <a:srgbClr val="B0BEC5"/>
                </a:solidFill>
              </a:rPr>
              <a:t>s</a:t>
            </a: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</a:t>
            </a:r>
            <a:r>
              <a:rPr sz="1300" dirty="0" err="1">
                <a:solidFill>
                  <a:srgbClr val="B0BEC5"/>
                </a:solidFill>
              </a:rPr>
              <a:t>Szerepk</a:t>
            </a:r>
            <a:r>
              <a:rPr lang="hu-HU" sz="1300" dirty="0" err="1">
                <a:solidFill>
                  <a:srgbClr val="B0BEC5"/>
                </a:solidFill>
              </a:rPr>
              <a:t>ör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sz="1300" dirty="0" err="1">
                <a:solidFill>
                  <a:srgbClr val="B0BEC5"/>
                </a:solidFill>
              </a:rPr>
              <a:t>alap</a:t>
            </a:r>
            <a:r>
              <a:rPr lang="hu-HU" sz="1300" dirty="0">
                <a:solidFill>
                  <a:srgbClr val="B0BEC5"/>
                </a:solidFill>
              </a:rPr>
              <a:t>ú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sz="1300" dirty="0" err="1">
                <a:solidFill>
                  <a:srgbClr val="B0BEC5"/>
                </a:solidFill>
              </a:rPr>
              <a:t>jogosultsagkezel</a:t>
            </a:r>
            <a:r>
              <a:rPr lang="hu-HU" sz="1300" dirty="0">
                <a:solidFill>
                  <a:srgbClr val="B0BEC5"/>
                </a:solidFill>
              </a:rPr>
              <a:t>é</a:t>
            </a:r>
            <a:r>
              <a:rPr sz="1300" dirty="0">
                <a:solidFill>
                  <a:srgbClr val="B0BEC5"/>
                </a:solidFill>
              </a:rPr>
              <a:t>s</a:t>
            </a: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 err="1">
                <a:solidFill>
                  <a:srgbClr val="B0BEC5"/>
                </a:solidFill>
              </a:rPr>
              <a:t>tl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>
                <a:solidFill>
                  <a:srgbClr val="B0BEC5"/>
                </a:solidFill>
              </a:rPr>
              <a:t>that</a:t>
            </a:r>
            <a:r>
              <a:rPr lang="hu-HU" sz="1300" dirty="0">
                <a:solidFill>
                  <a:srgbClr val="B0BEC5"/>
                </a:solidFill>
              </a:rPr>
              <a:t>ó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sz="1300" dirty="0" err="1">
                <a:solidFill>
                  <a:srgbClr val="B0BEC5"/>
                </a:solidFill>
              </a:rPr>
              <a:t>lista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sz="1300" dirty="0" err="1">
                <a:solidFill>
                  <a:srgbClr val="B0BEC5"/>
                </a:solidFill>
              </a:rPr>
              <a:t>sz</a:t>
            </a:r>
            <a:r>
              <a:rPr lang="hu-HU" sz="1300" dirty="0">
                <a:solidFill>
                  <a:srgbClr val="B0BEC5"/>
                </a:solidFill>
              </a:rPr>
              <a:t>ű</a:t>
            </a:r>
            <a:r>
              <a:rPr sz="1300" dirty="0" err="1">
                <a:solidFill>
                  <a:srgbClr val="B0BEC5"/>
                </a:solidFill>
              </a:rPr>
              <a:t>resi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sz="1300" dirty="0" err="1">
                <a:solidFill>
                  <a:srgbClr val="B0BEC5"/>
                </a:solidFill>
              </a:rPr>
              <a:t>lehet</a:t>
            </a:r>
            <a:r>
              <a:rPr lang="hu-HU" sz="1300" dirty="0">
                <a:solidFill>
                  <a:srgbClr val="B0BEC5"/>
                </a:solidFill>
              </a:rPr>
              <a:t>ő</a:t>
            </a:r>
            <a:r>
              <a:rPr sz="1300" dirty="0" err="1">
                <a:solidFill>
                  <a:srgbClr val="B0BEC5"/>
                </a:solidFill>
              </a:rPr>
              <a:t>seggel</a:t>
            </a:r>
            <a:endParaRPr sz="1300" dirty="0">
              <a:solidFill>
                <a:srgbClr val="B0BEC5"/>
              </a:solidFill>
            </a:endParaRP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</a:t>
            </a:r>
            <a:r>
              <a:rPr sz="1300" dirty="0" err="1">
                <a:solidFill>
                  <a:srgbClr val="B0BEC5"/>
                </a:solidFill>
              </a:rPr>
              <a:t>Autom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 err="1">
                <a:solidFill>
                  <a:srgbClr val="B0BEC5"/>
                </a:solidFill>
              </a:rPr>
              <a:t>tikus</a:t>
            </a:r>
            <a:r>
              <a:rPr sz="1300" dirty="0">
                <a:solidFill>
                  <a:srgbClr val="B0BEC5"/>
                </a:solidFill>
              </a:rPr>
              <a:t> datum- es </a:t>
            </a:r>
            <a:r>
              <a:rPr sz="1300" dirty="0" err="1">
                <a:solidFill>
                  <a:srgbClr val="B0BEC5"/>
                </a:solidFill>
              </a:rPr>
              <a:t>adatr</a:t>
            </a:r>
            <a:r>
              <a:rPr lang="hu-HU" sz="1300" dirty="0">
                <a:solidFill>
                  <a:srgbClr val="B0BEC5"/>
                </a:solidFill>
              </a:rPr>
              <a:t>ö</a:t>
            </a:r>
            <a:r>
              <a:rPr sz="1300" dirty="0" err="1">
                <a:solidFill>
                  <a:srgbClr val="B0BEC5"/>
                </a:solidFill>
              </a:rPr>
              <a:t>gzit</a:t>
            </a:r>
            <a:r>
              <a:rPr lang="hu-HU" sz="1300" dirty="0">
                <a:solidFill>
                  <a:srgbClr val="B0BEC5"/>
                </a:solidFill>
              </a:rPr>
              <a:t>é</a:t>
            </a:r>
            <a:r>
              <a:rPr sz="1300" dirty="0">
                <a:solidFill>
                  <a:srgbClr val="B0BEC5"/>
                </a:solidFill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2 / 15</a:t>
            </a:r>
          </a:p>
        </p:txBody>
      </p:sp>
      <p:pic>
        <p:nvPicPr>
          <p:cNvPr id="1026" name="Picture 2" descr="Emblémázott Mini füzet tollal, natúr/piros (füzet, notesz)">
            <a:extLst>
              <a:ext uri="{FF2B5EF4-FFF2-40B4-BE49-F238E27FC236}">
                <a16:creationId xmlns:a16="http://schemas.microsoft.com/office/drawing/2014/main" id="{DC37E7BA-6EA0-40BD-A72B-7A783A062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45" y="3809221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Kép 14">
            <a:extLst>
              <a:ext uri="{FF2B5EF4-FFF2-40B4-BE49-F238E27FC236}">
                <a16:creationId xmlns:a16="http://schemas.microsoft.com/office/drawing/2014/main" id="{181F8310-9779-4FB6-9C0D-DFB2CD829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3430" y="3443063"/>
            <a:ext cx="2583636" cy="29008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C3F7"/>
                </a:solidFill>
                <a:latin typeface="Segoe UI"/>
              </a:rPr>
              <a:t>SPECIFIKACIO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7455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 err="1">
                <a:solidFill>
                  <a:srgbClr val="E8F0FE"/>
                </a:solidFill>
                <a:latin typeface="Segoe UI"/>
              </a:rPr>
              <a:t>Felhaszn</a:t>
            </a:r>
            <a:r>
              <a:rPr lang="hu-HU" sz="2600" b="1" i="0" dirty="0">
                <a:solidFill>
                  <a:srgbClr val="E8F0FE"/>
                </a:solidFill>
                <a:latin typeface="Segoe UI"/>
              </a:rPr>
              <a:t>á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l</a:t>
            </a:r>
            <a:r>
              <a:rPr lang="hu-HU" sz="2600" b="1" i="0" dirty="0">
                <a:solidFill>
                  <a:srgbClr val="E8F0FE"/>
                </a:solidFill>
                <a:latin typeface="Segoe UI"/>
              </a:rPr>
              <a:t>ó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i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 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szerepk</a:t>
            </a:r>
            <a:r>
              <a:rPr lang="hu-HU" sz="2600" b="1" dirty="0" err="1">
                <a:solidFill>
                  <a:srgbClr val="E8F0FE"/>
                </a:solidFill>
                <a:latin typeface="Segoe UI"/>
              </a:rPr>
              <a:t>örö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3657600" cy="5212080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24543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 dirty="0">
                <a:solidFill>
                  <a:srgbClr val="E8F0FE"/>
                </a:solidFill>
                <a:latin typeface="Segoe UI"/>
              </a:rPr>
              <a:t>👩‍🏫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1428256"/>
            <a:ext cx="8229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4FC3F7"/>
                </a:solidFill>
                <a:latin typeface="Segoe UI"/>
              </a:rPr>
              <a:t>Tan</a:t>
            </a:r>
            <a:r>
              <a:rPr lang="hu-HU" sz="1700" b="1" i="0" dirty="0">
                <a:solidFill>
                  <a:srgbClr val="4FC3F7"/>
                </a:solidFill>
                <a:latin typeface="Segoe UI"/>
              </a:rPr>
              <a:t>á</a:t>
            </a:r>
            <a:r>
              <a:rPr sz="1700" b="1" i="0" dirty="0">
                <a:solidFill>
                  <a:srgbClr val="4FC3F7"/>
                </a:solidFill>
                <a:latin typeface="Segoe UI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3200400" cy="55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</a:t>
            </a:r>
            <a:r>
              <a:rPr sz="1300" dirty="0" err="1">
                <a:solidFill>
                  <a:srgbClr val="B0BEC5"/>
                </a:solidFill>
              </a:rPr>
              <a:t>Bejelenthet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lang="hu-HU" sz="1300" dirty="0">
                <a:solidFill>
                  <a:srgbClr val="B0BEC5"/>
                </a:solidFill>
              </a:rPr>
              <a:t>ú</a:t>
            </a:r>
            <a:r>
              <a:rPr sz="1300" dirty="0">
                <a:solidFill>
                  <a:srgbClr val="B0BEC5"/>
                </a:solidFill>
              </a:rPr>
              <a:t>j </a:t>
            </a:r>
            <a:r>
              <a:rPr sz="1300" dirty="0" err="1">
                <a:solidFill>
                  <a:srgbClr val="B0BEC5"/>
                </a:solidFill>
              </a:rPr>
              <a:t>hib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 err="1">
                <a:solidFill>
                  <a:srgbClr val="B0BEC5"/>
                </a:solidFill>
              </a:rPr>
              <a:t>kat</a:t>
            </a:r>
            <a:endParaRPr sz="1300" dirty="0">
              <a:solidFill>
                <a:srgbClr val="B0BEC5"/>
              </a:solidFill>
            </a:endParaRP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</a:t>
            </a:r>
            <a:r>
              <a:rPr sz="1300" dirty="0" err="1">
                <a:solidFill>
                  <a:srgbClr val="B0BEC5"/>
                </a:solidFill>
              </a:rPr>
              <a:t>Megtekintheti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sz="1300" dirty="0" err="1">
                <a:solidFill>
                  <a:srgbClr val="B0BEC5"/>
                </a:solidFill>
              </a:rPr>
              <a:t>az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lang="hu-HU" sz="1300" dirty="0">
                <a:solidFill>
                  <a:srgbClr val="B0BEC5"/>
                </a:solidFill>
              </a:rPr>
              <a:t>ö</a:t>
            </a:r>
            <a:r>
              <a:rPr sz="1300" dirty="0" err="1">
                <a:solidFill>
                  <a:srgbClr val="B0BEC5"/>
                </a:solidFill>
              </a:rPr>
              <a:t>sszes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sz="1300" dirty="0" err="1">
                <a:solidFill>
                  <a:srgbClr val="B0BEC5"/>
                </a:solidFill>
              </a:rPr>
              <a:t>hibabejelentest</a:t>
            </a:r>
            <a:endParaRPr sz="1300" dirty="0">
              <a:solidFill>
                <a:srgbClr val="B0BEC5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89120" y="1234440"/>
            <a:ext cx="3657600" cy="5212080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318069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 dirty="0">
                <a:solidFill>
                  <a:srgbClr val="E8F0FE"/>
                </a:solidFill>
                <a:latin typeface="Segoe UI"/>
              </a:rPr>
              <a:t>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9921" y="1428257"/>
            <a:ext cx="23774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 err="1">
                <a:solidFill>
                  <a:srgbClr val="F9A825"/>
                </a:solidFill>
                <a:latin typeface="Segoe UI"/>
              </a:rPr>
              <a:t>Karbantart</a:t>
            </a:r>
            <a:r>
              <a:rPr lang="hu-HU" sz="1700" b="1" i="0" dirty="0">
                <a:solidFill>
                  <a:srgbClr val="F9A825"/>
                </a:solidFill>
                <a:latin typeface="Segoe UI"/>
              </a:rPr>
              <a:t>ó</a:t>
            </a:r>
            <a:endParaRPr sz="1700" b="1" i="0" dirty="0">
              <a:solidFill>
                <a:srgbClr val="F9A825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17720" y="2148840"/>
            <a:ext cx="3200400" cy="82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</a:t>
            </a:r>
            <a:r>
              <a:rPr sz="1300" dirty="0" err="1">
                <a:solidFill>
                  <a:srgbClr val="B0BEC5"/>
                </a:solidFill>
              </a:rPr>
              <a:t>Megtekintheti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sz="1300" dirty="0" err="1">
                <a:solidFill>
                  <a:srgbClr val="B0BEC5"/>
                </a:solidFill>
              </a:rPr>
              <a:t>az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lang="hu-HU" sz="1300" dirty="0">
                <a:solidFill>
                  <a:srgbClr val="B0BEC5"/>
                </a:solidFill>
              </a:rPr>
              <a:t>ö</a:t>
            </a:r>
            <a:r>
              <a:rPr sz="1300" dirty="0" err="1">
                <a:solidFill>
                  <a:srgbClr val="B0BEC5"/>
                </a:solidFill>
              </a:rPr>
              <a:t>sszes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sz="1300" dirty="0" err="1">
                <a:solidFill>
                  <a:srgbClr val="B0BEC5"/>
                </a:solidFill>
              </a:rPr>
              <a:t>hib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>
                <a:solidFill>
                  <a:srgbClr val="B0BEC5"/>
                </a:solidFill>
              </a:rPr>
              <a:t>t</a:t>
            </a: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</a:t>
            </a:r>
            <a:r>
              <a:rPr sz="1300" dirty="0" err="1">
                <a:solidFill>
                  <a:srgbClr val="B0BEC5"/>
                </a:solidFill>
              </a:rPr>
              <a:t>Bejelentve</a:t>
            </a:r>
            <a:r>
              <a:rPr sz="1300" dirty="0">
                <a:solidFill>
                  <a:srgbClr val="B0BEC5"/>
                </a:solidFill>
              </a:rPr>
              <a:t> -&gt; </a:t>
            </a:r>
            <a:r>
              <a:rPr sz="1300" dirty="0" err="1">
                <a:solidFill>
                  <a:srgbClr val="B0BEC5"/>
                </a:solidFill>
              </a:rPr>
              <a:t>Kijavitva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 err="1">
                <a:solidFill>
                  <a:srgbClr val="B0BEC5"/>
                </a:solidFill>
              </a:rPr>
              <a:t>llapot</a:t>
            </a:r>
            <a:endParaRPr sz="1300" dirty="0">
              <a:solidFill>
                <a:srgbClr val="B0BEC5"/>
              </a:solidFill>
            </a:endParaRP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</a:t>
            </a:r>
            <a:r>
              <a:rPr sz="1300" dirty="0" err="1">
                <a:solidFill>
                  <a:srgbClr val="B0BEC5"/>
                </a:solidFill>
              </a:rPr>
              <a:t>Jav</a:t>
            </a:r>
            <a:r>
              <a:rPr lang="hu-HU" sz="1300" dirty="0">
                <a:solidFill>
                  <a:srgbClr val="B0BEC5"/>
                </a:solidFill>
              </a:rPr>
              <a:t>í</a:t>
            </a:r>
            <a:r>
              <a:rPr sz="1300" dirty="0">
                <a:solidFill>
                  <a:srgbClr val="B0BEC5"/>
                </a:solidFill>
              </a:rPr>
              <a:t>t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>
                <a:solidFill>
                  <a:srgbClr val="B0BEC5"/>
                </a:solidFill>
              </a:rPr>
              <a:t>s d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 err="1">
                <a:solidFill>
                  <a:srgbClr val="B0BEC5"/>
                </a:solidFill>
              </a:rPr>
              <a:t>tuma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sz="1300" dirty="0" err="1">
                <a:solidFill>
                  <a:srgbClr val="B0BEC5"/>
                </a:solidFill>
              </a:rPr>
              <a:t>automatikusan</a:t>
            </a:r>
            <a:r>
              <a:rPr sz="1300" dirty="0">
                <a:solidFill>
                  <a:srgbClr val="B0BEC5"/>
                </a:solidFill>
              </a:rPr>
              <a:t> r</a:t>
            </a:r>
            <a:r>
              <a:rPr lang="hu-HU" sz="1300" dirty="0">
                <a:solidFill>
                  <a:srgbClr val="B0BEC5"/>
                </a:solidFill>
              </a:rPr>
              <a:t>ö</a:t>
            </a:r>
            <a:r>
              <a:rPr sz="1300" dirty="0" err="1">
                <a:solidFill>
                  <a:srgbClr val="B0BEC5"/>
                </a:solidFill>
              </a:rPr>
              <a:t>gz</a:t>
            </a:r>
            <a:r>
              <a:rPr lang="hu-HU" sz="1300" dirty="0">
                <a:solidFill>
                  <a:srgbClr val="B0BEC5"/>
                </a:solidFill>
              </a:rPr>
              <a:t>ű</a:t>
            </a:r>
            <a:r>
              <a:rPr sz="1300" dirty="0">
                <a:solidFill>
                  <a:srgbClr val="B0BEC5"/>
                </a:solidFill>
              </a:rPr>
              <a:t>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234440"/>
            <a:ext cx="3657600" cy="5212080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19" y="1318069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 dirty="0">
                <a:solidFill>
                  <a:srgbClr val="E8F0FE"/>
                </a:solidFill>
                <a:latin typeface="Segoe UI"/>
              </a:rPr>
              <a:t>🛡️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79" y="1438277"/>
            <a:ext cx="23774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 err="1">
                <a:solidFill>
                  <a:srgbClr val="EF5350"/>
                </a:solidFill>
                <a:latin typeface="Segoe UI"/>
              </a:rPr>
              <a:t>Adminisztr</a:t>
            </a:r>
            <a:r>
              <a:rPr lang="hu-HU" sz="1700" b="1" i="0" dirty="0">
                <a:solidFill>
                  <a:srgbClr val="EF5350"/>
                </a:solidFill>
                <a:latin typeface="Segoe UI"/>
              </a:rPr>
              <a:t>á</a:t>
            </a:r>
            <a:r>
              <a:rPr sz="1700" b="1" i="0" dirty="0">
                <a:solidFill>
                  <a:srgbClr val="EF5350"/>
                </a:solidFill>
                <a:latin typeface="Segoe UI"/>
              </a:rPr>
              <a:t>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148840"/>
            <a:ext cx="3200400" cy="82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Minden tan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 err="1">
                <a:solidFill>
                  <a:srgbClr val="B0BEC5"/>
                </a:solidFill>
              </a:rPr>
              <a:t>ri</a:t>
            </a:r>
            <a:r>
              <a:rPr sz="1300" dirty="0">
                <a:solidFill>
                  <a:srgbClr val="B0BEC5"/>
                </a:solidFill>
              </a:rPr>
              <a:t> / </a:t>
            </a:r>
            <a:r>
              <a:rPr sz="1300" dirty="0" err="1">
                <a:solidFill>
                  <a:srgbClr val="B0BEC5"/>
                </a:solidFill>
              </a:rPr>
              <a:t>karbantart</a:t>
            </a:r>
            <a:r>
              <a:rPr lang="hu-HU" sz="1300" dirty="0">
                <a:solidFill>
                  <a:srgbClr val="B0BEC5"/>
                </a:solidFill>
              </a:rPr>
              <a:t>ó</a:t>
            </a:r>
            <a:r>
              <a:rPr sz="1300" dirty="0" err="1">
                <a:solidFill>
                  <a:srgbClr val="B0BEC5"/>
                </a:solidFill>
              </a:rPr>
              <a:t>i</a:t>
            </a:r>
            <a:r>
              <a:rPr sz="1300" dirty="0">
                <a:solidFill>
                  <a:srgbClr val="B0BEC5"/>
                </a:solidFill>
              </a:rPr>
              <a:t> jog</a:t>
            </a: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</a:t>
            </a:r>
            <a:r>
              <a:rPr lang="hu-HU" sz="1300" dirty="0">
                <a:solidFill>
                  <a:srgbClr val="B0BEC5"/>
                </a:solidFill>
              </a:rPr>
              <a:t>Ú</a:t>
            </a:r>
            <a:r>
              <a:rPr sz="1300" dirty="0">
                <a:solidFill>
                  <a:srgbClr val="B0BEC5"/>
                </a:solidFill>
              </a:rPr>
              <a:t>j </a:t>
            </a:r>
            <a:r>
              <a:rPr sz="1300" dirty="0" err="1">
                <a:solidFill>
                  <a:srgbClr val="B0BEC5"/>
                </a:solidFill>
              </a:rPr>
              <a:t>felhaszn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>
                <a:solidFill>
                  <a:srgbClr val="B0BEC5"/>
                </a:solidFill>
              </a:rPr>
              <a:t>l</a:t>
            </a:r>
            <a:r>
              <a:rPr lang="hu-HU" sz="1300" dirty="0">
                <a:solidFill>
                  <a:srgbClr val="B0BEC5"/>
                </a:solidFill>
              </a:rPr>
              <a:t>ó</a:t>
            </a:r>
            <a:r>
              <a:rPr sz="1300" dirty="0">
                <a:solidFill>
                  <a:srgbClr val="B0BEC5"/>
                </a:solidFill>
              </a:rPr>
              <a:t>k </a:t>
            </a:r>
            <a:r>
              <a:rPr sz="1300" dirty="0" err="1">
                <a:solidFill>
                  <a:srgbClr val="B0BEC5"/>
                </a:solidFill>
              </a:rPr>
              <a:t>felv</a:t>
            </a:r>
            <a:r>
              <a:rPr lang="hu-HU" sz="1300" dirty="0">
                <a:solidFill>
                  <a:srgbClr val="B0BEC5"/>
                </a:solidFill>
              </a:rPr>
              <a:t>é</a:t>
            </a:r>
            <a:r>
              <a:rPr sz="1300" dirty="0">
                <a:solidFill>
                  <a:srgbClr val="B0BEC5"/>
                </a:solidFill>
              </a:rPr>
              <a:t>tele</a:t>
            </a: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</a:t>
            </a:r>
            <a:r>
              <a:rPr sz="1300" dirty="0" err="1">
                <a:solidFill>
                  <a:srgbClr val="B0BEC5"/>
                </a:solidFill>
              </a:rPr>
              <a:t>Felhaszn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 err="1">
                <a:solidFill>
                  <a:srgbClr val="B0BEC5"/>
                </a:solidFill>
              </a:rPr>
              <a:t>lok</a:t>
            </a:r>
            <a:r>
              <a:rPr sz="1300" dirty="0">
                <a:solidFill>
                  <a:srgbClr val="B0BEC5"/>
                </a:solidFill>
              </a:rPr>
              <a:t> t</a:t>
            </a:r>
            <a:r>
              <a:rPr lang="hu-HU" sz="1300" dirty="0">
                <a:solidFill>
                  <a:srgbClr val="B0BEC5"/>
                </a:solidFill>
              </a:rPr>
              <a:t>ö</a:t>
            </a:r>
            <a:r>
              <a:rPr sz="1300" dirty="0" err="1">
                <a:solidFill>
                  <a:srgbClr val="B0BEC5"/>
                </a:solidFill>
              </a:rPr>
              <a:t>rlese</a:t>
            </a:r>
            <a:r>
              <a:rPr sz="1300" dirty="0">
                <a:solidFill>
                  <a:srgbClr val="B0BEC5"/>
                </a:solidFill>
              </a:rPr>
              <a:t> (mag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>
                <a:solidFill>
                  <a:srgbClr val="B0BEC5"/>
                </a:solidFill>
              </a:rPr>
              <a:t>t </a:t>
            </a:r>
            <a:r>
              <a:rPr sz="1300" dirty="0" err="1">
                <a:solidFill>
                  <a:srgbClr val="B0BEC5"/>
                </a:solidFill>
              </a:rPr>
              <a:t>nem</a:t>
            </a:r>
            <a:r>
              <a:rPr sz="1300" dirty="0">
                <a:solidFill>
                  <a:srgbClr val="B0BEC5"/>
                </a:solidFill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3 / 15</a:t>
            </a:r>
          </a:p>
        </p:txBody>
      </p:sp>
      <p:pic>
        <p:nvPicPr>
          <p:cNvPr id="18" name="Kép 17">
            <a:extLst>
              <a:ext uri="{FF2B5EF4-FFF2-40B4-BE49-F238E27FC236}">
                <a16:creationId xmlns:a16="http://schemas.microsoft.com/office/drawing/2014/main" id="{A9DB1D82-47DF-4F53-946D-A9F87F099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00" y="3129873"/>
            <a:ext cx="2556000" cy="2869787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2B0FDADF-D395-435F-B9EF-EB1A78501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40" y="3129873"/>
            <a:ext cx="2556000" cy="2853494"/>
          </a:xfrm>
          <a:prstGeom prst="rect">
            <a:avLst/>
          </a:prstGeom>
        </p:spPr>
      </p:pic>
      <p:pic>
        <p:nvPicPr>
          <p:cNvPr id="20" name="Kép 19">
            <a:extLst>
              <a:ext uri="{FF2B5EF4-FFF2-40B4-BE49-F238E27FC236}">
                <a16:creationId xmlns:a16="http://schemas.microsoft.com/office/drawing/2014/main" id="{14064382-B8E0-4F48-B29F-EBEE09002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9920" y="3139377"/>
            <a:ext cx="2556000" cy="28602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C3F7"/>
                </a:solidFill>
                <a:latin typeface="Segoe UI"/>
              </a:rPr>
              <a:t>RENDSZERTERV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7455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 err="1">
                <a:solidFill>
                  <a:srgbClr val="E8F0FE"/>
                </a:solidFill>
                <a:latin typeface="Segoe UI"/>
              </a:rPr>
              <a:t>Rendszer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 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architekt</a:t>
            </a:r>
            <a:r>
              <a:rPr lang="hu-HU" sz="2600" b="1" i="0" dirty="0">
                <a:solidFill>
                  <a:srgbClr val="E8F0FE"/>
                </a:solidFill>
                <a:latin typeface="Segoe UI"/>
              </a:rPr>
              <a:t>ú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ra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3291840" cy="2194560"/>
          </a:xfrm>
          <a:prstGeom prst="rect">
            <a:avLst/>
          </a:prstGeom>
          <a:solidFill>
            <a:srgbClr val="1B2D45"/>
          </a:solidFill>
          <a:ln w="127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8F0FE"/>
                </a:solidFill>
                <a:latin typeface="Segoe UI"/>
              </a:rPr>
              <a:t>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FC3F7"/>
                </a:solidFill>
                <a:latin typeface="Segoe U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65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HTML, CSS, JS
Bootstrap 5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298448"/>
            <a:ext cx="3291840" cy="2194560"/>
          </a:xfrm>
          <a:prstGeom prst="rect">
            <a:avLst/>
          </a:prstGeom>
          <a:solidFill>
            <a:srgbClr val="1B2D45"/>
          </a:solidFill>
          <a:ln w="1270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43400" y="1417320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8F0FE"/>
                </a:solidFill>
                <a:latin typeface="Segoe UI"/>
              </a:rPr>
              <a:t>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3E97B"/>
                </a:solidFill>
                <a:latin typeface="Segoe UI"/>
              </a:rPr>
              <a:t>REST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965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Node.js
Express.js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298448"/>
            <a:ext cx="3291840" cy="2194560"/>
          </a:xfrm>
          <a:prstGeom prst="rect">
            <a:avLst/>
          </a:prstGeom>
          <a:solidFill>
            <a:srgbClr val="1B2D45"/>
          </a:solidFill>
          <a:ln w="127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19" y="1417320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8F0FE"/>
                </a:solidFill>
                <a:latin typeface="Segoe UI"/>
              </a:rPr>
              <a:t>🗄️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9A825"/>
                </a:solidFill>
                <a:latin typeface="Segoe UI"/>
              </a:rPr>
              <a:t>Adatbazis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1965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SQLite
better-sqlite3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6180" y="2057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4FC3F7"/>
                </a:solidFill>
                <a:latin typeface="Cascadia Code"/>
              </a:rPr>
              <a:t>&lt;--&gt;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0" y="2057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4FC3F7"/>
                </a:solidFill>
                <a:latin typeface="Cascadia Code"/>
              </a:rPr>
              <a:t>&lt;--&gt;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94760"/>
            <a:ext cx="5394960" cy="2697480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886200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4FC3F7"/>
                </a:solidFill>
                <a:latin typeface="Segoe UI"/>
              </a:rPr>
              <a:t>🔐  </a:t>
            </a:r>
            <a:r>
              <a:rPr sz="1400" b="1" i="0" dirty="0" err="1">
                <a:solidFill>
                  <a:srgbClr val="4FC3F7"/>
                </a:solidFill>
                <a:latin typeface="Segoe UI"/>
              </a:rPr>
              <a:t>Hiteles</a:t>
            </a:r>
            <a:r>
              <a:rPr lang="hu-HU" sz="1400" b="1" i="0" dirty="0">
                <a:solidFill>
                  <a:srgbClr val="4FC3F7"/>
                </a:solidFill>
                <a:latin typeface="Segoe UI"/>
              </a:rPr>
              <a:t>í</a:t>
            </a:r>
            <a:r>
              <a:rPr sz="1400" b="1" i="0" dirty="0" err="1">
                <a:solidFill>
                  <a:srgbClr val="4FC3F7"/>
                </a:solidFill>
                <a:latin typeface="Segoe UI"/>
              </a:rPr>
              <a:t>tes</a:t>
            </a:r>
            <a:endParaRPr sz="1400" b="1" i="0" dirty="0">
              <a:solidFill>
                <a:srgbClr val="4FC3F7"/>
              </a:solidFill>
              <a:latin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368" y="4315968"/>
            <a:ext cx="4937760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dirty="0">
                <a:solidFill>
                  <a:srgbClr val="B0BEC5"/>
                </a:solidFill>
              </a:rPr>
              <a:t>  bcrypt.js: </a:t>
            </a:r>
            <a:r>
              <a:rPr sz="1200" dirty="0" err="1">
                <a:solidFill>
                  <a:srgbClr val="B0BEC5"/>
                </a:solidFill>
              </a:rPr>
              <a:t>jelszavak</a:t>
            </a:r>
            <a:r>
              <a:rPr sz="1200" dirty="0">
                <a:solidFill>
                  <a:srgbClr val="B0BEC5"/>
                </a:solidFill>
              </a:rPr>
              <a:t> </a:t>
            </a:r>
            <a:r>
              <a:rPr sz="1200" dirty="0" err="1">
                <a:solidFill>
                  <a:srgbClr val="B0BEC5"/>
                </a:solidFill>
              </a:rPr>
              <a:t>hashelve</a:t>
            </a:r>
            <a:r>
              <a:rPr sz="1200" dirty="0">
                <a:solidFill>
                  <a:srgbClr val="B0BEC5"/>
                </a:solidFill>
              </a:rPr>
              <a:t> </a:t>
            </a:r>
            <a:r>
              <a:rPr sz="1200" dirty="0" err="1">
                <a:solidFill>
                  <a:srgbClr val="B0BEC5"/>
                </a:solidFill>
              </a:rPr>
              <a:t>tarol</a:t>
            </a:r>
            <a:r>
              <a:rPr lang="hu-HU" sz="1200" dirty="0">
                <a:solidFill>
                  <a:srgbClr val="B0BEC5"/>
                </a:solidFill>
              </a:rPr>
              <a:t>ó</a:t>
            </a:r>
            <a:r>
              <a:rPr sz="1200" dirty="0" err="1">
                <a:solidFill>
                  <a:srgbClr val="B0BEC5"/>
                </a:solidFill>
              </a:rPr>
              <a:t>dnak</a:t>
            </a:r>
            <a:endParaRPr sz="1200" dirty="0">
              <a:solidFill>
                <a:srgbClr val="B0BEC5"/>
              </a:solidFill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B0BEC5"/>
                </a:solidFill>
              </a:rPr>
              <a:t>  JWT token: </a:t>
            </a:r>
            <a:r>
              <a:rPr sz="1200" dirty="0" err="1">
                <a:solidFill>
                  <a:srgbClr val="B0BEC5"/>
                </a:solidFill>
              </a:rPr>
              <a:t>bejelentkez</a:t>
            </a:r>
            <a:r>
              <a:rPr lang="hu-HU" sz="1200" dirty="0">
                <a:solidFill>
                  <a:srgbClr val="B0BEC5"/>
                </a:solidFill>
              </a:rPr>
              <a:t>é</a:t>
            </a:r>
            <a:r>
              <a:rPr sz="1200" dirty="0" err="1">
                <a:solidFill>
                  <a:srgbClr val="B0BEC5"/>
                </a:solidFill>
              </a:rPr>
              <a:t>sk</a:t>
            </a:r>
            <a:r>
              <a:rPr lang="hu-HU" sz="1200" dirty="0">
                <a:solidFill>
                  <a:srgbClr val="B0BEC5"/>
                </a:solidFill>
              </a:rPr>
              <a:t>o</a:t>
            </a:r>
            <a:r>
              <a:rPr sz="1200" dirty="0">
                <a:solidFill>
                  <a:srgbClr val="B0BEC5"/>
                </a:solidFill>
              </a:rPr>
              <a:t>r </a:t>
            </a:r>
            <a:r>
              <a:rPr lang="hu-HU" sz="1200" dirty="0">
                <a:solidFill>
                  <a:srgbClr val="B0BEC5"/>
                </a:solidFill>
              </a:rPr>
              <a:t>á</a:t>
            </a:r>
            <a:r>
              <a:rPr sz="1200" dirty="0" err="1">
                <a:solidFill>
                  <a:srgbClr val="B0BEC5"/>
                </a:solidFill>
              </a:rPr>
              <a:t>llitodik</a:t>
            </a:r>
            <a:r>
              <a:rPr sz="1200" dirty="0">
                <a:solidFill>
                  <a:srgbClr val="B0BEC5"/>
                </a:solidFill>
              </a:rPr>
              <a:t> </a:t>
            </a:r>
            <a:r>
              <a:rPr sz="1200" dirty="0" err="1">
                <a:solidFill>
                  <a:srgbClr val="B0BEC5"/>
                </a:solidFill>
              </a:rPr>
              <a:t>ki</a:t>
            </a:r>
            <a:endParaRPr sz="1200" dirty="0">
              <a:solidFill>
                <a:srgbClr val="B0BEC5"/>
              </a:solidFill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B0BEC5"/>
                </a:solidFill>
              </a:rPr>
              <a:t>  </a:t>
            </a:r>
            <a:r>
              <a:rPr sz="1200" dirty="0" err="1">
                <a:solidFill>
                  <a:srgbClr val="B0BEC5"/>
                </a:solidFill>
              </a:rPr>
              <a:t>sessionStorage</a:t>
            </a:r>
            <a:r>
              <a:rPr sz="1200" dirty="0">
                <a:solidFill>
                  <a:srgbClr val="B0BEC5"/>
                </a:solidFill>
              </a:rPr>
              <a:t>: token t</a:t>
            </a:r>
            <a:r>
              <a:rPr lang="hu-HU" sz="1200" dirty="0">
                <a:solidFill>
                  <a:srgbClr val="B0BEC5"/>
                </a:solidFill>
              </a:rPr>
              <a:t>á</a:t>
            </a:r>
            <a:r>
              <a:rPr sz="1200" dirty="0" err="1">
                <a:solidFill>
                  <a:srgbClr val="B0BEC5"/>
                </a:solidFill>
              </a:rPr>
              <a:t>rol</a:t>
            </a:r>
            <a:r>
              <a:rPr lang="hu-HU" sz="1200" dirty="0">
                <a:solidFill>
                  <a:srgbClr val="B0BEC5"/>
                </a:solidFill>
              </a:rPr>
              <a:t>á</a:t>
            </a:r>
            <a:r>
              <a:rPr sz="1200" dirty="0" err="1">
                <a:solidFill>
                  <a:srgbClr val="B0BEC5"/>
                </a:solidFill>
              </a:rPr>
              <a:t>sa</a:t>
            </a:r>
            <a:r>
              <a:rPr sz="1200" dirty="0">
                <a:solidFill>
                  <a:srgbClr val="B0BEC5"/>
                </a:solidFill>
              </a:rPr>
              <a:t> a </a:t>
            </a:r>
            <a:r>
              <a:rPr sz="1200" dirty="0" err="1">
                <a:solidFill>
                  <a:srgbClr val="B0BEC5"/>
                </a:solidFill>
              </a:rPr>
              <a:t>kliense</a:t>
            </a:r>
            <a:r>
              <a:rPr lang="hu-HU" sz="1200" dirty="0">
                <a:solidFill>
                  <a:srgbClr val="B0BEC5"/>
                </a:solidFill>
              </a:rPr>
              <a:t>n</a:t>
            </a:r>
            <a:endParaRPr sz="1200" dirty="0">
              <a:solidFill>
                <a:srgbClr val="B0BEC5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327648" y="3794760"/>
            <a:ext cx="5394960" cy="2697480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3886200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4FC3F7"/>
                </a:solidFill>
                <a:latin typeface="Segoe UI"/>
              </a:rPr>
              <a:t>📡  </a:t>
            </a:r>
            <a:r>
              <a:rPr sz="1400" b="1" i="0" dirty="0" err="1">
                <a:solidFill>
                  <a:srgbClr val="4FC3F7"/>
                </a:solidFill>
                <a:latin typeface="Segoe UI"/>
              </a:rPr>
              <a:t>Kommunikaci</a:t>
            </a:r>
            <a:r>
              <a:rPr lang="hu-HU" sz="1400" b="1" i="0" dirty="0">
                <a:solidFill>
                  <a:srgbClr val="4FC3F7"/>
                </a:solidFill>
                <a:latin typeface="Segoe UI"/>
              </a:rPr>
              <a:t>ó</a:t>
            </a:r>
            <a:endParaRPr sz="1400" b="1" i="0" dirty="0">
              <a:solidFill>
                <a:srgbClr val="4FC3F7"/>
              </a:solidFill>
              <a:latin typeface="Segoe U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10528" y="4315968"/>
            <a:ext cx="4937760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dirty="0">
                <a:solidFill>
                  <a:srgbClr val="B0BEC5"/>
                </a:solidFill>
              </a:rPr>
              <a:t>  Frontend: fetch() API </a:t>
            </a:r>
            <a:r>
              <a:rPr sz="1200" dirty="0" err="1">
                <a:solidFill>
                  <a:srgbClr val="B0BEC5"/>
                </a:solidFill>
              </a:rPr>
              <a:t>hivasokkal</a:t>
            </a:r>
            <a:r>
              <a:rPr sz="1200" dirty="0">
                <a:solidFill>
                  <a:srgbClr val="B0BEC5"/>
                </a:solidFill>
              </a:rPr>
              <a:t> </a:t>
            </a:r>
            <a:r>
              <a:rPr sz="1200" dirty="0" err="1">
                <a:solidFill>
                  <a:srgbClr val="B0BEC5"/>
                </a:solidFill>
              </a:rPr>
              <a:t>kommunik</a:t>
            </a:r>
            <a:r>
              <a:rPr lang="hu-HU" sz="1200" dirty="0">
                <a:solidFill>
                  <a:srgbClr val="B0BEC5"/>
                </a:solidFill>
              </a:rPr>
              <a:t>á</a:t>
            </a:r>
            <a:r>
              <a:rPr sz="1200" dirty="0">
                <a:solidFill>
                  <a:srgbClr val="B0BEC5"/>
                </a:solidFill>
              </a:rPr>
              <a:t>l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B0BEC5"/>
                </a:solidFill>
              </a:rPr>
              <a:t>  Minden v</a:t>
            </a:r>
            <a:r>
              <a:rPr lang="hu-HU" sz="1200" dirty="0">
                <a:solidFill>
                  <a:srgbClr val="B0BEC5"/>
                </a:solidFill>
              </a:rPr>
              <a:t>é</a:t>
            </a:r>
            <a:r>
              <a:rPr sz="1200" dirty="0" err="1">
                <a:solidFill>
                  <a:srgbClr val="B0BEC5"/>
                </a:solidFill>
              </a:rPr>
              <a:t>dett</a:t>
            </a:r>
            <a:r>
              <a:rPr sz="1200" dirty="0">
                <a:solidFill>
                  <a:srgbClr val="B0BEC5"/>
                </a:solidFill>
              </a:rPr>
              <a:t> k</a:t>
            </a:r>
            <a:r>
              <a:rPr lang="hu-HU" sz="1200" dirty="0">
                <a:solidFill>
                  <a:srgbClr val="B0BEC5"/>
                </a:solidFill>
              </a:rPr>
              <a:t>é</a:t>
            </a:r>
            <a:r>
              <a:rPr sz="1200" dirty="0">
                <a:solidFill>
                  <a:srgbClr val="B0BEC5"/>
                </a:solidFill>
              </a:rPr>
              <a:t>res: Authorization: Bearer &lt;token&gt;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B0BEC5"/>
                </a:solidFill>
              </a:rPr>
              <a:t>  .env: JWT_SECRET, DB_PATH, PORT </a:t>
            </a:r>
            <a:r>
              <a:rPr sz="1200" dirty="0" err="1">
                <a:solidFill>
                  <a:srgbClr val="B0BEC5"/>
                </a:solidFill>
              </a:rPr>
              <a:t>konfig</a:t>
            </a:r>
            <a:endParaRPr sz="1200" dirty="0">
              <a:solidFill>
                <a:srgbClr val="B0BEC5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" y="1261872"/>
            <a:ext cx="11274552" cy="5257800"/>
          </a:xfrm>
          <a:prstGeom prst="rect">
            <a:avLst/>
          </a:prstGeom>
          <a:solidFill>
            <a:srgbClr val="05101A"/>
          </a:solidFill>
          <a:ln w="12700">
            <a:solidFill>
              <a:srgbClr val="1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56032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4FC3F7"/>
                </a:solidFill>
                <a:latin typeface="Segoe UI"/>
              </a:rPr>
              <a:t>ADATB</a:t>
            </a:r>
            <a:r>
              <a:rPr lang="hu-HU" b="1" dirty="0">
                <a:solidFill>
                  <a:srgbClr val="4FC3F7"/>
                </a:solidFill>
                <a:latin typeface="Segoe UI"/>
              </a:rPr>
              <a:t>Á</a:t>
            </a:r>
            <a:r>
              <a:rPr b="1" i="0" dirty="0">
                <a:solidFill>
                  <a:srgbClr val="4FC3F7"/>
                </a:solidFill>
                <a:latin typeface="Segoe UI"/>
              </a:rPr>
              <a:t>ZIS</a:t>
            </a:r>
            <a:r>
              <a:rPr sz="900" b="1" i="0" dirty="0">
                <a:solidFill>
                  <a:srgbClr val="4FC3F7"/>
                </a:solidFill>
                <a:latin typeface="Segoe UI"/>
              </a:rPr>
              <a:t>  -  SQLITE DDL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7455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 err="1">
                <a:solidFill>
                  <a:srgbClr val="E8F0FE"/>
                </a:solidFill>
                <a:latin typeface="Segoe UI"/>
              </a:rPr>
              <a:t>Adatb</a:t>
            </a:r>
            <a:r>
              <a:rPr lang="hu-HU" sz="2600" b="1" i="0" dirty="0">
                <a:solidFill>
                  <a:srgbClr val="E8F0FE"/>
                </a:solidFill>
                <a:latin typeface="Segoe UI"/>
              </a:rPr>
              <a:t>á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zis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 s</a:t>
            </a:r>
            <a:r>
              <a:rPr lang="hu-HU" sz="2600" b="1" i="0" dirty="0">
                <a:solidFill>
                  <a:srgbClr val="E8F0FE"/>
                </a:solidFill>
                <a:latin typeface="Segoe UI"/>
              </a:rPr>
              <a:t>é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4456669" cy="3647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CE93D8"/>
                </a:solidFill>
                <a:latin typeface="Cascadia Code"/>
              </a:rPr>
              <a:t>CREATE TABLE </a:t>
            </a:r>
            <a:r>
              <a:rPr sz="1050" dirty="0" err="1">
                <a:solidFill>
                  <a:srgbClr val="69F0AE"/>
                </a:solidFill>
                <a:latin typeface="Cascadia Code"/>
              </a:rPr>
              <a:t>felhasznalok</a:t>
            </a:r>
            <a:r>
              <a:rPr sz="1050" dirty="0">
                <a:solidFill>
                  <a:srgbClr val="B0BEC5"/>
                </a:solidFill>
                <a:latin typeface="Cascadia Code"/>
              </a:rPr>
              <a:t> 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CE93D8"/>
                </a:solidFill>
                <a:latin typeface="Cascadia Code"/>
              </a:rPr>
              <a:t>  id             INTEGER  </a:t>
            </a:r>
            <a:r>
              <a:rPr sz="1050" dirty="0">
                <a:solidFill>
                  <a:srgbClr val="FFD54F"/>
                </a:solidFill>
                <a:latin typeface="Cascadia Code"/>
              </a:rPr>
              <a:t>PRIMARY KEY AUTOINCREMENT</a:t>
            </a:r>
            <a:r>
              <a:rPr sz="1050" dirty="0">
                <a:solidFill>
                  <a:srgbClr val="B0BEC5"/>
                </a:solidFill>
                <a:latin typeface="Cascadia Code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B0BEC5"/>
                </a:solidFill>
                <a:latin typeface="Cascadia Code"/>
              </a:rPr>
              <a:t>  </a:t>
            </a:r>
            <a:r>
              <a:rPr sz="1050" dirty="0" err="1">
                <a:solidFill>
                  <a:srgbClr val="B0BEC5"/>
                </a:solidFill>
                <a:latin typeface="Cascadia Code"/>
              </a:rPr>
              <a:t>nev</a:t>
            </a:r>
            <a:r>
              <a:rPr sz="1050" dirty="0">
                <a:solidFill>
                  <a:srgbClr val="B0BEC5"/>
                </a:solidFill>
                <a:latin typeface="Cascadia Code"/>
              </a:rPr>
              <a:t>            TEXT     NOT NULL,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B0BEC5"/>
                </a:solidFill>
                <a:latin typeface="Cascadia Code"/>
              </a:rPr>
              <a:t>  </a:t>
            </a:r>
            <a:r>
              <a:rPr sz="1050" dirty="0" err="1">
                <a:solidFill>
                  <a:srgbClr val="B0BEC5"/>
                </a:solidFill>
                <a:latin typeface="Cascadia Code"/>
              </a:rPr>
              <a:t>felhasznalonev</a:t>
            </a:r>
            <a:r>
              <a:rPr sz="1050" dirty="0">
                <a:solidFill>
                  <a:srgbClr val="B0BEC5"/>
                </a:solidFill>
                <a:latin typeface="Cascadia Code"/>
              </a:rPr>
              <a:t> TEXT     UNIQUE NOT NULL,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B0BEC5"/>
                </a:solidFill>
                <a:latin typeface="Cascadia Code"/>
              </a:rPr>
              <a:t>  </a:t>
            </a:r>
            <a:r>
              <a:rPr sz="1050" dirty="0" err="1">
                <a:solidFill>
                  <a:srgbClr val="B0BEC5"/>
                </a:solidFill>
                <a:latin typeface="Cascadia Code"/>
              </a:rPr>
              <a:t>jelszo</a:t>
            </a:r>
            <a:r>
              <a:rPr sz="1050" dirty="0">
                <a:solidFill>
                  <a:srgbClr val="B0BEC5"/>
                </a:solidFill>
                <a:latin typeface="Cascadia Code"/>
              </a:rPr>
              <a:t>         TEXT     NOT NULL,      </a:t>
            </a:r>
            <a:r>
              <a:rPr sz="1050" dirty="0">
                <a:solidFill>
                  <a:srgbClr val="607D8B"/>
                </a:solidFill>
                <a:latin typeface="Cascadia Code"/>
              </a:rPr>
              <a:t>-- </a:t>
            </a:r>
            <a:r>
              <a:rPr sz="1050" dirty="0" err="1">
                <a:solidFill>
                  <a:srgbClr val="607D8B"/>
                </a:solidFill>
                <a:latin typeface="Cascadia Code"/>
              </a:rPr>
              <a:t>bcrypt</a:t>
            </a:r>
            <a:r>
              <a:rPr sz="1050" dirty="0">
                <a:solidFill>
                  <a:srgbClr val="607D8B"/>
                </a:solidFill>
                <a:latin typeface="Cascadia Code"/>
              </a:rPr>
              <a:t> hash, </a:t>
            </a:r>
            <a:r>
              <a:rPr sz="1050" dirty="0" err="1">
                <a:solidFill>
                  <a:srgbClr val="607D8B"/>
                </a:solidFill>
                <a:latin typeface="Cascadia Code"/>
              </a:rPr>
              <a:t>soha</a:t>
            </a:r>
            <a:r>
              <a:rPr sz="1050" dirty="0">
                <a:solidFill>
                  <a:srgbClr val="607D8B"/>
                </a:solidFill>
                <a:latin typeface="Cascadia Code"/>
              </a:rPr>
              <a:t> </a:t>
            </a:r>
            <a:r>
              <a:rPr sz="1050" dirty="0" err="1">
                <a:solidFill>
                  <a:srgbClr val="607D8B"/>
                </a:solidFill>
                <a:latin typeface="Cascadia Code"/>
              </a:rPr>
              <a:t>nem</a:t>
            </a:r>
            <a:r>
              <a:rPr sz="1050" dirty="0">
                <a:solidFill>
                  <a:srgbClr val="607D8B"/>
                </a:solidFill>
                <a:latin typeface="Cascadia Code"/>
              </a:rPr>
              <a:t> plain text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B0BEC5"/>
                </a:solidFill>
                <a:latin typeface="Cascadia Code"/>
              </a:rPr>
              <a:t>  </a:t>
            </a:r>
            <a:r>
              <a:rPr sz="1050" dirty="0" err="1">
                <a:solidFill>
                  <a:srgbClr val="B0BEC5"/>
                </a:solidFill>
                <a:latin typeface="Cascadia Code"/>
              </a:rPr>
              <a:t>szerep</a:t>
            </a:r>
            <a:r>
              <a:rPr sz="1050" dirty="0">
                <a:solidFill>
                  <a:srgbClr val="B0BEC5"/>
                </a:solidFill>
                <a:latin typeface="Cascadia Code"/>
              </a:rPr>
              <a:t>         TEXT     NOT NULL       </a:t>
            </a:r>
            <a:r>
              <a:rPr sz="1050" dirty="0">
                <a:solidFill>
                  <a:srgbClr val="607D8B"/>
                </a:solidFill>
                <a:latin typeface="Cascadia Code"/>
              </a:rPr>
              <a:t>-- </a:t>
            </a:r>
            <a:r>
              <a:rPr sz="1050" dirty="0" err="1">
                <a:solidFill>
                  <a:srgbClr val="607D8B"/>
                </a:solidFill>
                <a:latin typeface="Cascadia Code"/>
              </a:rPr>
              <a:t>tanar</a:t>
            </a:r>
            <a:r>
              <a:rPr sz="1050" dirty="0">
                <a:solidFill>
                  <a:srgbClr val="607D8B"/>
                </a:solidFill>
                <a:latin typeface="Cascadia Code"/>
              </a:rPr>
              <a:t> | </a:t>
            </a:r>
            <a:r>
              <a:rPr sz="1050" dirty="0" err="1">
                <a:solidFill>
                  <a:srgbClr val="607D8B"/>
                </a:solidFill>
                <a:latin typeface="Cascadia Code"/>
              </a:rPr>
              <a:t>karbantarto</a:t>
            </a:r>
            <a:r>
              <a:rPr sz="1050" dirty="0">
                <a:solidFill>
                  <a:srgbClr val="607D8B"/>
                </a:solidFill>
                <a:latin typeface="Cascadia Code"/>
              </a:rPr>
              <a:t> | admin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B0BEC5"/>
                </a:solidFill>
                <a:latin typeface="Cascadia Code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B0BEC5"/>
                </a:solidFill>
                <a:latin typeface="Cascadia Code"/>
              </a:rPr>
              <a:t> </a:t>
            </a:r>
            <a:endParaRPr lang="hu-HU" sz="1050" dirty="0">
              <a:solidFill>
                <a:srgbClr val="B0BEC5"/>
              </a:solidFill>
              <a:latin typeface="Cascadia Code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hu-HU" sz="1050" dirty="0">
              <a:solidFill>
                <a:srgbClr val="B0BEC5"/>
              </a:solidFill>
              <a:latin typeface="Cascadia Code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50" dirty="0">
              <a:solidFill>
                <a:srgbClr val="B0BEC5"/>
              </a:solidFill>
              <a:latin typeface="Cascadia Code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CE93D8"/>
                </a:solidFill>
                <a:latin typeface="Cascadia Code"/>
              </a:rPr>
              <a:t>CREATE TABLE </a:t>
            </a:r>
            <a:r>
              <a:rPr sz="1050" dirty="0" err="1">
                <a:solidFill>
                  <a:srgbClr val="69F0AE"/>
                </a:solidFill>
                <a:latin typeface="Cascadia Code"/>
              </a:rPr>
              <a:t>hibak</a:t>
            </a:r>
            <a:r>
              <a:rPr sz="1050" dirty="0">
                <a:solidFill>
                  <a:srgbClr val="B0BEC5"/>
                </a:solidFill>
                <a:latin typeface="Cascadia Code"/>
              </a:rPr>
              <a:t> 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CE93D8"/>
                </a:solidFill>
                <a:latin typeface="Cascadia Code"/>
              </a:rPr>
              <a:t>  id               INTEGER  </a:t>
            </a:r>
            <a:r>
              <a:rPr sz="1050" dirty="0">
                <a:solidFill>
                  <a:srgbClr val="FFD54F"/>
                </a:solidFill>
                <a:latin typeface="Cascadia Code"/>
              </a:rPr>
              <a:t>PRIMARY KEY AUTOINCREMENT</a:t>
            </a:r>
            <a:r>
              <a:rPr sz="1050" dirty="0">
                <a:solidFill>
                  <a:srgbClr val="B0BEC5"/>
                </a:solidFill>
                <a:latin typeface="Cascadia Code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B0BEC5"/>
                </a:solidFill>
                <a:latin typeface="Cascadia Code"/>
              </a:rPr>
              <a:t>  datum            TEXT     NOT NULL,  </a:t>
            </a:r>
            <a:r>
              <a:rPr sz="1050" dirty="0">
                <a:solidFill>
                  <a:srgbClr val="607D8B"/>
                </a:solidFill>
                <a:latin typeface="Cascadia Code"/>
              </a:rPr>
              <a:t>-- YYYY-MM-DD, auto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B0BEC5"/>
                </a:solidFill>
                <a:latin typeface="Cascadia Code"/>
              </a:rPr>
              <a:t>  </a:t>
            </a:r>
            <a:r>
              <a:rPr sz="1050" dirty="0" err="1">
                <a:solidFill>
                  <a:srgbClr val="B0BEC5"/>
                </a:solidFill>
                <a:latin typeface="Cascadia Code"/>
              </a:rPr>
              <a:t>bejelento_id</a:t>
            </a:r>
            <a:r>
              <a:rPr sz="1050" dirty="0">
                <a:solidFill>
                  <a:srgbClr val="B0BEC5"/>
                </a:solidFill>
                <a:latin typeface="Cascadia Code"/>
              </a:rPr>
              <a:t>     INTEGER  NOT NULL,  </a:t>
            </a:r>
            <a:r>
              <a:rPr sz="1050" dirty="0">
                <a:solidFill>
                  <a:srgbClr val="607D8B"/>
                </a:solidFill>
                <a:latin typeface="Cascadia Code"/>
              </a:rPr>
              <a:t>-- FK -&gt; felhasznalok.id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B0BEC5"/>
                </a:solidFill>
                <a:latin typeface="Cascadia Code"/>
              </a:rPr>
              <a:t>  </a:t>
            </a:r>
            <a:r>
              <a:rPr sz="1050" dirty="0" err="1">
                <a:solidFill>
                  <a:srgbClr val="B0BEC5"/>
                </a:solidFill>
                <a:latin typeface="Cascadia Code"/>
              </a:rPr>
              <a:t>terem</a:t>
            </a:r>
            <a:r>
              <a:rPr sz="1050" dirty="0">
                <a:solidFill>
                  <a:srgbClr val="B0BEC5"/>
                </a:solidFill>
                <a:latin typeface="Cascadia Code"/>
              </a:rPr>
              <a:t>            TEXT     NOT NULL,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B0BEC5"/>
                </a:solidFill>
                <a:latin typeface="Cascadia Code"/>
              </a:rPr>
              <a:t>  </a:t>
            </a:r>
            <a:r>
              <a:rPr sz="1050" dirty="0" err="1">
                <a:solidFill>
                  <a:srgbClr val="B0BEC5"/>
                </a:solidFill>
                <a:latin typeface="Cascadia Code"/>
              </a:rPr>
              <a:t>leiras</a:t>
            </a:r>
            <a:r>
              <a:rPr sz="1050" dirty="0">
                <a:solidFill>
                  <a:srgbClr val="B0BEC5"/>
                </a:solidFill>
                <a:latin typeface="Cascadia Code"/>
              </a:rPr>
              <a:t>           TEXT     NOT NULL,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B0BEC5"/>
                </a:solidFill>
                <a:latin typeface="Cascadia Code"/>
              </a:rPr>
              <a:t>  </a:t>
            </a:r>
            <a:r>
              <a:rPr sz="1050" dirty="0" err="1">
                <a:solidFill>
                  <a:srgbClr val="B0BEC5"/>
                </a:solidFill>
                <a:latin typeface="Cascadia Code"/>
              </a:rPr>
              <a:t>allapot</a:t>
            </a:r>
            <a:r>
              <a:rPr sz="1050" dirty="0">
                <a:solidFill>
                  <a:srgbClr val="B0BEC5"/>
                </a:solidFill>
                <a:latin typeface="Cascadia Code"/>
              </a:rPr>
              <a:t>          TEXT     NOT NULL,  </a:t>
            </a:r>
            <a:r>
              <a:rPr sz="1050" dirty="0">
                <a:solidFill>
                  <a:srgbClr val="607D8B"/>
                </a:solidFill>
                <a:latin typeface="Cascadia Code"/>
              </a:rPr>
              <a:t>-- </a:t>
            </a:r>
            <a:r>
              <a:rPr sz="1050" dirty="0" err="1">
                <a:solidFill>
                  <a:srgbClr val="607D8B"/>
                </a:solidFill>
                <a:latin typeface="Cascadia Code"/>
              </a:rPr>
              <a:t>bejelentve</a:t>
            </a:r>
            <a:r>
              <a:rPr sz="1050" dirty="0">
                <a:solidFill>
                  <a:srgbClr val="607D8B"/>
                </a:solidFill>
                <a:latin typeface="Cascadia Code"/>
              </a:rPr>
              <a:t> | </a:t>
            </a:r>
            <a:r>
              <a:rPr sz="1050" dirty="0" err="1">
                <a:solidFill>
                  <a:srgbClr val="607D8B"/>
                </a:solidFill>
                <a:latin typeface="Cascadia Code"/>
              </a:rPr>
              <a:t>kijavitva</a:t>
            </a:r>
            <a:endParaRPr sz="1050" dirty="0">
              <a:solidFill>
                <a:srgbClr val="607D8B"/>
              </a:solidFill>
              <a:latin typeface="Cascadia Code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B0BEC5"/>
                </a:solidFill>
                <a:latin typeface="Cascadia Code"/>
              </a:rPr>
              <a:t>  </a:t>
            </a:r>
            <a:r>
              <a:rPr sz="1050" dirty="0" err="1">
                <a:solidFill>
                  <a:srgbClr val="B0BEC5"/>
                </a:solidFill>
                <a:latin typeface="Cascadia Code"/>
              </a:rPr>
              <a:t>javito_id</a:t>
            </a:r>
            <a:r>
              <a:rPr sz="1050" dirty="0">
                <a:solidFill>
                  <a:srgbClr val="B0BEC5"/>
                </a:solidFill>
                <a:latin typeface="Cascadia Code"/>
              </a:rPr>
              <a:t>        INTEGER,            </a:t>
            </a:r>
            <a:r>
              <a:rPr sz="1050" dirty="0">
                <a:solidFill>
                  <a:srgbClr val="607D8B"/>
                </a:solidFill>
                <a:latin typeface="Cascadia Code"/>
              </a:rPr>
              <a:t>-- FK -&gt; felhasznalok.id (NULL </a:t>
            </a:r>
            <a:r>
              <a:rPr sz="1050" dirty="0" err="1">
                <a:solidFill>
                  <a:srgbClr val="607D8B"/>
                </a:solidFill>
                <a:latin typeface="Cascadia Code"/>
              </a:rPr>
              <a:t>amig</a:t>
            </a:r>
            <a:r>
              <a:rPr sz="1050" dirty="0">
                <a:solidFill>
                  <a:srgbClr val="607D8B"/>
                </a:solidFill>
                <a:latin typeface="Cascadia Code"/>
              </a:rPr>
              <a:t> </a:t>
            </a:r>
            <a:r>
              <a:rPr sz="1050" dirty="0" err="1">
                <a:solidFill>
                  <a:srgbClr val="607D8B"/>
                </a:solidFill>
                <a:latin typeface="Cascadia Code"/>
              </a:rPr>
              <a:t>nincs</a:t>
            </a:r>
            <a:r>
              <a:rPr sz="1050" dirty="0">
                <a:solidFill>
                  <a:srgbClr val="607D8B"/>
                </a:solidFill>
                <a:latin typeface="Cascadia Code"/>
              </a:rPr>
              <a:t> </a:t>
            </a:r>
            <a:r>
              <a:rPr sz="1050" dirty="0" err="1">
                <a:solidFill>
                  <a:srgbClr val="607D8B"/>
                </a:solidFill>
                <a:latin typeface="Cascadia Code"/>
              </a:rPr>
              <a:t>javitva</a:t>
            </a:r>
            <a:r>
              <a:rPr sz="1050" dirty="0">
                <a:solidFill>
                  <a:srgbClr val="607D8B"/>
                </a:solidFill>
                <a:latin typeface="Cascadia Code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B0BEC5"/>
                </a:solidFill>
                <a:latin typeface="Cascadia Code"/>
              </a:rPr>
              <a:t>  </a:t>
            </a:r>
            <a:r>
              <a:rPr sz="1050" dirty="0" err="1">
                <a:solidFill>
                  <a:srgbClr val="B0BEC5"/>
                </a:solidFill>
                <a:latin typeface="Cascadia Code"/>
              </a:rPr>
              <a:t>javitas_datuma</a:t>
            </a:r>
            <a:r>
              <a:rPr sz="1050" dirty="0">
                <a:solidFill>
                  <a:srgbClr val="B0BEC5"/>
                </a:solidFill>
                <a:latin typeface="Cascadia Code"/>
              </a:rPr>
              <a:t>   TEXT,               </a:t>
            </a:r>
            <a:r>
              <a:rPr sz="1050" dirty="0">
                <a:solidFill>
                  <a:srgbClr val="607D8B"/>
                </a:solidFill>
                <a:latin typeface="Cascadia Code"/>
              </a:rPr>
              <a:t>-- auto, YYYY-MM-DD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B0BEC5"/>
                </a:solidFill>
                <a:latin typeface="Cascadia Code"/>
              </a:rPr>
              <a:t>  FOREIGN KEY (</a:t>
            </a:r>
            <a:r>
              <a:rPr sz="1050" dirty="0" err="1">
                <a:solidFill>
                  <a:srgbClr val="B0BEC5"/>
                </a:solidFill>
                <a:latin typeface="Cascadia Code"/>
              </a:rPr>
              <a:t>bejelento_id</a:t>
            </a:r>
            <a:r>
              <a:rPr sz="1050" dirty="0">
                <a:solidFill>
                  <a:srgbClr val="B0BEC5"/>
                </a:solidFill>
                <a:latin typeface="Cascadia Code"/>
              </a:rPr>
              <a:t>) REFERENCES </a:t>
            </a:r>
            <a:r>
              <a:rPr sz="1050" dirty="0" err="1">
                <a:solidFill>
                  <a:srgbClr val="69F0AE"/>
                </a:solidFill>
                <a:latin typeface="Cascadia Code"/>
              </a:rPr>
              <a:t>felhasznalok</a:t>
            </a:r>
            <a:r>
              <a:rPr sz="1050" dirty="0">
                <a:solidFill>
                  <a:srgbClr val="B0BEC5"/>
                </a:solidFill>
                <a:latin typeface="Cascadia Code"/>
              </a:rPr>
              <a:t>(id),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B0BEC5"/>
                </a:solidFill>
                <a:latin typeface="Cascadia Code"/>
              </a:rPr>
              <a:t>  FOREIGN KEY (</a:t>
            </a:r>
            <a:r>
              <a:rPr sz="1050" dirty="0" err="1">
                <a:solidFill>
                  <a:srgbClr val="B0BEC5"/>
                </a:solidFill>
                <a:latin typeface="Cascadia Code"/>
              </a:rPr>
              <a:t>javito_id</a:t>
            </a:r>
            <a:r>
              <a:rPr sz="1050" dirty="0">
                <a:solidFill>
                  <a:srgbClr val="B0BEC5"/>
                </a:solidFill>
                <a:latin typeface="Cascadia Code"/>
              </a:rPr>
              <a:t>)    REFERENCES </a:t>
            </a:r>
            <a:r>
              <a:rPr sz="1050" dirty="0" err="1">
                <a:solidFill>
                  <a:srgbClr val="69F0AE"/>
                </a:solidFill>
                <a:latin typeface="Cascadia Code"/>
              </a:rPr>
              <a:t>felhasznalok</a:t>
            </a:r>
            <a:r>
              <a:rPr sz="1050" dirty="0">
                <a:solidFill>
                  <a:srgbClr val="B0BEC5"/>
                </a:solidFill>
                <a:latin typeface="Cascadia Code"/>
              </a:rPr>
              <a:t>(id)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B0BEC5"/>
                </a:solidFill>
                <a:latin typeface="Cascadia Code"/>
              </a:rP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12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" y="1261872"/>
            <a:ext cx="11274552" cy="5257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57200" y="256032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4FC3F7"/>
                </a:solidFill>
                <a:latin typeface="Segoe UI"/>
              </a:rPr>
              <a:t>ADATB</a:t>
            </a:r>
            <a:r>
              <a:rPr lang="hu-HU" sz="900" b="1" i="0" dirty="0">
                <a:solidFill>
                  <a:srgbClr val="4FC3F7"/>
                </a:solidFill>
                <a:latin typeface="Segoe UI"/>
              </a:rPr>
              <a:t>Á</a:t>
            </a:r>
            <a:r>
              <a:rPr sz="900" b="1" i="0" dirty="0">
                <a:solidFill>
                  <a:srgbClr val="4FC3F7"/>
                </a:solidFill>
                <a:latin typeface="Segoe UI"/>
              </a:rPr>
              <a:t>ZIS  -  SQLITE DDL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7455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hu-HU" sz="2600" b="1" i="0" dirty="0">
                <a:solidFill>
                  <a:srgbClr val="E8F0FE"/>
                </a:solidFill>
                <a:latin typeface="Segoe UI"/>
              </a:rPr>
              <a:t>Adatbázis relációs diagram</a:t>
            </a:r>
            <a:endParaRPr sz="2600" b="1" i="0" dirty="0">
              <a:solidFill>
                <a:srgbClr val="E8F0FE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12 / 15</a:t>
            </a:r>
          </a:p>
        </p:txBody>
      </p:sp>
      <p:pic>
        <p:nvPicPr>
          <p:cNvPr id="9" name="Ábra 8">
            <a:extLst>
              <a:ext uri="{FF2B5EF4-FFF2-40B4-BE49-F238E27FC236}">
                <a16:creationId xmlns:a16="http://schemas.microsoft.com/office/drawing/2014/main" id="{7B6FF6BA-3664-4853-A6FA-01198B0BC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7484" y="1106424"/>
            <a:ext cx="9086988" cy="556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14082" y="333980"/>
            <a:ext cx="796065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4FC3F7"/>
                </a:solidFill>
                <a:latin typeface="Segoe UI"/>
              </a:rPr>
              <a:t>-  SERVER.JS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7455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 err="1">
                <a:solidFill>
                  <a:srgbClr val="E8F0FE"/>
                </a:solidFill>
                <a:latin typeface="Segoe UI"/>
              </a:rPr>
              <a:t>Szerver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 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inicializ</a:t>
            </a:r>
            <a:r>
              <a:rPr lang="hu-HU" sz="2600" b="1" i="0" dirty="0">
                <a:solidFill>
                  <a:srgbClr val="E8F0FE"/>
                </a:solidFill>
                <a:latin typeface="Segoe UI"/>
              </a:rPr>
              <a:t>á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l</a:t>
            </a:r>
            <a:r>
              <a:rPr lang="hu-HU" sz="2600" b="1" i="0" dirty="0">
                <a:solidFill>
                  <a:srgbClr val="E8F0FE"/>
                </a:solidFill>
                <a:latin typeface="Segoe UI"/>
              </a:rPr>
              <a:t>á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sa</a:t>
            </a:r>
            <a:endParaRPr sz="2600" b="1" i="0" dirty="0">
              <a:solidFill>
                <a:srgbClr val="E8F0FE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5257800"/>
          </a:xfrm>
          <a:prstGeom prst="rect">
            <a:avLst/>
          </a:prstGeom>
          <a:solidFill>
            <a:srgbClr val="05101A"/>
          </a:solidFill>
          <a:ln w="12700">
            <a:solidFill>
              <a:srgbClr val="1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1000232" cy="5038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require</a:t>
            </a:r>
            <a:r>
              <a:rPr sz="1100">
                <a:solidFill>
                  <a:srgbClr val="B0BEC5"/>
                </a:solidFill>
                <a:latin typeface="Cascadia Code"/>
              </a:rPr>
              <a:t>('dotenv').config();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express  </a:t>
            </a:r>
            <a:r>
              <a:rPr sz="1100">
                <a:solidFill>
                  <a:srgbClr val="B0BEC5"/>
                </a:solidFill>
                <a:latin typeface="Cascadia Code"/>
              </a:rPr>
              <a:t>= </a:t>
            </a:r>
            <a:r>
              <a:rPr sz="1100">
                <a:solidFill>
                  <a:srgbClr val="CE93D8"/>
                </a:solidFill>
                <a:latin typeface="Cascadia Code"/>
              </a:rPr>
              <a:t>require</a:t>
            </a:r>
            <a:r>
              <a:rPr sz="1100">
                <a:solidFill>
                  <a:srgbClr val="B0BEC5"/>
                </a:solidFill>
                <a:latin typeface="Cascadia Code"/>
              </a:rPr>
              <a:t>('express');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Database </a:t>
            </a:r>
            <a:r>
              <a:rPr sz="1100">
                <a:solidFill>
                  <a:srgbClr val="B0BEC5"/>
                </a:solidFill>
                <a:latin typeface="Cascadia Code"/>
              </a:rPr>
              <a:t>= </a:t>
            </a:r>
            <a:r>
              <a:rPr sz="1100">
                <a:solidFill>
                  <a:srgbClr val="CE93D8"/>
                </a:solidFill>
                <a:latin typeface="Cascadia Code"/>
              </a:rPr>
              <a:t>require</a:t>
            </a:r>
            <a:r>
              <a:rPr sz="1100">
                <a:solidFill>
                  <a:srgbClr val="B0BEC5"/>
                </a:solidFill>
                <a:latin typeface="Cascadia Code"/>
              </a:rPr>
              <a:t>('better-sqlite3');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bcrypt   </a:t>
            </a:r>
            <a:r>
              <a:rPr sz="1100">
                <a:solidFill>
                  <a:srgbClr val="B0BEC5"/>
                </a:solidFill>
                <a:latin typeface="Cascadia Code"/>
              </a:rPr>
              <a:t>= </a:t>
            </a:r>
            <a:r>
              <a:rPr sz="1100">
                <a:solidFill>
                  <a:srgbClr val="CE93D8"/>
                </a:solidFill>
                <a:latin typeface="Cascadia Code"/>
              </a:rPr>
              <a:t>require</a:t>
            </a:r>
            <a:r>
              <a:rPr sz="1100">
                <a:solidFill>
                  <a:srgbClr val="B0BEC5"/>
                </a:solidFill>
                <a:latin typeface="Cascadia Code"/>
              </a:rPr>
              <a:t>('bcryptjs');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jwt      </a:t>
            </a:r>
            <a:r>
              <a:rPr sz="1100">
                <a:solidFill>
                  <a:srgbClr val="B0BEC5"/>
                </a:solidFill>
                <a:latin typeface="Cascadia Code"/>
              </a:rPr>
              <a:t>= </a:t>
            </a:r>
            <a:r>
              <a:rPr sz="1100">
                <a:solidFill>
                  <a:srgbClr val="CE93D8"/>
                </a:solidFill>
                <a:latin typeface="Cascadia Code"/>
              </a:rPr>
              <a:t>require</a:t>
            </a:r>
            <a:r>
              <a:rPr sz="1100">
                <a:solidFill>
                  <a:srgbClr val="B0BEC5"/>
                </a:solidFill>
                <a:latin typeface="Cascadia Code"/>
              </a:rPr>
              <a:t>('jsonwebtoken');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PORT       </a:t>
            </a:r>
            <a:r>
              <a:rPr sz="1100">
                <a:solidFill>
                  <a:srgbClr val="B0BEC5"/>
                </a:solidFill>
                <a:latin typeface="Cascadia Code"/>
              </a:rPr>
              <a:t>= process.env.PORT || </a:t>
            </a:r>
            <a:r>
              <a:rPr sz="1100">
                <a:solidFill>
                  <a:srgbClr val="FFD54F"/>
                </a:solidFill>
                <a:latin typeface="Cascadia Code"/>
              </a:rPr>
              <a:t>3000</a:t>
            </a:r>
            <a:r>
              <a:rPr sz="1100">
                <a:solidFill>
                  <a:srgbClr val="B0BEC5"/>
                </a:solidFill>
                <a:latin typeface="Cascadia Code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JWT_SECRET </a:t>
            </a:r>
            <a:r>
              <a:rPr sz="1100">
                <a:solidFill>
                  <a:srgbClr val="B0BEC5"/>
                </a:solidFill>
                <a:latin typeface="Cascadia Code"/>
              </a:rPr>
              <a:t>= process.env.JWT_SECRET;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DB_PATH    </a:t>
            </a:r>
            <a:r>
              <a:rPr sz="1100">
                <a:solidFill>
                  <a:srgbClr val="B0BEC5"/>
                </a:solidFill>
                <a:latin typeface="Cascadia Code"/>
              </a:rPr>
              <a:t>= process.env.DB_PATH || </a:t>
            </a:r>
            <a:r>
              <a:rPr sz="1100">
                <a:solidFill>
                  <a:srgbClr val="FFD54F"/>
                </a:solidFill>
                <a:latin typeface="Cascadia Code"/>
              </a:rPr>
              <a:t>'./hibabejelento.db'</a:t>
            </a:r>
            <a:r>
              <a:rPr sz="1100">
                <a:solidFill>
                  <a:srgbClr val="B0BEC5"/>
                </a:solidFill>
                <a:latin typeface="Cascadia Code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app </a:t>
            </a:r>
            <a:r>
              <a:rPr sz="1100">
                <a:solidFill>
                  <a:srgbClr val="B0BEC5"/>
                </a:solidFill>
                <a:latin typeface="Cascadia Code"/>
              </a:rPr>
              <a:t>= </a:t>
            </a:r>
            <a:r>
              <a:rPr sz="1100">
                <a:solidFill>
                  <a:srgbClr val="69F0AE"/>
                </a:solidFill>
                <a:latin typeface="Cascadia Code"/>
              </a:rPr>
              <a:t>express</a:t>
            </a:r>
            <a:r>
              <a:rPr sz="1100">
                <a:solidFill>
                  <a:srgbClr val="B0BEC5"/>
                </a:solidFill>
                <a:latin typeface="Cascadia Code"/>
              </a:rPr>
              <a:t>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9F0AE"/>
                </a:solidFill>
                <a:latin typeface="Cascadia Code"/>
              </a:rPr>
              <a:t>app.use</a:t>
            </a:r>
            <a:r>
              <a:rPr sz="1100">
                <a:solidFill>
                  <a:srgbClr val="B0BEC5"/>
                </a:solidFill>
                <a:latin typeface="Cascadia Code"/>
              </a:rPr>
              <a:t>(express.json());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9F0AE"/>
                </a:solidFill>
                <a:latin typeface="Cascadia Code"/>
              </a:rPr>
              <a:t>app.use</a:t>
            </a:r>
            <a:r>
              <a:rPr sz="1100">
                <a:solidFill>
                  <a:srgbClr val="B0BEC5"/>
                </a:solidFill>
                <a:latin typeface="Cascadia Code"/>
              </a:rPr>
              <a:t>(express.static(</a:t>
            </a:r>
            <a:r>
              <a:rPr sz="1100">
                <a:solidFill>
                  <a:srgbClr val="FFD54F"/>
                </a:solidFill>
                <a:latin typeface="Cascadia Code"/>
              </a:rPr>
              <a:t>"public"</a:t>
            </a:r>
            <a:r>
              <a:rPr sz="1100">
                <a:solidFill>
                  <a:srgbClr val="B0BEC5"/>
                </a:solidFill>
                <a:latin typeface="Cascadia Code"/>
              </a:rPr>
              <a:t>));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07D8B"/>
                </a:solidFill>
                <a:latin typeface="Cascadia Code"/>
              </a:rPr>
              <a:t>// Adatbazis - better-sqlite3 (szinkron API)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db </a:t>
            </a:r>
            <a:r>
              <a:rPr sz="1100">
                <a:solidFill>
                  <a:srgbClr val="B0BEC5"/>
                </a:solidFill>
                <a:latin typeface="Cascadia Code"/>
              </a:rPr>
              <a:t>= </a:t>
            </a:r>
            <a:r>
              <a:rPr sz="1100">
                <a:solidFill>
                  <a:srgbClr val="CE93D8"/>
                </a:solidFill>
                <a:latin typeface="Cascadia Code"/>
              </a:rPr>
              <a:t>new </a:t>
            </a:r>
            <a:r>
              <a:rPr sz="1100">
                <a:solidFill>
                  <a:srgbClr val="69F0AE"/>
                </a:solidFill>
                <a:latin typeface="Cascadia Code"/>
              </a:rPr>
              <a:t>Database</a:t>
            </a:r>
            <a:r>
              <a:rPr sz="1100">
                <a:solidFill>
                  <a:srgbClr val="B0BEC5"/>
                </a:solidFill>
                <a:latin typeface="Cascadia Code"/>
              </a:rPr>
              <a:t>(DB_PATH);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db.pragma(</a:t>
            </a:r>
            <a:r>
              <a:rPr sz="1100">
                <a:solidFill>
                  <a:srgbClr val="FFD54F"/>
                </a:solidFill>
                <a:latin typeface="Cascadia Code"/>
              </a:rPr>
              <a:t>'foreign_keys = ON'</a:t>
            </a:r>
            <a:r>
              <a:rPr sz="1100">
                <a:solidFill>
                  <a:srgbClr val="B0BEC5"/>
                </a:solidFill>
                <a:latin typeface="Cascadia Code"/>
              </a:rPr>
              <a:t>);  </a:t>
            </a:r>
            <a:r>
              <a:rPr sz="1100">
                <a:solidFill>
                  <a:srgbClr val="607D8B"/>
                </a:solidFill>
                <a:latin typeface="Cascadia Code"/>
              </a:rPr>
              <a:t>// Kaszkad-torlés megakadalyozasa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db.pragma(</a:t>
            </a:r>
            <a:r>
              <a:rPr sz="1100">
                <a:solidFill>
                  <a:srgbClr val="FFD54F"/>
                </a:solidFill>
                <a:latin typeface="Cascadia Code"/>
              </a:rPr>
              <a:t>'journal_mode = WAL'</a:t>
            </a:r>
            <a:r>
              <a:rPr sz="1100">
                <a:solidFill>
                  <a:srgbClr val="B0BEC5"/>
                </a:solidFill>
                <a:latin typeface="Cascadia Code"/>
              </a:rPr>
              <a:t>);  </a:t>
            </a:r>
            <a:r>
              <a:rPr sz="1100">
                <a:solidFill>
                  <a:srgbClr val="607D8B"/>
                </a:solidFill>
                <a:latin typeface="Cascadia Code"/>
              </a:rPr>
              <a:t>// Jobb teljesitmeny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9F0AE"/>
                </a:solidFill>
                <a:latin typeface="Cascadia Code"/>
              </a:rPr>
              <a:t>app.listen</a:t>
            </a:r>
            <a:r>
              <a:rPr sz="1100">
                <a:solidFill>
                  <a:srgbClr val="B0BEC5"/>
                </a:solidFill>
                <a:latin typeface="Cascadia Code"/>
              </a:rPr>
              <a:t>(PORT, () =&gt; console.log(</a:t>
            </a:r>
            <a:r>
              <a:rPr sz="1100">
                <a:solidFill>
                  <a:srgbClr val="FFD54F"/>
                </a:solidFill>
                <a:latin typeface="Cascadia Code"/>
              </a:rPr>
              <a:t>`Szerver fut: http://localhost:${PORT}`</a:t>
            </a:r>
            <a:r>
              <a:rPr sz="1100">
                <a:solidFill>
                  <a:srgbClr val="B0BEC5"/>
                </a:solidFill>
                <a:latin typeface="Cascadia Code"/>
              </a:rPr>
              <a:t>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5 / 15</a:t>
            </a: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6ED3FEE7-A238-47E3-AEC5-920EFEA3F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9633" y="1297115"/>
            <a:ext cx="3341807" cy="5134327"/>
          </a:xfrm>
          <a:prstGeom prst="rect">
            <a:avLst/>
          </a:prstGeom>
        </p:spPr>
      </p:pic>
      <p:sp>
        <p:nvSpPr>
          <p:cNvPr id="12" name="Szövegdoboz 11">
            <a:extLst>
              <a:ext uri="{FF2B5EF4-FFF2-40B4-BE49-F238E27FC236}">
                <a16:creationId xmlns:a16="http://schemas.microsoft.com/office/drawing/2014/main" id="{830AB314-DA08-4381-8DAC-86BEBBE06019}"/>
              </a:ext>
            </a:extLst>
          </p:cNvPr>
          <p:cNvSpPr txBox="1"/>
          <p:nvPr/>
        </p:nvSpPr>
        <p:spPr>
          <a:xfrm>
            <a:off x="457201" y="256032"/>
            <a:ext cx="1900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rgbClr val="4FC3F7"/>
                </a:solidFill>
                <a:latin typeface="Segoe UI"/>
              </a:rPr>
              <a:t>BACKEND KÓD</a:t>
            </a:r>
            <a:endParaRPr lang="hu-H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4FC3F7"/>
                </a:solidFill>
                <a:latin typeface="Segoe UI"/>
              </a:rPr>
              <a:t>BACKEND K</a:t>
            </a:r>
            <a:r>
              <a:rPr lang="hu-HU" sz="900" b="1" i="0" dirty="0">
                <a:solidFill>
                  <a:srgbClr val="4FC3F7"/>
                </a:solidFill>
                <a:latin typeface="Segoe UI"/>
              </a:rPr>
              <a:t>Ó</a:t>
            </a:r>
            <a:r>
              <a:rPr sz="900" b="1" i="0" dirty="0">
                <a:solidFill>
                  <a:srgbClr val="4FC3F7"/>
                </a:solidFill>
                <a:latin typeface="Segoe UI"/>
              </a:rPr>
              <a:t>D  -  SERVER.JS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7455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E8F0FE"/>
                </a:solidFill>
                <a:latin typeface="Segoe UI"/>
              </a:rPr>
              <a:t>JWT 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hiteles</a:t>
            </a:r>
            <a:r>
              <a:rPr lang="hu-HU" sz="2600" b="1" i="0" dirty="0">
                <a:solidFill>
                  <a:srgbClr val="E8F0FE"/>
                </a:solidFill>
                <a:latin typeface="Segoe UI"/>
              </a:rPr>
              <a:t>í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t</a:t>
            </a:r>
            <a:r>
              <a:rPr lang="hu-HU" sz="2600" b="1" i="0" dirty="0">
                <a:solidFill>
                  <a:srgbClr val="E8F0FE"/>
                </a:solidFill>
                <a:latin typeface="Segoe UI"/>
              </a:rPr>
              <a:t>és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i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 middleware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5257800"/>
          </a:xfrm>
          <a:prstGeom prst="rect">
            <a:avLst/>
          </a:prstGeom>
          <a:solidFill>
            <a:srgbClr val="05101A"/>
          </a:solidFill>
          <a:ln w="12700">
            <a:solidFill>
              <a:srgbClr val="1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1000232" cy="5038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607D8B"/>
                </a:solidFill>
                <a:latin typeface="Cascadia Code"/>
              </a:rPr>
              <a:t>// Middleware: JWT token </a:t>
            </a:r>
            <a:r>
              <a:rPr sz="1100" dirty="0" err="1">
                <a:solidFill>
                  <a:srgbClr val="607D8B"/>
                </a:solidFill>
                <a:latin typeface="Cascadia Code"/>
              </a:rPr>
              <a:t>ellenorzese</a:t>
            </a:r>
            <a:r>
              <a:rPr sz="1100" dirty="0">
                <a:solidFill>
                  <a:srgbClr val="607D8B"/>
                </a:solidFill>
                <a:latin typeface="Cascadia Code"/>
              </a:rPr>
              <a:t> </a:t>
            </a:r>
            <a:r>
              <a:rPr sz="1100" dirty="0" err="1">
                <a:solidFill>
                  <a:srgbClr val="607D8B"/>
                </a:solidFill>
                <a:latin typeface="Cascadia Code"/>
              </a:rPr>
              <a:t>minden</a:t>
            </a:r>
            <a:r>
              <a:rPr sz="1100" dirty="0">
                <a:solidFill>
                  <a:srgbClr val="607D8B"/>
                </a:solidFill>
                <a:latin typeface="Cascadia Code"/>
              </a:rPr>
              <a:t> </a:t>
            </a:r>
            <a:r>
              <a:rPr sz="1100" dirty="0" err="1">
                <a:solidFill>
                  <a:srgbClr val="607D8B"/>
                </a:solidFill>
                <a:latin typeface="Cascadia Code"/>
              </a:rPr>
              <a:t>vedett</a:t>
            </a:r>
            <a:r>
              <a:rPr sz="1100" dirty="0">
                <a:solidFill>
                  <a:srgbClr val="607D8B"/>
                </a:solidFill>
                <a:latin typeface="Cascadia Code"/>
              </a:rPr>
              <a:t> </a:t>
            </a:r>
            <a:r>
              <a:rPr sz="1100" dirty="0" err="1">
                <a:solidFill>
                  <a:srgbClr val="607D8B"/>
                </a:solidFill>
                <a:latin typeface="Cascadia Code"/>
              </a:rPr>
              <a:t>vegponton</a:t>
            </a:r>
            <a:endParaRPr sz="1100" dirty="0">
              <a:solidFill>
                <a:srgbClr val="607D8B"/>
              </a:solidFill>
              <a:latin typeface="Cascadia Code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93D8"/>
                </a:solidFill>
                <a:latin typeface="Cascadia Code"/>
              </a:rPr>
              <a:t>function </a:t>
            </a:r>
            <a:r>
              <a:rPr sz="1100" dirty="0" err="1">
                <a:solidFill>
                  <a:srgbClr val="69F0AE"/>
                </a:solidFill>
                <a:latin typeface="Cascadia Code"/>
              </a:rPr>
              <a:t>authenticateToken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(req, res, next)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 dirty="0" err="1">
                <a:solidFill>
                  <a:srgbClr val="E8F0FE"/>
                </a:solidFill>
                <a:latin typeface="Cascadia Code"/>
              </a:rPr>
              <a:t>authHeader</a:t>
            </a:r>
            <a:r>
              <a:rPr sz="1100" dirty="0">
                <a:solidFill>
                  <a:srgbClr val="E8F0FE"/>
                </a:solidFill>
                <a:latin typeface="Cascadia Code"/>
              </a:rPr>
              <a:t> 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=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req.headers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[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'authorization'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];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 dirty="0">
                <a:solidFill>
                  <a:srgbClr val="E8F0FE"/>
                </a:solidFill>
                <a:latin typeface="Cascadia Code"/>
              </a:rPr>
              <a:t>token 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=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authHeader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 &amp;&amp;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authHeader.split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' '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)[1];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93D8"/>
                </a:solidFill>
                <a:latin typeface="Cascadia Code"/>
              </a:rPr>
              <a:t>  if 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(!token)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B0BEC5"/>
                </a:solidFill>
                <a:latin typeface="Cascadia Code"/>
              </a:rPr>
              <a:t>    return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res.status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</a:t>
            </a:r>
            <a:r>
              <a:rPr sz="1100" dirty="0">
                <a:solidFill>
                  <a:srgbClr val="FF8A80"/>
                </a:solidFill>
                <a:latin typeface="Cascadia Code"/>
              </a:rPr>
              <a:t>401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).json({ error: 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'</a:t>
            </a:r>
            <a:r>
              <a:rPr sz="1100" dirty="0" err="1">
                <a:solidFill>
                  <a:srgbClr val="FFD54F"/>
                </a:solidFill>
                <a:latin typeface="Cascadia Code"/>
              </a:rPr>
              <a:t>Hianyzo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 token.'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69F0AE"/>
                </a:solidFill>
                <a:latin typeface="Cascadia Code"/>
              </a:rPr>
              <a:t>  </a:t>
            </a:r>
            <a:r>
              <a:rPr sz="1100" dirty="0" err="1">
                <a:solidFill>
                  <a:srgbClr val="69F0AE"/>
                </a:solidFill>
                <a:latin typeface="Cascadia Code"/>
              </a:rPr>
              <a:t>jwt.verify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(token, JWT_SECRET, (err, user)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93D8"/>
                </a:solidFill>
                <a:latin typeface="Cascadia Code"/>
              </a:rPr>
              <a:t>    if 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(err) return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res.status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</a:t>
            </a:r>
            <a:r>
              <a:rPr sz="1100" dirty="0">
                <a:solidFill>
                  <a:srgbClr val="FF8A80"/>
                </a:solidFill>
                <a:latin typeface="Cascadia Code"/>
              </a:rPr>
              <a:t>403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).json({ error: 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'</a:t>
            </a:r>
            <a:r>
              <a:rPr sz="1100" dirty="0" err="1">
                <a:solidFill>
                  <a:srgbClr val="FFD54F"/>
                </a:solidFill>
                <a:latin typeface="Cascadia Code"/>
              </a:rPr>
              <a:t>Ervénytelen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 token.'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8F0FE"/>
                </a:solidFill>
                <a:latin typeface="Cascadia Code"/>
              </a:rPr>
              <a:t>    </a:t>
            </a:r>
            <a:r>
              <a:rPr sz="1100" dirty="0" err="1">
                <a:solidFill>
                  <a:srgbClr val="E8F0FE"/>
                </a:solidFill>
                <a:latin typeface="Cascadia Code"/>
              </a:rPr>
              <a:t>req.user</a:t>
            </a:r>
            <a:r>
              <a:rPr sz="1100" dirty="0">
                <a:solidFill>
                  <a:srgbClr val="E8F0FE"/>
                </a:solidFill>
                <a:latin typeface="Cascadia Code"/>
              </a:rPr>
              <a:t> 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= user;  </a:t>
            </a:r>
            <a:r>
              <a:rPr sz="1100" dirty="0">
                <a:solidFill>
                  <a:srgbClr val="607D8B"/>
                </a:solidFill>
                <a:latin typeface="Cascadia Code"/>
              </a:rPr>
              <a:t>// { id, </a:t>
            </a:r>
            <a:r>
              <a:rPr sz="1100" dirty="0" err="1">
                <a:solidFill>
                  <a:srgbClr val="607D8B"/>
                </a:solidFill>
                <a:latin typeface="Cascadia Code"/>
              </a:rPr>
              <a:t>felhasznalonev</a:t>
            </a:r>
            <a:r>
              <a:rPr sz="1100" dirty="0">
                <a:solidFill>
                  <a:srgbClr val="607D8B"/>
                </a:solidFill>
                <a:latin typeface="Cascadia Code"/>
              </a:rPr>
              <a:t>, </a:t>
            </a:r>
            <a:r>
              <a:rPr sz="1100" dirty="0" err="1">
                <a:solidFill>
                  <a:srgbClr val="607D8B"/>
                </a:solidFill>
                <a:latin typeface="Cascadia Code"/>
              </a:rPr>
              <a:t>szerep</a:t>
            </a:r>
            <a:r>
              <a:rPr sz="1100" dirty="0">
                <a:solidFill>
                  <a:srgbClr val="607D8B"/>
                </a:solidFill>
                <a:latin typeface="Cascadia Code"/>
              </a:rPr>
              <a:t>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B0BEC5"/>
                </a:solidFill>
                <a:latin typeface="Cascadia Code"/>
              </a:rPr>
              <a:t>    next();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B0BEC5"/>
                </a:solidFill>
                <a:latin typeface="Cascadia Code"/>
              </a:rPr>
              <a:t> 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B0BEC5"/>
                </a:solidFill>
                <a:latin typeface="Cascadia Code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607D8B"/>
                </a:solidFill>
                <a:latin typeface="Cascadia Code"/>
              </a:rPr>
              <a:t>// </a:t>
            </a:r>
            <a:r>
              <a:rPr sz="1100" dirty="0" err="1">
                <a:solidFill>
                  <a:srgbClr val="607D8B"/>
                </a:solidFill>
                <a:latin typeface="Cascadia Code"/>
              </a:rPr>
              <a:t>Hasznalat</a:t>
            </a:r>
            <a:r>
              <a:rPr sz="1100" dirty="0">
                <a:solidFill>
                  <a:srgbClr val="607D8B"/>
                </a:solidFill>
                <a:latin typeface="Cascadia Code"/>
              </a:rPr>
              <a:t>: </a:t>
            </a:r>
            <a:r>
              <a:rPr sz="1100" dirty="0" err="1">
                <a:solidFill>
                  <a:srgbClr val="607D8B"/>
                </a:solidFill>
                <a:latin typeface="Cascadia Code"/>
              </a:rPr>
              <a:t>minden</a:t>
            </a:r>
            <a:r>
              <a:rPr sz="1100" dirty="0">
                <a:solidFill>
                  <a:srgbClr val="607D8B"/>
                </a:solidFill>
                <a:latin typeface="Cascadia Code"/>
              </a:rPr>
              <a:t> </a:t>
            </a:r>
            <a:r>
              <a:rPr sz="1100" dirty="0" err="1">
                <a:solidFill>
                  <a:srgbClr val="607D8B"/>
                </a:solidFill>
                <a:latin typeface="Cascadia Code"/>
              </a:rPr>
              <a:t>vedett</a:t>
            </a:r>
            <a:r>
              <a:rPr sz="1100" dirty="0">
                <a:solidFill>
                  <a:srgbClr val="607D8B"/>
                </a:solidFill>
                <a:latin typeface="Cascadia Code"/>
              </a:rPr>
              <a:t> </a:t>
            </a:r>
            <a:r>
              <a:rPr sz="1100" dirty="0" err="1">
                <a:solidFill>
                  <a:srgbClr val="607D8B"/>
                </a:solidFill>
                <a:latin typeface="Cascadia Code"/>
              </a:rPr>
              <a:t>vegponton</a:t>
            </a:r>
            <a:r>
              <a:rPr sz="1100" dirty="0">
                <a:solidFill>
                  <a:srgbClr val="607D8B"/>
                </a:solidFill>
                <a:latin typeface="Cascadia Code"/>
              </a:rPr>
              <a:t> </a:t>
            </a:r>
            <a:r>
              <a:rPr sz="1100" dirty="0" err="1">
                <a:solidFill>
                  <a:srgbClr val="607D8B"/>
                </a:solidFill>
                <a:latin typeface="Cascadia Code"/>
              </a:rPr>
              <a:t>masodik</a:t>
            </a:r>
            <a:r>
              <a:rPr sz="1100" dirty="0">
                <a:solidFill>
                  <a:srgbClr val="607D8B"/>
                </a:solidFill>
                <a:latin typeface="Cascadia Code"/>
              </a:rPr>
              <a:t> parameter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 err="1">
                <a:solidFill>
                  <a:srgbClr val="69F0AE"/>
                </a:solidFill>
                <a:latin typeface="Cascadia Code"/>
              </a:rPr>
              <a:t>app.get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('/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api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/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hibak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', </a:t>
            </a:r>
            <a:r>
              <a:rPr sz="1100" dirty="0" err="1">
                <a:solidFill>
                  <a:srgbClr val="82B1FF"/>
                </a:solidFill>
                <a:latin typeface="Cascadia Code"/>
              </a:rPr>
              <a:t>authenticateToken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, async (req, res)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607D8B"/>
                </a:solidFill>
                <a:latin typeface="Cascadia Code"/>
              </a:rPr>
              <a:t>  // </a:t>
            </a:r>
            <a:r>
              <a:rPr sz="1100" dirty="0" err="1">
                <a:solidFill>
                  <a:srgbClr val="607D8B"/>
                </a:solidFill>
                <a:latin typeface="Cascadia Code"/>
              </a:rPr>
              <a:t>req.user</a:t>
            </a:r>
            <a:r>
              <a:rPr sz="1100" dirty="0">
                <a:solidFill>
                  <a:srgbClr val="607D8B"/>
                </a:solidFill>
                <a:latin typeface="Cascadia Code"/>
              </a:rPr>
              <a:t> mar </a:t>
            </a:r>
            <a:r>
              <a:rPr sz="1100" dirty="0" err="1">
                <a:solidFill>
                  <a:srgbClr val="607D8B"/>
                </a:solidFill>
                <a:latin typeface="Cascadia Code"/>
              </a:rPr>
              <a:t>tartalmazza</a:t>
            </a:r>
            <a:r>
              <a:rPr sz="1100" dirty="0">
                <a:solidFill>
                  <a:srgbClr val="607D8B"/>
                </a:solidFill>
                <a:latin typeface="Cascadia Code"/>
              </a:rPr>
              <a:t> a JWT </a:t>
            </a:r>
            <a:r>
              <a:rPr sz="1100" dirty="0" err="1">
                <a:solidFill>
                  <a:srgbClr val="607D8B"/>
                </a:solidFill>
                <a:latin typeface="Cascadia Code"/>
              </a:rPr>
              <a:t>adatait</a:t>
            </a:r>
            <a:endParaRPr sz="1100" dirty="0">
              <a:solidFill>
                <a:srgbClr val="607D8B"/>
              </a:solidFill>
              <a:latin typeface="Cascadia Code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B0BEC5"/>
                </a:solidFill>
                <a:latin typeface="Cascadia Code"/>
              </a:rPr>
              <a:t>  const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hibak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 =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dbAll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('SELECT * FROM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hibak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 ORDER BY datum DESC');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B0BEC5"/>
                </a:solidFill>
                <a:latin typeface="Cascadia Code"/>
              </a:rPr>
              <a:t> 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res.json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hibak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B0BEC5"/>
                </a:solidFill>
                <a:latin typeface="Cascadia Code"/>
              </a:rPr>
              <a:t>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6 / 15</a:t>
            </a:r>
          </a:p>
        </p:txBody>
      </p:sp>
      <p:pic>
        <p:nvPicPr>
          <p:cNvPr id="15" name="Kép 14">
            <a:extLst>
              <a:ext uri="{FF2B5EF4-FFF2-40B4-BE49-F238E27FC236}">
                <a16:creationId xmlns:a16="http://schemas.microsoft.com/office/drawing/2014/main" id="{01CE0442-B214-423E-986D-F67747D3E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533" y="1297115"/>
            <a:ext cx="4114907" cy="52225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4FC3F7"/>
                </a:solidFill>
                <a:latin typeface="Segoe UI"/>
              </a:rPr>
              <a:t>BACKEND K</a:t>
            </a:r>
            <a:r>
              <a:rPr lang="hu-HU" sz="900" b="1" i="0" dirty="0">
                <a:solidFill>
                  <a:srgbClr val="4FC3F7"/>
                </a:solidFill>
                <a:latin typeface="Segoe UI"/>
              </a:rPr>
              <a:t>Ó</a:t>
            </a:r>
            <a:r>
              <a:rPr sz="900" b="1" i="0" dirty="0">
                <a:solidFill>
                  <a:srgbClr val="4FC3F7"/>
                </a:solidFill>
                <a:latin typeface="Segoe UI"/>
              </a:rPr>
              <a:t>D  -  SERVER.JS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7455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E8F0FE"/>
                </a:solidFill>
                <a:latin typeface="Segoe UI"/>
              </a:rPr>
              <a:t>POST /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api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/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hibak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  -  Hiba 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bejelent</a:t>
            </a:r>
            <a:r>
              <a:rPr lang="hu-HU" sz="2600" b="1" i="0" dirty="0">
                <a:solidFill>
                  <a:srgbClr val="E8F0FE"/>
                </a:solidFill>
                <a:latin typeface="Segoe UI"/>
              </a:rPr>
              <a:t>é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5257800"/>
          </a:xfrm>
          <a:prstGeom prst="rect">
            <a:avLst/>
          </a:prstGeom>
          <a:solidFill>
            <a:srgbClr val="05101A"/>
          </a:solidFill>
          <a:ln w="12700">
            <a:solidFill>
              <a:srgbClr val="1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1000232" cy="5038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9F0AE"/>
                </a:solidFill>
                <a:latin typeface="Cascadia Code"/>
              </a:rPr>
              <a:t>app.post</a:t>
            </a:r>
            <a:r>
              <a:rPr sz="1100">
                <a:solidFill>
                  <a:srgbClr val="B0BEC5"/>
                </a:solidFill>
                <a:latin typeface="Cascadia Code"/>
              </a:rPr>
              <a:t>('/api/hibak', </a:t>
            </a:r>
            <a:r>
              <a:rPr sz="1100">
                <a:solidFill>
                  <a:srgbClr val="82B1FF"/>
                </a:solidFill>
                <a:latin typeface="Cascadia Code"/>
              </a:rPr>
              <a:t>authenticateToken</a:t>
            </a:r>
            <a:r>
              <a:rPr sz="1100">
                <a:solidFill>
                  <a:srgbClr val="B0BEC5"/>
                </a:solidFill>
                <a:latin typeface="Cascadia Code"/>
              </a:rPr>
              <a:t>, async (req, res)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{ terem, leiras } </a:t>
            </a:r>
            <a:r>
              <a:rPr sz="1100">
                <a:solidFill>
                  <a:srgbClr val="B0BEC5"/>
                </a:solidFill>
                <a:latin typeface="Cascadia Code"/>
              </a:rPr>
              <a:t>= req.body;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currentUser </a:t>
            </a:r>
            <a:r>
              <a:rPr sz="1100">
                <a:solidFill>
                  <a:srgbClr val="B0BEC5"/>
                </a:solidFill>
                <a:latin typeface="Cascadia Code"/>
              </a:rPr>
              <a:t>= req.user;  </a:t>
            </a:r>
            <a:r>
              <a:rPr sz="1100">
                <a:solidFill>
                  <a:srgbClr val="607D8B"/>
                </a:solidFill>
                <a:latin typeface="Cascadia Code"/>
              </a:rPr>
              <a:t>// JWT-bol dekodolva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07D8B"/>
                </a:solidFill>
                <a:latin typeface="Cascadia Code"/>
              </a:rPr>
              <a:t>  // Jogosultsag ellenorzés: csak tanar vagy admin rogzithet hibat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if </a:t>
            </a:r>
            <a:r>
              <a:rPr sz="1100">
                <a:solidFill>
                  <a:srgbClr val="B0BEC5"/>
                </a:solidFill>
                <a:latin typeface="Cascadia Code"/>
              </a:rPr>
              <a:t>(currentUser.szerep !== </a:t>
            </a:r>
            <a:r>
              <a:rPr sz="1100">
                <a:solidFill>
                  <a:srgbClr val="FFD54F"/>
                </a:solidFill>
                <a:latin typeface="Cascadia Code"/>
              </a:rPr>
              <a:t>'tanar'</a:t>
            </a:r>
            <a:r>
              <a:rPr sz="1100">
                <a:solidFill>
                  <a:srgbClr val="B0BEC5"/>
                </a:solidFill>
                <a:latin typeface="Cascadia Code"/>
              </a:rPr>
              <a:t> &amp;&amp; currentUser.szerep !== </a:t>
            </a:r>
            <a:r>
              <a:rPr sz="1100">
                <a:solidFill>
                  <a:srgbClr val="FFD54F"/>
                </a:solidFill>
                <a:latin typeface="Cascadia Code"/>
              </a:rPr>
              <a:t>'admin'</a:t>
            </a:r>
            <a:r>
              <a:rPr sz="1100">
                <a:solidFill>
                  <a:srgbClr val="B0BEC5"/>
                </a:solidFill>
                <a:latin typeface="Cascadia Code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  return res.status(</a:t>
            </a:r>
            <a:r>
              <a:rPr sz="1100">
                <a:solidFill>
                  <a:srgbClr val="FF8A80"/>
                </a:solidFill>
                <a:latin typeface="Cascadia Code"/>
              </a:rPr>
              <a:t>403</a:t>
            </a:r>
            <a:r>
              <a:rPr sz="1100">
                <a:solidFill>
                  <a:srgbClr val="B0BEC5"/>
                </a:solidFill>
                <a:latin typeface="Cascadia Code"/>
              </a:rPr>
              <a:t>).json({ error: 'Nincs jogosultsaga.'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datum  </a:t>
            </a:r>
            <a:r>
              <a:rPr sz="1100">
                <a:solidFill>
                  <a:srgbClr val="B0BEC5"/>
                </a:solidFill>
                <a:latin typeface="Cascadia Code"/>
              </a:rPr>
              <a:t>= new Date().toISOString().split(</a:t>
            </a:r>
            <a:r>
              <a:rPr sz="1100">
                <a:solidFill>
                  <a:srgbClr val="FFD54F"/>
                </a:solidFill>
                <a:latin typeface="Cascadia Code"/>
              </a:rPr>
              <a:t>'T'</a:t>
            </a:r>
            <a:r>
              <a:rPr sz="1100">
                <a:solidFill>
                  <a:srgbClr val="B0BEC5"/>
                </a:solidFill>
                <a:latin typeface="Cascadia Code"/>
              </a:rPr>
              <a:t>)[0]; </a:t>
            </a:r>
            <a:r>
              <a:rPr sz="1100">
                <a:solidFill>
                  <a:srgbClr val="607D8B"/>
                </a:solidFill>
                <a:latin typeface="Cascadia Code"/>
              </a:rPr>
              <a:t>// YYYY-MM-DD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result </a:t>
            </a:r>
            <a:r>
              <a:rPr sz="1100">
                <a:solidFill>
                  <a:srgbClr val="B0BEC5"/>
                </a:solidFill>
                <a:latin typeface="Cascadia Code"/>
              </a:rPr>
              <a:t>= dbRun(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FD54F"/>
                </a:solidFill>
                <a:latin typeface="Cascadia Code"/>
              </a:rPr>
              <a:t>    'INSERT INTO hibak (datum, bejelento_id, terem, leiras, allapot) VALUES (?,?,?,?,?)',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  [datum, currentUser.id, terem, leiras, </a:t>
            </a:r>
            <a:r>
              <a:rPr sz="1100">
                <a:solidFill>
                  <a:srgbClr val="FFD54F"/>
                </a:solidFill>
                <a:latin typeface="Cascadia Code"/>
              </a:rPr>
              <a:t>'bejelentve'</a:t>
            </a:r>
            <a:r>
              <a:rPr sz="1100">
                <a:solidFill>
                  <a:srgbClr val="B0BEC5"/>
                </a:solidFill>
                <a:latin typeface="Cascadia Code"/>
              </a:rPr>
              <a:t>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07D8B"/>
                </a:solidFill>
                <a:latin typeface="Cascadia Code"/>
              </a:rPr>
              <a:t>  // Visszaadjuk az uj rekordot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ujHiba </a:t>
            </a:r>
            <a:r>
              <a:rPr sz="1100">
                <a:solidFill>
                  <a:srgbClr val="B0BEC5"/>
                </a:solidFill>
                <a:latin typeface="Cascadia Code"/>
              </a:rPr>
              <a:t>= dbGet(</a:t>
            </a:r>
            <a:r>
              <a:rPr sz="1100">
                <a:solidFill>
                  <a:srgbClr val="FFD54F"/>
                </a:solidFill>
                <a:latin typeface="Cascadia Code"/>
              </a:rPr>
              <a:t>'SELECT * FROM hibak WHERE id = ?'</a:t>
            </a:r>
            <a:r>
              <a:rPr sz="1100">
                <a:solidFill>
                  <a:srgbClr val="B0BEC5"/>
                </a:solidFill>
                <a:latin typeface="Cascadia Code"/>
              </a:rPr>
              <a:t>, [result.lastInsertRowid]);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res.status(</a:t>
            </a:r>
            <a:r>
              <a:rPr sz="1100">
                <a:solidFill>
                  <a:srgbClr val="69F0AE"/>
                </a:solidFill>
                <a:latin typeface="Cascadia Code"/>
              </a:rPr>
              <a:t>201</a:t>
            </a:r>
            <a:r>
              <a:rPr sz="1100">
                <a:solidFill>
                  <a:srgbClr val="B0BEC5"/>
                </a:solidFill>
                <a:latin typeface="Cascadia Code"/>
              </a:rPr>
              <a:t>).json(ujHiba);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8 / 15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47B06DBD-4A46-4945-B065-90F4AA412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1852" y="1297115"/>
            <a:ext cx="3049588" cy="52225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4FC3F7"/>
                </a:solidFill>
                <a:latin typeface="Segoe UI"/>
              </a:rPr>
              <a:t>BACKEND K</a:t>
            </a:r>
            <a:r>
              <a:rPr lang="hu-HU" sz="900" b="1" dirty="0">
                <a:solidFill>
                  <a:srgbClr val="4FC3F7"/>
                </a:solidFill>
                <a:latin typeface="Segoe UI"/>
              </a:rPr>
              <a:t>Ó</a:t>
            </a:r>
            <a:r>
              <a:rPr sz="900" b="1" i="0" dirty="0">
                <a:solidFill>
                  <a:srgbClr val="4FC3F7"/>
                </a:solidFill>
                <a:latin typeface="Segoe UI"/>
              </a:rPr>
              <a:t>D  -  SERVER.JS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7455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E8F0FE"/>
                </a:solidFill>
                <a:latin typeface="Segoe UI"/>
              </a:rPr>
              <a:t>POST /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api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/login  -  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Bejelentkez</a:t>
            </a:r>
            <a:r>
              <a:rPr lang="hu-HU" sz="2600" b="1" i="0" dirty="0">
                <a:solidFill>
                  <a:srgbClr val="E8F0FE"/>
                </a:solidFill>
                <a:latin typeface="Segoe UI"/>
              </a:rPr>
              <a:t>é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5257800"/>
          </a:xfrm>
          <a:prstGeom prst="rect">
            <a:avLst/>
          </a:prstGeom>
          <a:solidFill>
            <a:srgbClr val="05101A"/>
          </a:solidFill>
          <a:ln w="12700">
            <a:solidFill>
              <a:srgbClr val="1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1000232" cy="5038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9F0AE"/>
                </a:solidFill>
                <a:latin typeface="Cascadia Code"/>
              </a:rPr>
              <a:t>app.post</a:t>
            </a:r>
            <a:r>
              <a:rPr sz="1100">
                <a:solidFill>
                  <a:srgbClr val="B0BEC5"/>
                </a:solidFill>
                <a:latin typeface="Cascadia Code"/>
              </a:rPr>
              <a:t>('/api/login', async (req, res)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{ felhasznalonev, jelszo } </a:t>
            </a:r>
            <a:r>
              <a:rPr sz="1100">
                <a:solidFill>
                  <a:srgbClr val="B0BEC5"/>
                </a:solidFill>
                <a:latin typeface="Cascadia Code"/>
              </a:rPr>
              <a:t>= req.body;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if </a:t>
            </a:r>
            <a:r>
              <a:rPr sz="1100">
                <a:solidFill>
                  <a:srgbClr val="B0BEC5"/>
                </a:solidFill>
                <a:latin typeface="Cascadia Code"/>
              </a:rPr>
              <a:t>(!felhasznalonev || !jelszo) return res.status(</a:t>
            </a:r>
            <a:r>
              <a:rPr sz="1100">
                <a:solidFill>
                  <a:srgbClr val="FF8A80"/>
                </a:solidFill>
                <a:latin typeface="Cascadia Code"/>
              </a:rPr>
              <a:t>400</a:t>
            </a:r>
            <a:r>
              <a:rPr sz="1100">
                <a:solidFill>
                  <a:srgbClr val="B0BEC5"/>
                </a:solidFill>
                <a:latin typeface="Cascadia Code"/>
              </a:rPr>
              <a:t>).json(...);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07D8B"/>
                </a:solidFill>
                <a:latin typeface="Cascadia Code"/>
              </a:rPr>
              <a:t>  // 1. Felhasznalo keresese az adatbazisban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user </a:t>
            </a:r>
            <a:r>
              <a:rPr sz="1100">
                <a:solidFill>
                  <a:srgbClr val="B0BEC5"/>
                </a:solidFill>
                <a:latin typeface="Cascadia Code"/>
              </a:rPr>
              <a:t>= dbGet(</a:t>
            </a:r>
            <a:r>
              <a:rPr sz="1100">
                <a:solidFill>
                  <a:srgbClr val="FFD54F"/>
                </a:solidFill>
                <a:latin typeface="Cascadia Code"/>
              </a:rPr>
              <a:t>'SELECT * FROM felhasznalok WHERE felhasznalonev = ?'</a:t>
            </a:r>
            <a:r>
              <a:rPr sz="1100">
                <a:solidFill>
                  <a:srgbClr val="B0BEC5"/>
                </a:solidFill>
                <a:latin typeface="Cascadia Code"/>
              </a:rPr>
              <a:t>, [felhasznalonev]);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if </a:t>
            </a:r>
            <a:r>
              <a:rPr sz="1100">
                <a:solidFill>
                  <a:srgbClr val="B0BEC5"/>
                </a:solidFill>
                <a:latin typeface="Cascadia Code"/>
              </a:rPr>
              <a:t>(!user) return res.status(</a:t>
            </a:r>
            <a:r>
              <a:rPr sz="1100">
                <a:solidFill>
                  <a:srgbClr val="FF8A80"/>
                </a:solidFill>
                <a:latin typeface="Cascadia Code"/>
              </a:rPr>
              <a:t>401</a:t>
            </a:r>
            <a:r>
              <a:rPr sz="1100">
                <a:solidFill>
                  <a:srgbClr val="B0BEC5"/>
                </a:solidFill>
                <a:latin typeface="Cascadia Code"/>
              </a:rPr>
              <a:t>).json({ error: 'Hibas felhasznalonev.'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07D8B"/>
                </a:solidFill>
                <a:latin typeface="Cascadia Code"/>
              </a:rPr>
              <a:t>  // 2. Jelszo-hash ellenorzese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valid </a:t>
            </a:r>
            <a:r>
              <a:rPr sz="1100">
                <a:solidFill>
                  <a:srgbClr val="CE93D8"/>
                </a:solidFill>
                <a:latin typeface="Cascadia Code"/>
              </a:rPr>
              <a:t>= await </a:t>
            </a:r>
            <a:r>
              <a:rPr sz="1100">
                <a:solidFill>
                  <a:srgbClr val="69F0AE"/>
                </a:solidFill>
                <a:latin typeface="Cascadia Code"/>
              </a:rPr>
              <a:t>bcrypt.compare</a:t>
            </a:r>
            <a:r>
              <a:rPr sz="1100">
                <a:solidFill>
                  <a:srgbClr val="B0BEC5"/>
                </a:solidFill>
                <a:latin typeface="Cascadia Code"/>
              </a:rPr>
              <a:t>(jelszo, user.jelszo);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if </a:t>
            </a:r>
            <a:r>
              <a:rPr sz="1100">
                <a:solidFill>
                  <a:srgbClr val="B0BEC5"/>
                </a:solidFill>
                <a:latin typeface="Cascadia Code"/>
              </a:rPr>
              <a:t>(!valid) return res.status(</a:t>
            </a:r>
            <a:r>
              <a:rPr sz="1100">
                <a:solidFill>
                  <a:srgbClr val="FF8A80"/>
                </a:solidFill>
                <a:latin typeface="Cascadia Code"/>
              </a:rPr>
              <a:t>401</a:t>
            </a:r>
            <a:r>
              <a:rPr sz="1100">
                <a:solidFill>
                  <a:srgbClr val="B0BEC5"/>
                </a:solidFill>
                <a:latin typeface="Cascadia Code"/>
              </a:rPr>
              <a:t>).json({ error: 'Hibas jelszo.'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07D8B"/>
                </a:solidFill>
                <a:latin typeface="Cascadia Code"/>
              </a:rPr>
              <a:t>  // 3. JWT token generalasa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token </a:t>
            </a:r>
            <a:r>
              <a:rPr sz="1100">
                <a:solidFill>
                  <a:srgbClr val="B0BEC5"/>
                </a:solidFill>
                <a:latin typeface="Cascadia Code"/>
              </a:rPr>
              <a:t>= jwt.sign(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  { id: user.id, felhasznalonev: user.felhasznalonev, szerep: user.szerep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  JWT_SECRET, { expiresIn: </a:t>
            </a:r>
            <a:r>
              <a:rPr sz="1100">
                <a:solidFill>
                  <a:srgbClr val="FFD54F"/>
                </a:solidFill>
                <a:latin typeface="Cascadia Code"/>
              </a:rPr>
              <a:t>'1h'</a:t>
            </a:r>
            <a:r>
              <a:rPr sz="1100">
                <a:solidFill>
                  <a:srgbClr val="B0BEC5"/>
                </a:solidFill>
                <a:latin typeface="Cascadia Code"/>
              </a:rPr>
              <a:t> }  </a:t>
            </a:r>
            <a:r>
              <a:rPr sz="1100">
                <a:solidFill>
                  <a:srgbClr val="607D8B"/>
                </a:solidFill>
                <a:latin typeface="Cascadia Code"/>
              </a:rPr>
              <a:t>// 1 ora utan lejár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9F0AE"/>
                </a:solidFill>
                <a:latin typeface="Cascadia Code"/>
              </a:rPr>
              <a:t>  res.json</a:t>
            </a:r>
            <a:r>
              <a:rPr sz="1100">
                <a:solidFill>
                  <a:srgbClr val="B0BEC5"/>
                </a:solidFill>
                <a:latin typeface="Cascadia Code"/>
              </a:rPr>
              <a:t>({ token });  </a:t>
            </a:r>
            <a:r>
              <a:rPr sz="1100">
                <a:solidFill>
                  <a:srgbClr val="607D8B"/>
                </a:solidFill>
                <a:latin typeface="Cascadia Code"/>
              </a:rPr>
              <a:t>// kliens eltárolja sessionStorage-ben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7 / 15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DAED4F31-FAB0-46A9-AECE-ED5B94BD4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0368" y="1297114"/>
            <a:ext cx="2601072" cy="52225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4FC3F7"/>
                </a:solidFill>
                <a:latin typeface="Segoe UI"/>
              </a:rPr>
              <a:t>BACKEND K</a:t>
            </a:r>
            <a:r>
              <a:rPr lang="hu-HU" sz="900" b="1" dirty="0">
                <a:solidFill>
                  <a:srgbClr val="4FC3F7"/>
                </a:solidFill>
                <a:latin typeface="Segoe UI"/>
              </a:rPr>
              <a:t>Ó</a:t>
            </a:r>
            <a:r>
              <a:rPr sz="900" b="1" i="0" dirty="0">
                <a:solidFill>
                  <a:srgbClr val="4FC3F7"/>
                </a:solidFill>
                <a:latin typeface="Segoe UI"/>
              </a:rPr>
              <a:t>D  -  SERVER.JS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7455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E8F0FE"/>
                </a:solidFill>
                <a:latin typeface="Segoe UI"/>
              </a:rPr>
              <a:t>PUT /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api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/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hibak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/:id/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javitas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  -  Hiba 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jav</a:t>
            </a:r>
            <a:r>
              <a:rPr lang="hu-HU" sz="2600" b="1" i="0" dirty="0">
                <a:solidFill>
                  <a:srgbClr val="E8F0FE"/>
                </a:solidFill>
                <a:latin typeface="Segoe UI"/>
              </a:rPr>
              <a:t>í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t</a:t>
            </a:r>
            <a:r>
              <a:rPr lang="hu-HU" sz="2600" b="1" i="0" dirty="0">
                <a:solidFill>
                  <a:srgbClr val="E8F0FE"/>
                </a:solidFill>
                <a:latin typeface="Segoe UI"/>
              </a:rPr>
              <a:t>á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sa</a:t>
            </a:r>
            <a:endParaRPr sz="2600" b="1" i="0" dirty="0">
              <a:solidFill>
                <a:srgbClr val="E8F0FE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5257800"/>
          </a:xfrm>
          <a:prstGeom prst="rect">
            <a:avLst/>
          </a:prstGeom>
          <a:solidFill>
            <a:srgbClr val="05101A"/>
          </a:solidFill>
          <a:ln w="12700">
            <a:solidFill>
              <a:srgbClr val="1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789073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 err="1">
                <a:solidFill>
                  <a:srgbClr val="69F0AE"/>
                </a:solidFill>
                <a:latin typeface="Cascadia Code"/>
              </a:rPr>
              <a:t>app.put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('/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api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/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hibak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/:id/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javitas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', </a:t>
            </a:r>
            <a:r>
              <a:rPr sz="1100" dirty="0" err="1">
                <a:solidFill>
                  <a:srgbClr val="82B1FF"/>
                </a:solidFill>
                <a:latin typeface="Cascadia Code"/>
              </a:rPr>
              <a:t>authenticateToken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, async (req, res)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 dirty="0">
                <a:solidFill>
                  <a:srgbClr val="E8F0FE"/>
                </a:solidFill>
                <a:latin typeface="Cascadia Code"/>
              </a:rPr>
              <a:t>{ id } 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=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req.params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 dirty="0" err="1">
                <a:solidFill>
                  <a:srgbClr val="E8F0FE"/>
                </a:solidFill>
                <a:latin typeface="Cascadia Code"/>
              </a:rPr>
              <a:t>currentUser</a:t>
            </a:r>
            <a:r>
              <a:rPr sz="1100" dirty="0">
                <a:solidFill>
                  <a:srgbClr val="E8F0FE"/>
                </a:solidFill>
                <a:latin typeface="Cascadia Code"/>
              </a:rPr>
              <a:t> 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=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req.user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93D8"/>
                </a:solidFill>
                <a:latin typeface="Cascadia Code"/>
              </a:rPr>
              <a:t>  if 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currentUser.szerep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 !== 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'</a:t>
            </a:r>
            <a:r>
              <a:rPr sz="1100" dirty="0" err="1">
                <a:solidFill>
                  <a:srgbClr val="FFD54F"/>
                </a:solidFill>
                <a:latin typeface="Cascadia Code"/>
              </a:rPr>
              <a:t>karbantarto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'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 &amp;&amp;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currentUser.szerep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 !== 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'admin'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B0BEC5"/>
                </a:solidFill>
                <a:latin typeface="Cascadia Code"/>
              </a:rPr>
              <a:t>    return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res.status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</a:t>
            </a:r>
            <a:r>
              <a:rPr sz="1100" dirty="0">
                <a:solidFill>
                  <a:srgbClr val="FF8A80"/>
                </a:solidFill>
                <a:latin typeface="Cascadia Code"/>
              </a:rPr>
              <a:t>403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).json({ error: '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Nincs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jogosultsaga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.'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 dirty="0" err="1">
                <a:solidFill>
                  <a:srgbClr val="E8F0FE"/>
                </a:solidFill>
                <a:latin typeface="Cascadia Code"/>
              </a:rPr>
              <a:t>hiba</a:t>
            </a:r>
            <a:r>
              <a:rPr sz="1100" dirty="0">
                <a:solidFill>
                  <a:srgbClr val="E8F0FE"/>
                </a:solidFill>
                <a:latin typeface="Cascadia Code"/>
              </a:rPr>
              <a:t> 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=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dbGet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'SELECT * FROM </a:t>
            </a:r>
            <a:r>
              <a:rPr sz="1100" dirty="0" err="1">
                <a:solidFill>
                  <a:srgbClr val="FFD54F"/>
                </a:solidFill>
                <a:latin typeface="Cascadia Code"/>
              </a:rPr>
              <a:t>hibak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 WHERE id = ?'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, [id]);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93D8"/>
                </a:solidFill>
                <a:latin typeface="Cascadia Code"/>
              </a:rPr>
              <a:t>  if 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(!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hiba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)  return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res.status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</a:t>
            </a:r>
            <a:r>
              <a:rPr sz="1100" dirty="0">
                <a:solidFill>
                  <a:srgbClr val="FF8A80"/>
                </a:solidFill>
                <a:latin typeface="Cascadia Code"/>
              </a:rPr>
              <a:t>404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).json(...);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93D8"/>
                </a:solidFill>
                <a:latin typeface="Cascadia Code"/>
              </a:rPr>
              <a:t>  if 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hiba.allapot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 === 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'</a:t>
            </a:r>
            <a:r>
              <a:rPr sz="1100" dirty="0" err="1">
                <a:solidFill>
                  <a:srgbClr val="FFD54F"/>
                </a:solidFill>
                <a:latin typeface="Cascadia Code"/>
              </a:rPr>
              <a:t>kijavitva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'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) return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res.status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</a:t>
            </a:r>
            <a:r>
              <a:rPr sz="1100" dirty="0">
                <a:solidFill>
                  <a:srgbClr val="FF8A80"/>
                </a:solidFill>
                <a:latin typeface="Cascadia Code"/>
              </a:rPr>
              <a:t>409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).json(...);  </a:t>
            </a:r>
            <a:r>
              <a:rPr sz="1100" dirty="0">
                <a:solidFill>
                  <a:srgbClr val="607D8B"/>
                </a:solidFill>
                <a:latin typeface="Cascadia Code"/>
              </a:rPr>
              <a:t>// mar </a:t>
            </a:r>
            <a:r>
              <a:rPr sz="1100" dirty="0" err="1">
                <a:solidFill>
                  <a:srgbClr val="607D8B"/>
                </a:solidFill>
                <a:latin typeface="Cascadia Code"/>
              </a:rPr>
              <a:t>ki</a:t>
            </a:r>
            <a:r>
              <a:rPr sz="1100" dirty="0">
                <a:solidFill>
                  <a:srgbClr val="607D8B"/>
                </a:solidFill>
                <a:latin typeface="Cascadia Code"/>
              </a:rPr>
              <a:t> van </a:t>
            </a:r>
            <a:r>
              <a:rPr sz="1100" dirty="0" err="1">
                <a:solidFill>
                  <a:srgbClr val="607D8B"/>
                </a:solidFill>
                <a:latin typeface="Cascadia Code"/>
              </a:rPr>
              <a:t>javitva</a:t>
            </a:r>
            <a:endParaRPr sz="1100" dirty="0">
              <a:solidFill>
                <a:srgbClr val="607D8B"/>
              </a:solidFill>
              <a:latin typeface="Cascadia Code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 dirty="0" err="1">
                <a:solidFill>
                  <a:srgbClr val="E8F0FE"/>
                </a:solidFill>
                <a:latin typeface="Cascadia Code"/>
              </a:rPr>
              <a:t>javitas_datuma</a:t>
            </a:r>
            <a:r>
              <a:rPr sz="1100" dirty="0">
                <a:solidFill>
                  <a:srgbClr val="E8F0FE"/>
                </a:solidFill>
                <a:latin typeface="Cascadia Code"/>
              </a:rPr>
              <a:t> 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= new Date().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toISOString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().split(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'T'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)[0];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B0BEC5"/>
                </a:solidFill>
                <a:latin typeface="Cascadia Code"/>
              </a:rPr>
              <a:t> 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dbRun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FFD54F"/>
                </a:solidFill>
                <a:latin typeface="Cascadia Code"/>
              </a:rPr>
              <a:t>    'UPDATE </a:t>
            </a:r>
            <a:r>
              <a:rPr sz="1100" dirty="0" err="1">
                <a:solidFill>
                  <a:srgbClr val="FFD54F"/>
                </a:solidFill>
                <a:latin typeface="Cascadia Code"/>
              </a:rPr>
              <a:t>hibak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 SET </a:t>
            </a:r>
            <a:r>
              <a:rPr sz="1100" dirty="0" err="1">
                <a:solidFill>
                  <a:srgbClr val="FFD54F"/>
                </a:solidFill>
                <a:latin typeface="Cascadia Code"/>
              </a:rPr>
              <a:t>allapot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=?, </a:t>
            </a:r>
            <a:r>
              <a:rPr sz="1100" dirty="0" err="1">
                <a:solidFill>
                  <a:srgbClr val="FFD54F"/>
                </a:solidFill>
                <a:latin typeface="Cascadia Code"/>
              </a:rPr>
              <a:t>javito_id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=?, </a:t>
            </a:r>
            <a:r>
              <a:rPr sz="1100" dirty="0" err="1">
                <a:solidFill>
                  <a:srgbClr val="FFD54F"/>
                </a:solidFill>
                <a:latin typeface="Cascadia Code"/>
              </a:rPr>
              <a:t>javitas_datuma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=? WHERE id=?',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B0BEC5"/>
                </a:solidFill>
                <a:latin typeface="Cascadia Code"/>
              </a:rPr>
              <a:t>    [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'</a:t>
            </a:r>
            <a:r>
              <a:rPr sz="1100" dirty="0" err="1">
                <a:solidFill>
                  <a:srgbClr val="FFD54F"/>
                </a:solidFill>
                <a:latin typeface="Cascadia Code"/>
              </a:rPr>
              <a:t>kijavitva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'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, currentUser.id,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javitas_datuma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, id]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B0BEC5"/>
                </a:solidFill>
                <a:latin typeface="Cascadia Code"/>
              </a:rPr>
              <a:t>  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69F0AE"/>
                </a:solidFill>
                <a:latin typeface="Cascadia Code"/>
              </a:rPr>
              <a:t>  </a:t>
            </a:r>
            <a:r>
              <a:rPr sz="1100" dirty="0" err="1">
                <a:solidFill>
                  <a:srgbClr val="69F0AE"/>
                </a:solidFill>
                <a:latin typeface="Cascadia Code"/>
              </a:rPr>
              <a:t>res.json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dbGet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('SELECT * FROM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hibak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 WHERE id = ?', [id]));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B0BEC5"/>
                </a:solidFill>
                <a:latin typeface="Cascadia Code"/>
              </a:rPr>
              <a:t>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9 / 15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27DB37FB-CC93-4391-A091-60A3EEDB9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510" y="1297115"/>
            <a:ext cx="3155930" cy="52365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4FC3F7"/>
                </a:solidFill>
                <a:latin typeface="Segoe UI"/>
              </a:rPr>
              <a:t>FRONTEND</a:t>
            </a:r>
            <a:endParaRPr sz="900" b="1" i="0" dirty="0">
              <a:solidFill>
                <a:srgbClr val="4FC3F7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7455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E8F0FE"/>
                </a:solidFill>
                <a:latin typeface="Segoe UI"/>
              </a:rPr>
              <a:t>Az 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alkalmaz</a:t>
            </a:r>
            <a:r>
              <a:rPr lang="hu-HU" sz="2600" b="1" i="0" dirty="0">
                <a:solidFill>
                  <a:srgbClr val="E8F0FE"/>
                </a:solidFill>
                <a:latin typeface="Segoe UI"/>
              </a:rPr>
              <a:t>á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s 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oldalai</a:t>
            </a:r>
            <a:endParaRPr sz="2600" b="1" i="0" dirty="0">
              <a:solidFill>
                <a:srgbClr val="E8F0FE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5394960" cy="2487168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8F0FE"/>
                </a:solidFill>
                <a:latin typeface="Segoe UI"/>
              </a:rPr>
              <a:t>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380743"/>
            <a:ext cx="40233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 err="1">
                <a:solidFill>
                  <a:srgbClr val="4FC3F7"/>
                </a:solidFill>
                <a:latin typeface="Segoe UI"/>
              </a:rPr>
              <a:t>Bejelentkez</a:t>
            </a:r>
            <a:r>
              <a:rPr lang="hu-HU" sz="1500" b="1" i="0" dirty="0">
                <a:solidFill>
                  <a:srgbClr val="4FC3F7"/>
                </a:solidFill>
                <a:latin typeface="Segoe UI"/>
              </a:rPr>
              <a:t>é</a:t>
            </a:r>
            <a:r>
              <a:rPr sz="1500" b="1" i="0" dirty="0">
                <a:solidFill>
                  <a:srgbClr val="4FC3F7"/>
                </a:solidFill>
                <a:latin typeface="Segoe UI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83079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E082"/>
                </a:solidFill>
                <a:latin typeface="Cascadia Code"/>
              </a:rPr>
              <a:t>index.html + login.js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76272"/>
            <a:ext cx="4937760" cy="52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dirty="0">
                <a:solidFill>
                  <a:srgbClr val="B0BEC5"/>
                </a:solidFill>
              </a:rPr>
              <a:t>  </a:t>
            </a:r>
            <a:r>
              <a:rPr sz="1200" dirty="0" err="1">
                <a:solidFill>
                  <a:srgbClr val="B0BEC5"/>
                </a:solidFill>
              </a:rPr>
              <a:t>Felhasznal</a:t>
            </a:r>
            <a:r>
              <a:rPr lang="hu-HU" sz="1200" dirty="0">
                <a:solidFill>
                  <a:srgbClr val="B0BEC5"/>
                </a:solidFill>
              </a:rPr>
              <a:t>ó</a:t>
            </a:r>
            <a:r>
              <a:rPr sz="1200" dirty="0">
                <a:solidFill>
                  <a:srgbClr val="B0BEC5"/>
                </a:solidFill>
              </a:rPr>
              <a:t>n</a:t>
            </a:r>
            <a:r>
              <a:rPr lang="hu-HU" sz="1200" dirty="0">
                <a:solidFill>
                  <a:srgbClr val="B0BEC5"/>
                </a:solidFill>
              </a:rPr>
              <a:t>é</a:t>
            </a:r>
            <a:r>
              <a:rPr sz="1200" dirty="0">
                <a:solidFill>
                  <a:srgbClr val="B0BEC5"/>
                </a:solidFill>
              </a:rPr>
              <a:t>v + </a:t>
            </a:r>
            <a:r>
              <a:rPr sz="1200" dirty="0" err="1">
                <a:solidFill>
                  <a:srgbClr val="B0BEC5"/>
                </a:solidFill>
              </a:rPr>
              <a:t>jelsz</a:t>
            </a:r>
            <a:r>
              <a:rPr lang="hu-HU" sz="1200" dirty="0">
                <a:solidFill>
                  <a:srgbClr val="B0BEC5"/>
                </a:solidFill>
              </a:rPr>
              <a:t>ó</a:t>
            </a:r>
            <a:r>
              <a:rPr sz="1200" dirty="0">
                <a:solidFill>
                  <a:srgbClr val="B0BEC5"/>
                </a:solidFill>
              </a:rPr>
              <a:t> </a:t>
            </a:r>
            <a:r>
              <a:rPr sz="1200" dirty="0" err="1">
                <a:solidFill>
                  <a:srgbClr val="B0BEC5"/>
                </a:solidFill>
              </a:rPr>
              <a:t>bevitel</a:t>
            </a:r>
            <a:endParaRPr sz="1200" dirty="0">
              <a:solidFill>
                <a:srgbClr val="B0BEC5"/>
              </a:solidFill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B0BEC5"/>
                </a:solidFill>
              </a:rPr>
              <a:t>  JWT -&gt; </a:t>
            </a:r>
            <a:r>
              <a:rPr sz="1200" dirty="0" err="1">
                <a:solidFill>
                  <a:srgbClr val="B0BEC5"/>
                </a:solidFill>
              </a:rPr>
              <a:t>sessionStorage</a:t>
            </a:r>
            <a:r>
              <a:rPr sz="1200" dirty="0">
                <a:solidFill>
                  <a:srgbClr val="B0BEC5"/>
                </a:solidFill>
              </a:rPr>
              <a:t> -&gt; main.html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61872"/>
            <a:ext cx="5394960" cy="2487168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35331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8F0FE"/>
                </a:solidFill>
                <a:latin typeface="Segoe UI"/>
              </a:rP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380743"/>
            <a:ext cx="40233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4FC3F7"/>
                </a:solidFill>
                <a:latin typeface="Segoe UI"/>
              </a:rPr>
              <a:t>F</a:t>
            </a:r>
            <a:r>
              <a:rPr lang="hu-HU" sz="1500" b="1" i="0" dirty="0">
                <a:solidFill>
                  <a:srgbClr val="4FC3F7"/>
                </a:solidFill>
                <a:latin typeface="Segoe UI"/>
              </a:rPr>
              <a:t>ő</a:t>
            </a:r>
            <a:r>
              <a:rPr sz="1500" b="1" i="0" dirty="0" err="1">
                <a:solidFill>
                  <a:srgbClr val="4FC3F7"/>
                </a:solidFill>
                <a:latin typeface="Segoe UI"/>
              </a:rPr>
              <a:t>oldal</a:t>
            </a:r>
            <a:endParaRPr sz="1500" b="1" i="0" dirty="0">
              <a:solidFill>
                <a:srgbClr val="4FC3F7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0" y="1783079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E082"/>
                </a:solidFill>
                <a:latin typeface="Cascadia Code"/>
              </a:rPr>
              <a:t>main.html + main-app.js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76272"/>
            <a:ext cx="4937760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dirty="0">
                <a:solidFill>
                  <a:srgbClr val="B0BEC5"/>
                </a:solidFill>
              </a:rPr>
              <a:t>  Hib</a:t>
            </a:r>
            <a:r>
              <a:rPr lang="hu-HU" sz="1200" dirty="0">
                <a:solidFill>
                  <a:srgbClr val="B0BEC5"/>
                </a:solidFill>
              </a:rPr>
              <a:t>á</a:t>
            </a:r>
            <a:r>
              <a:rPr sz="1200" dirty="0">
                <a:solidFill>
                  <a:srgbClr val="B0BEC5"/>
                </a:solidFill>
              </a:rPr>
              <a:t>k t</a:t>
            </a:r>
            <a:r>
              <a:rPr lang="hu-HU" sz="1200" dirty="0">
                <a:solidFill>
                  <a:srgbClr val="B0BEC5"/>
                </a:solidFill>
              </a:rPr>
              <a:t>á</a:t>
            </a:r>
            <a:r>
              <a:rPr sz="1200" dirty="0">
                <a:solidFill>
                  <a:srgbClr val="B0BEC5"/>
                </a:solidFill>
              </a:rPr>
              <a:t>bl</a:t>
            </a:r>
            <a:r>
              <a:rPr lang="hu-HU" sz="1200" dirty="0">
                <a:solidFill>
                  <a:srgbClr val="B0BEC5"/>
                </a:solidFill>
              </a:rPr>
              <a:t>á</a:t>
            </a:r>
            <a:r>
              <a:rPr sz="1200" dirty="0" err="1">
                <a:solidFill>
                  <a:srgbClr val="B0BEC5"/>
                </a:solidFill>
              </a:rPr>
              <a:t>zata</a:t>
            </a:r>
            <a:r>
              <a:rPr sz="1200" dirty="0">
                <a:solidFill>
                  <a:srgbClr val="B0BEC5"/>
                </a:solidFill>
              </a:rPr>
              <a:t> </a:t>
            </a:r>
            <a:r>
              <a:rPr lang="hu-HU" sz="1200" dirty="0">
                <a:solidFill>
                  <a:srgbClr val="B0BEC5"/>
                </a:solidFill>
              </a:rPr>
              <a:t>á</a:t>
            </a:r>
            <a:r>
              <a:rPr sz="1200" dirty="0" err="1">
                <a:solidFill>
                  <a:srgbClr val="B0BEC5"/>
                </a:solidFill>
              </a:rPr>
              <a:t>llapot-sz</a:t>
            </a:r>
            <a:r>
              <a:rPr lang="hu-HU" sz="1200" dirty="0">
                <a:solidFill>
                  <a:srgbClr val="B0BEC5"/>
                </a:solidFill>
              </a:rPr>
              <a:t>u</a:t>
            </a:r>
            <a:r>
              <a:rPr sz="1200" dirty="0">
                <a:solidFill>
                  <a:srgbClr val="B0BEC5"/>
                </a:solidFill>
              </a:rPr>
              <a:t>r</a:t>
            </a:r>
            <a:r>
              <a:rPr lang="hu-HU" sz="1200" dirty="0">
                <a:solidFill>
                  <a:srgbClr val="B0BEC5"/>
                </a:solidFill>
              </a:rPr>
              <a:t>ó</a:t>
            </a:r>
            <a:r>
              <a:rPr sz="1200" dirty="0" err="1">
                <a:solidFill>
                  <a:srgbClr val="B0BEC5"/>
                </a:solidFill>
              </a:rPr>
              <a:t>val</a:t>
            </a:r>
            <a:endParaRPr sz="1200" dirty="0">
              <a:solidFill>
                <a:srgbClr val="B0BEC5"/>
              </a:solidFill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B0BEC5"/>
                </a:solidFill>
              </a:rPr>
              <a:t>  </a:t>
            </a:r>
            <a:r>
              <a:rPr lang="hu-HU" sz="1200" dirty="0">
                <a:solidFill>
                  <a:srgbClr val="B0BEC5"/>
                </a:solidFill>
              </a:rPr>
              <a:t>ú</a:t>
            </a:r>
            <a:r>
              <a:rPr sz="1200" dirty="0">
                <a:solidFill>
                  <a:srgbClr val="B0BEC5"/>
                </a:solidFill>
              </a:rPr>
              <a:t>j </a:t>
            </a:r>
            <a:r>
              <a:rPr sz="1200" dirty="0" err="1">
                <a:solidFill>
                  <a:srgbClr val="B0BEC5"/>
                </a:solidFill>
              </a:rPr>
              <a:t>hiba</a:t>
            </a:r>
            <a:r>
              <a:rPr sz="1200" dirty="0">
                <a:solidFill>
                  <a:srgbClr val="B0BEC5"/>
                </a:solidFill>
              </a:rPr>
              <a:t> </a:t>
            </a:r>
            <a:r>
              <a:rPr lang="hu-HU" sz="1200" dirty="0">
                <a:solidFill>
                  <a:srgbClr val="B0BEC5"/>
                </a:solidFill>
              </a:rPr>
              <a:t>ü</a:t>
            </a:r>
            <a:r>
              <a:rPr sz="1200" dirty="0" err="1">
                <a:solidFill>
                  <a:srgbClr val="B0BEC5"/>
                </a:solidFill>
              </a:rPr>
              <a:t>rlap</a:t>
            </a:r>
            <a:r>
              <a:rPr sz="1200" dirty="0">
                <a:solidFill>
                  <a:srgbClr val="B0BEC5"/>
                </a:solidFill>
              </a:rPr>
              <a:t> (tan</a:t>
            </a:r>
            <a:r>
              <a:rPr lang="hu-HU" sz="1200" dirty="0">
                <a:solidFill>
                  <a:srgbClr val="B0BEC5"/>
                </a:solidFill>
              </a:rPr>
              <a:t>á</a:t>
            </a:r>
            <a:r>
              <a:rPr sz="1200" dirty="0">
                <a:solidFill>
                  <a:srgbClr val="B0BEC5"/>
                </a:solidFill>
              </a:rPr>
              <a:t>r / admin)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B0BEC5"/>
                </a:solidFill>
              </a:rPr>
              <a:t>  </a:t>
            </a:r>
            <a:r>
              <a:rPr sz="1200" dirty="0" err="1">
                <a:solidFill>
                  <a:srgbClr val="B0BEC5"/>
                </a:solidFill>
              </a:rPr>
              <a:t>Javit</a:t>
            </a:r>
            <a:r>
              <a:rPr lang="hu-HU" sz="1200" dirty="0">
                <a:solidFill>
                  <a:srgbClr val="B0BEC5"/>
                </a:solidFill>
              </a:rPr>
              <a:t>á</a:t>
            </a:r>
            <a:r>
              <a:rPr sz="1200" dirty="0">
                <a:solidFill>
                  <a:srgbClr val="B0BEC5"/>
                </a:solidFill>
              </a:rPr>
              <a:t>s </a:t>
            </a:r>
            <a:r>
              <a:rPr sz="1200" dirty="0" err="1">
                <a:solidFill>
                  <a:srgbClr val="B0BEC5"/>
                </a:solidFill>
              </a:rPr>
              <a:t>gomb</a:t>
            </a:r>
            <a:r>
              <a:rPr sz="1200" dirty="0">
                <a:solidFill>
                  <a:srgbClr val="B0BEC5"/>
                </a:solidFill>
              </a:rPr>
              <a:t> (</a:t>
            </a:r>
            <a:r>
              <a:rPr sz="1200" dirty="0" err="1">
                <a:solidFill>
                  <a:srgbClr val="B0BEC5"/>
                </a:solidFill>
              </a:rPr>
              <a:t>karbantart</a:t>
            </a:r>
            <a:r>
              <a:rPr lang="hu-HU" sz="1200" dirty="0">
                <a:solidFill>
                  <a:srgbClr val="B0BEC5"/>
                </a:solidFill>
              </a:rPr>
              <a:t>ó </a:t>
            </a:r>
            <a:r>
              <a:rPr sz="1200" dirty="0">
                <a:solidFill>
                  <a:srgbClr val="B0BEC5"/>
                </a:solidFill>
              </a:rPr>
              <a:t>/ admin)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58768"/>
            <a:ext cx="5394960" cy="2487168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950207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8F0FE"/>
                </a:solidFill>
                <a:latin typeface="Segoe UI"/>
              </a:rPr>
              <a:t>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977639"/>
            <a:ext cx="40233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 err="1">
                <a:solidFill>
                  <a:srgbClr val="4FC3F7"/>
                </a:solidFill>
                <a:latin typeface="Segoe UI"/>
              </a:rPr>
              <a:t>Felhaszn</a:t>
            </a:r>
            <a:r>
              <a:rPr lang="hu-HU" sz="1500" b="1" i="0" dirty="0">
                <a:solidFill>
                  <a:srgbClr val="4FC3F7"/>
                </a:solidFill>
                <a:latin typeface="Segoe UI"/>
              </a:rPr>
              <a:t>á</a:t>
            </a:r>
            <a:r>
              <a:rPr sz="1500" b="1" i="0" dirty="0">
                <a:solidFill>
                  <a:srgbClr val="4FC3F7"/>
                </a:solidFill>
                <a:latin typeface="Segoe UI"/>
              </a:rPr>
              <a:t>l</a:t>
            </a:r>
            <a:r>
              <a:rPr lang="hu-HU" sz="1500" b="1" dirty="0">
                <a:solidFill>
                  <a:srgbClr val="4FC3F7"/>
                </a:solidFill>
                <a:latin typeface="Segoe UI"/>
              </a:rPr>
              <a:t>o</a:t>
            </a:r>
            <a:r>
              <a:rPr sz="1500" b="1" i="0" dirty="0" err="1">
                <a:solidFill>
                  <a:srgbClr val="4FC3F7"/>
                </a:solidFill>
                <a:latin typeface="Segoe UI"/>
              </a:rPr>
              <a:t>kézeles</a:t>
            </a:r>
            <a:endParaRPr sz="1500" b="1" i="0" dirty="0">
              <a:solidFill>
                <a:srgbClr val="4FC3F7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63040" y="4379976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E082"/>
                </a:solidFill>
                <a:latin typeface="Cascadia Code"/>
              </a:rPr>
              <a:t>admin_users.html + 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73168"/>
            <a:ext cx="4937760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dirty="0">
                <a:solidFill>
                  <a:srgbClr val="B0BEC5"/>
                </a:solidFill>
              </a:rPr>
              <a:t>  </a:t>
            </a:r>
            <a:r>
              <a:rPr sz="1200" dirty="0" err="1">
                <a:solidFill>
                  <a:srgbClr val="B0BEC5"/>
                </a:solidFill>
              </a:rPr>
              <a:t>Csak</a:t>
            </a:r>
            <a:r>
              <a:rPr sz="1200" dirty="0">
                <a:solidFill>
                  <a:srgbClr val="B0BEC5"/>
                </a:solidFill>
              </a:rPr>
              <a:t> </a:t>
            </a:r>
            <a:r>
              <a:rPr sz="1200" dirty="0" err="1">
                <a:solidFill>
                  <a:srgbClr val="B0BEC5"/>
                </a:solidFill>
              </a:rPr>
              <a:t>adminisztr</a:t>
            </a:r>
            <a:r>
              <a:rPr lang="hu-HU" sz="1200" dirty="0">
                <a:solidFill>
                  <a:srgbClr val="B0BEC5"/>
                </a:solidFill>
              </a:rPr>
              <a:t>á</a:t>
            </a:r>
            <a:r>
              <a:rPr sz="1200" dirty="0">
                <a:solidFill>
                  <a:srgbClr val="B0BEC5"/>
                </a:solidFill>
              </a:rPr>
              <a:t>tor</a:t>
            </a:r>
            <a:r>
              <a:rPr lang="hu-HU" sz="1200" dirty="0" err="1">
                <a:solidFill>
                  <a:srgbClr val="B0BEC5"/>
                </a:solidFill>
              </a:rPr>
              <a:t>nak</a:t>
            </a:r>
            <a:r>
              <a:rPr sz="1200" dirty="0">
                <a:solidFill>
                  <a:srgbClr val="B0BEC5"/>
                </a:solidFill>
              </a:rPr>
              <a:t> l</a:t>
            </a:r>
            <a:r>
              <a:rPr lang="hu-HU" sz="1200" dirty="0">
                <a:solidFill>
                  <a:srgbClr val="B0BEC5"/>
                </a:solidFill>
              </a:rPr>
              <a:t>á</a:t>
            </a:r>
            <a:r>
              <a:rPr sz="1200" dirty="0">
                <a:solidFill>
                  <a:srgbClr val="B0BEC5"/>
                </a:solidFill>
              </a:rPr>
              <a:t>that</a:t>
            </a:r>
            <a:r>
              <a:rPr lang="hu-HU" sz="1200" dirty="0">
                <a:solidFill>
                  <a:srgbClr val="B0BEC5"/>
                </a:solidFill>
              </a:rPr>
              <a:t>ó</a:t>
            </a:r>
            <a:endParaRPr sz="1200" dirty="0">
              <a:solidFill>
                <a:srgbClr val="B0BEC5"/>
              </a:solidFill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B0BEC5"/>
                </a:solidFill>
              </a:rPr>
              <a:t>  </a:t>
            </a:r>
            <a:r>
              <a:rPr lang="hu-HU" sz="1200" dirty="0">
                <a:solidFill>
                  <a:srgbClr val="B0BEC5"/>
                </a:solidFill>
              </a:rPr>
              <a:t>Ú</a:t>
            </a:r>
            <a:r>
              <a:rPr sz="1200" dirty="0">
                <a:solidFill>
                  <a:srgbClr val="B0BEC5"/>
                </a:solidFill>
              </a:rPr>
              <a:t>j </a:t>
            </a:r>
            <a:r>
              <a:rPr sz="1200" dirty="0" err="1">
                <a:solidFill>
                  <a:srgbClr val="B0BEC5"/>
                </a:solidFill>
              </a:rPr>
              <a:t>felhaszn</a:t>
            </a:r>
            <a:r>
              <a:rPr lang="hu-HU" sz="1200" dirty="0" err="1">
                <a:solidFill>
                  <a:srgbClr val="B0BEC5"/>
                </a:solidFill>
              </a:rPr>
              <a:t>áló</a:t>
            </a:r>
            <a:r>
              <a:rPr sz="1200" dirty="0">
                <a:solidFill>
                  <a:srgbClr val="B0BEC5"/>
                </a:solidFill>
              </a:rPr>
              <a:t> </a:t>
            </a:r>
            <a:r>
              <a:rPr sz="1200" dirty="0" err="1">
                <a:solidFill>
                  <a:srgbClr val="B0BEC5"/>
                </a:solidFill>
              </a:rPr>
              <a:t>hozz</a:t>
            </a:r>
            <a:r>
              <a:rPr lang="hu-HU" sz="1200" dirty="0">
                <a:solidFill>
                  <a:srgbClr val="B0BEC5"/>
                </a:solidFill>
              </a:rPr>
              <a:t>á</a:t>
            </a:r>
            <a:r>
              <a:rPr sz="1200" dirty="0">
                <a:solidFill>
                  <a:srgbClr val="B0BEC5"/>
                </a:solidFill>
              </a:rPr>
              <a:t>ad</a:t>
            </a:r>
            <a:r>
              <a:rPr lang="hu-HU" sz="1200" dirty="0">
                <a:solidFill>
                  <a:srgbClr val="B0BEC5"/>
                </a:solidFill>
              </a:rPr>
              <a:t>á</a:t>
            </a:r>
            <a:r>
              <a:rPr sz="1200" dirty="0" err="1">
                <a:solidFill>
                  <a:srgbClr val="B0BEC5"/>
                </a:solidFill>
              </a:rPr>
              <a:t>sa</a:t>
            </a:r>
            <a:endParaRPr sz="1200" dirty="0">
              <a:solidFill>
                <a:srgbClr val="B0BEC5"/>
              </a:solidFill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B0BEC5"/>
                </a:solidFill>
              </a:rPr>
              <a:t>  </a:t>
            </a:r>
            <a:r>
              <a:rPr sz="1200" dirty="0" err="1">
                <a:solidFill>
                  <a:srgbClr val="B0BEC5"/>
                </a:solidFill>
              </a:rPr>
              <a:t>Felhaszn</a:t>
            </a:r>
            <a:r>
              <a:rPr lang="hu-HU" sz="1200" dirty="0">
                <a:solidFill>
                  <a:srgbClr val="B0BEC5"/>
                </a:solidFill>
              </a:rPr>
              <a:t>á</a:t>
            </a:r>
            <a:r>
              <a:rPr sz="1200" dirty="0" err="1">
                <a:solidFill>
                  <a:srgbClr val="B0BEC5"/>
                </a:solidFill>
              </a:rPr>
              <a:t>lok</a:t>
            </a:r>
            <a:r>
              <a:rPr sz="1200" dirty="0">
                <a:solidFill>
                  <a:srgbClr val="B0BEC5"/>
                </a:solidFill>
              </a:rPr>
              <a:t> t</a:t>
            </a:r>
            <a:r>
              <a:rPr lang="hu-HU" sz="1200" dirty="0">
                <a:solidFill>
                  <a:srgbClr val="B0BEC5"/>
                </a:solidFill>
              </a:rPr>
              <a:t>ö</a:t>
            </a:r>
            <a:r>
              <a:rPr sz="1200" dirty="0" err="1">
                <a:solidFill>
                  <a:srgbClr val="B0BEC5"/>
                </a:solidFill>
              </a:rPr>
              <a:t>rl</a:t>
            </a:r>
            <a:r>
              <a:rPr lang="hu-HU" sz="1200" dirty="0">
                <a:solidFill>
                  <a:srgbClr val="B0BEC5"/>
                </a:solidFill>
              </a:rPr>
              <a:t>é</a:t>
            </a:r>
            <a:r>
              <a:rPr sz="1200" dirty="0">
                <a:solidFill>
                  <a:srgbClr val="B0BEC5"/>
                </a:solidFill>
              </a:rPr>
              <a:t>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858768"/>
            <a:ext cx="5394960" cy="2487168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3950207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8F0FE"/>
                </a:solidFill>
                <a:latin typeface="Segoe UI"/>
              </a:rPr>
              <a:t>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977639"/>
            <a:ext cx="40233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 err="1">
                <a:solidFill>
                  <a:srgbClr val="4FC3F7"/>
                </a:solidFill>
                <a:latin typeface="Segoe UI"/>
              </a:rPr>
              <a:t>Sug</a:t>
            </a:r>
            <a:r>
              <a:rPr lang="hu-HU" sz="1500" b="1" i="0" dirty="0">
                <a:solidFill>
                  <a:srgbClr val="4FC3F7"/>
                </a:solidFill>
                <a:latin typeface="Segoe UI"/>
              </a:rPr>
              <a:t>ó</a:t>
            </a:r>
            <a:endParaRPr sz="1500" b="1" i="0" dirty="0">
              <a:solidFill>
                <a:srgbClr val="4FC3F7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15200" y="4379976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E082"/>
                </a:solidFill>
                <a:latin typeface="Cascadia Code"/>
              </a:rPr>
              <a:t>help.html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773168"/>
            <a:ext cx="4937760" cy="52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dirty="0">
                <a:solidFill>
                  <a:srgbClr val="B0BEC5"/>
                </a:solidFill>
              </a:rPr>
              <a:t>  </a:t>
            </a:r>
            <a:r>
              <a:rPr sz="1200" dirty="0" err="1">
                <a:solidFill>
                  <a:srgbClr val="B0BEC5"/>
                </a:solidFill>
              </a:rPr>
              <a:t>Statikus</a:t>
            </a:r>
            <a:r>
              <a:rPr sz="1200" dirty="0">
                <a:solidFill>
                  <a:srgbClr val="B0BEC5"/>
                </a:solidFill>
              </a:rPr>
              <a:t> </a:t>
            </a:r>
            <a:r>
              <a:rPr sz="1200" dirty="0" err="1">
                <a:solidFill>
                  <a:srgbClr val="B0BEC5"/>
                </a:solidFill>
              </a:rPr>
              <a:t>reszponz</a:t>
            </a:r>
            <a:r>
              <a:rPr lang="hu-HU" sz="1200" dirty="0">
                <a:solidFill>
                  <a:srgbClr val="B0BEC5"/>
                </a:solidFill>
              </a:rPr>
              <a:t>í</a:t>
            </a:r>
            <a:r>
              <a:rPr sz="1200" dirty="0">
                <a:solidFill>
                  <a:srgbClr val="B0BEC5"/>
                </a:solidFill>
              </a:rPr>
              <a:t>v </a:t>
            </a:r>
            <a:r>
              <a:rPr sz="1200" dirty="0" err="1">
                <a:solidFill>
                  <a:srgbClr val="B0BEC5"/>
                </a:solidFill>
              </a:rPr>
              <a:t>oldal</a:t>
            </a:r>
            <a:endParaRPr sz="1200" dirty="0">
              <a:solidFill>
                <a:srgbClr val="B0BEC5"/>
              </a:solidFill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B0BEC5"/>
                </a:solidFill>
              </a:rPr>
              <a:t>  </a:t>
            </a:r>
            <a:r>
              <a:rPr sz="1200" dirty="0" err="1">
                <a:solidFill>
                  <a:srgbClr val="B0BEC5"/>
                </a:solidFill>
              </a:rPr>
              <a:t>Navig</a:t>
            </a:r>
            <a:r>
              <a:rPr lang="hu-HU" sz="1200" dirty="0">
                <a:solidFill>
                  <a:srgbClr val="B0BEC5"/>
                </a:solidFill>
              </a:rPr>
              <a:t>á</a:t>
            </a:r>
            <a:r>
              <a:rPr sz="1200" dirty="0" err="1">
                <a:solidFill>
                  <a:srgbClr val="B0BEC5"/>
                </a:solidFill>
              </a:rPr>
              <a:t>ciob</a:t>
            </a:r>
            <a:r>
              <a:rPr lang="hu-HU" sz="1200" dirty="0">
                <a:solidFill>
                  <a:srgbClr val="B0BEC5"/>
                </a:solidFill>
              </a:rPr>
              <a:t>ó</a:t>
            </a:r>
            <a:r>
              <a:rPr sz="1200" dirty="0">
                <a:solidFill>
                  <a:srgbClr val="B0BEC5"/>
                </a:solidFill>
              </a:rPr>
              <a:t>l </a:t>
            </a:r>
            <a:r>
              <a:rPr lang="hu-HU" sz="1200" dirty="0">
                <a:solidFill>
                  <a:srgbClr val="B0BEC5"/>
                </a:solidFill>
              </a:rPr>
              <a:t>új</a:t>
            </a:r>
            <a:r>
              <a:rPr sz="1200" dirty="0">
                <a:solidFill>
                  <a:srgbClr val="B0BEC5"/>
                </a:solidFill>
              </a:rPr>
              <a:t> </a:t>
            </a:r>
            <a:r>
              <a:rPr sz="1200" dirty="0" err="1">
                <a:solidFill>
                  <a:srgbClr val="B0BEC5"/>
                </a:solidFill>
              </a:rPr>
              <a:t>lapon</a:t>
            </a:r>
            <a:r>
              <a:rPr sz="1200" dirty="0">
                <a:solidFill>
                  <a:srgbClr val="B0BEC5"/>
                </a:solidFill>
              </a:rPr>
              <a:t> </a:t>
            </a:r>
            <a:r>
              <a:rPr sz="1200" dirty="0" err="1">
                <a:solidFill>
                  <a:srgbClr val="B0BEC5"/>
                </a:solidFill>
              </a:rPr>
              <a:t>ny</a:t>
            </a:r>
            <a:r>
              <a:rPr lang="hu-HU" sz="1200" dirty="0">
                <a:solidFill>
                  <a:srgbClr val="B0BEC5"/>
                </a:solidFill>
              </a:rPr>
              <a:t>í</a:t>
            </a:r>
            <a:r>
              <a:rPr sz="1200" dirty="0" err="1">
                <a:solidFill>
                  <a:srgbClr val="B0BEC5"/>
                </a:solidFill>
              </a:rPr>
              <a:t>lik</a:t>
            </a:r>
            <a:r>
              <a:rPr sz="1200" dirty="0">
                <a:solidFill>
                  <a:srgbClr val="B0BEC5"/>
                </a:solidFill>
              </a:rPr>
              <a:t> meg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13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4FC3F7"/>
                </a:solidFill>
                <a:latin typeface="Segoe UI"/>
              </a:rPr>
              <a:t>FRONTEND K</a:t>
            </a:r>
            <a:r>
              <a:rPr lang="hu-HU" sz="900" b="1" i="0" dirty="0">
                <a:solidFill>
                  <a:srgbClr val="4FC3F7"/>
                </a:solidFill>
                <a:latin typeface="Segoe UI"/>
              </a:rPr>
              <a:t>Ó</a:t>
            </a:r>
            <a:r>
              <a:rPr sz="900" b="1" i="0" dirty="0">
                <a:solidFill>
                  <a:srgbClr val="4FC3F7"/>
                </a:solidFill>
                <a:latin typeface="Segoe UI"/>
              </a:rPr>
              <a:t>D  -  LOGIN.JS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7455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 err="1">
                <a:solidFill>
                  <a:srgbClr val="E8F0FE"/>
                </a:solidFill>
                <a:latin typeface="Segoe UI"/>
              </a:rPr>
              <a:t>Bejelentkez</a:t>
            </a:r>
            <a:r>
              <a:rPr lang="hu-HU" sz="2600" b="1" i="0" dirty="0">
                <a:solidFill>
                  <a:srgbClr val="E8F0FE"/>
                </a:solidFill>
                <a:latin typeface="Segoe UI"/>
              </a:rPr>
              <a:t>é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si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 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logika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  (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handleLogin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5257800"/>
          </a:xfrm>
          <a:prstGeom prst="rect">
            <a:avLst/>
          </a:prstGeom>
          <a:solidFill>
            <a:srgbClr val="05101A"/>
          </a:solidFill>
          <a:ln w="12700">
            <a:solidFill>
              <a:srgbClr val="1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1000232" cy="5038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async function </a:t>
            </a:r>
            <a:r>
              <a:rPr sz="1100">
                <a:solidFill>
                  <a:srgbClr val="69F0AE"/>
                </a:solidFill>
                <a:latin typeface="Cascadia Code"/>
              </a:rPr>
              <a:t>handleLogin</a:t>
            </a:r>
            <a:r>
              <a:rPr sz="1100">
                <a:solidFill>
                  <a:srgbClr val="B0BEC5"/>
                </a:solidFill>
                <a:latin typeface="Cascadia Code"/>
              </a:rPr>
              <a:t>(event)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event.preventDefault();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felhasznalonev </a:t>
            </a:r>
            <a:r>
              <a:rPr sz="1100">
                <a:solidFill>
                  <a:srgbClr val="B0BEC5"/>
                </a:solidFill>
                <a:latin typeface="Cascadia Code"/>
              </a:rPr>
              <a:t>= document.getElementById(</a:t>
            </a:r>
            <a:r>
              <a:rPr sz="1100">
                <a:solidFill>
                  <a:srgbClr val="FFD54F"/>
                </a:solidFill>
                <a:latin typeface="Cascadia Code"/>
              </a:rPr>
              <a:t>'felhasznalonev'</a:t>
            </a:r>
            <a:r>
              <a:rPr sz="1100">
                <a:solidFill>
                  <a:srgbClr val="B0BEC5"/>
                </a:solidFill>
                <a:latin typeface="Cascadia Code"/>
              </a:rPr>
              <a:t>).value;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jelszo </a:t>
            </a:r>
            <a:r>
              <a:rPr sz="1100">
                <a:solidFill>
                  <a:srgbClr val="B0BEC5"/>
                </a:solidFill>
                <a:latin typeface="Cascadia Code"/>
              </a:rPr>
              <a:t>= document.getElementById(</a:t>
            </a:r>
            <a:r>
              <a:rPr sz="1100">
                <a:solidFill>
                  <a:srgbClr val="FFD54F"/>
                </a:solidFill>
                <a:latin typeface="Cascadia Code"/>
              </a:rPr>
              <a:t>'jelszo'</a:t>
            </a:r>
            <a:r>
              <a:rPr sz="1100">
                <a:solidFill>
                  <a:srgbClr val="B0BEC5"/>
                </a:solidFill>
                <a:latin typeface="Cascadia Code"/>
              </a:rPr>
              <a:t>).value;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07D8B"/>
                </a:solidFill>
                <a:latin typeface="Cascadia Code"/>
              </a:rPr>
              <a:t>  // POST keres az API-ra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response </a:t>
            </a:r>
            <a:r>
              <a:rPr sz="1100">
                <a:solidFill>
                  <a:srgbClr val="CE93D8"/>
                </a:solidFill>
                <a:latin typeface="Cascadia Code"/>
              </a:rPr>
              <a:t>= await </a:t>
            </a:r>
            <a:r>
              <a:rPr sz="1100">
                <a:solidFill>
                  <a:srgbClr val="69F0AE"/>
                </a:solidFill>
                <a:latin typeface="Cascadia Code"/>
              </a:rPr>
              <a:t>fetch</a:t>
            </a:r>
            <a:r>
              <a:rPr sz="1100">
                <a:solidFill>
                  <a:srgbClr val="B0BEC5"/>
                </a:solidFill>
                <a:latin typeface="Cascadia Code"/>
              </a:rPr>
              <a:t>(`${API_BASE_URL}/login`,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  method:  </a:t>
            </a:r>
            <a:r>
              <a:rPr sz="1100">
                <a:solidFill>
                  <a:srgbClr val="FFD54F"/>
                </a:solidFill>
                <a:latin typeface="Cascadia Code"/>
              </a:rPr>
              <a:t>'POST'</a:t>
            </a:r>
            <a:r>
              <a:rPr sz="1100">
                <a:solidFill>
                  <a:srgbClr val="B0BEC5"/>
                </a:solidFill>
                <a:latin typeface="Cascadia Code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  headers: { 'Content-Type': </a:t>
            </a:r>
            <a:r>
              <a:rPr sz="1100">
                <a:solidFill>
                  <a:srgbClr val="FFD54F"/>
                </a:solidFill>
                <a:latin typeface="Cascadia Code"/>
              </a:rPr>
              <a:t>'application/json'</a:t>
            </a:r>
            <a:r>
              <a:rPr sz="1100">
                <a:solidFill>
                  <a:srgbClr val="B0BEC5"/>
                </a:solidFill>
                <a:latin typeface="Cascadia Code"/>
              </a:rPr>
              <a:t>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9F0AE"/>
                </a:solidFill>
                <a:latin typeface="Cascadia Code"/>
              </a:rPr>
              <a:t>    body:    JSON.stringify</a:t>
            </a:r>
            <a:r>
              <a:rPr sz="1100">
                <a:solidFill>
                  <a:srgbClr val="B0BEC5"/>
                </a:solidFill>
                <a:latin typeface="Cascadia Code"/>
              </a:rPr>
              <a:t>({ felhasznalonev, jelszo 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>
                <a:solidFill>
                  <a:srgbClr val="E8F0FE"/>
                </a:solidFill>
                <a:latin typeface="Cascadia Code"/>
              </a:rPr>
              <a:t>data </a:t>
            </a:r>
            <a:r>
              <a:rPr sz="1100">
                <a:solidFill>
                  <a:srgbClr val="B0BEC5"/>
                </a:solidFill>
                <a:latin typeface="Cascadia Code"/>
              </a:rPr>
              <a:t>= await response.json();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3D8"/>
                </a:solidFill>
                <a:latin typeface="Cascadia Code"/>
              </a:rPr>
              <a:t>  if </a:t>
            </a:r>
            <a:r>
              <a:rPr sz="1100">
                <a:solidFill>
                  <a:srgbClr val="B0BEC5"/>
                </a:solidFill>
                <a:latin typeface="Cascadia Code"/>
              </a:rPr>
              <a:t>(response.ok)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9F0AE"/>
                </a:solidFill>
                <a:latin typeface="Cascadia Code"/>
              </a:rPr>
              <a:t>    sessionStorage.setItem</a:t>
            </a:r>
            <a:r>
              <a:rPr sz="1100">
                <a:solidFill>
                  <a:srgbClr val="B0BEC5"/>
                </a:solidFill>
                <a:latin typeface="Cascadia Code"/>
              </a:rPr>
              <a:t>(</a:t>
            </a:r>
            <a:r>
              <a:rPr sz="1100">
                <a:solidFill>
                  <a:srgbClr val="FFD54F"/>
                </a:solidFill>
                <a:latin typeface="Cascadia Code"/>
              </a:rPr>
              <a:t>'authToken'</a:t>
            </a:r>
            <a:r>
              <a:rPr sz="1100">
                <a:solidFill>
                  <a:srgbClr val="B0BEC5"/>
                </a:solidFill>
                <a:latin typeface="Cascadia Code"/>
              </a:rPr>
              <a:t>, data.token); </a:t>
            </a:r>
            <a:r>
              <a:rPr sz="1100">
                <a:solidFill>
                  <a:srgbClr val="607D8B"/>
                </a:solidFill>
                <a:latin typeface="Cascadia Code"/>
              </a:rPr>
              <a:t>// JWT elmentese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  window.location.href = </a:t>
            </a:r>
            <a:r>
              <a:rPr sz="1100">
                <a:solidFill>
                  <a:srgbClr val="FFD54F"/>
                </a:solidFill>
                <a:latin typeface="Cascadia Code"/>
              </a:rPr>
              <a:t>'main.html'</a:t>
            </a:r>
            <a:r>
              <a:rPr sz="1100">
                <a:solidFill>
                  <a:srgbClr val="B0BEC5"/>
                </a:solidFill>
                <a:latin typeface="Cascadia Code"/>
              </a:rPr>
              <a:t>;  </a:t>
            </a:r>
            <a:r>
              <a:rPr sz="1100">
                <a:solidFill>
                  <a:srgbClr val="607D8B"/>
                </a:solidFill>
                <a:latin typeface="Cascadia Code"/>
              </a:rPr>
              <a:t>// atiranyitas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} else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  loginErrorDiv.textContent = data.error || </a:t>
            </a:r>
            <a:r>
              <a:rPr sz="1100">
                <a:solidFill>
                  <a:srgbClr val="FFD54F"/>
                </a:solidFill>
                <a:latin typeface="Cascadia Code"/>
              </a:rPr>
              <a:t>'Sikertelen bejelentkezes.'</a:t>
            </a:r>
            <a:r>
              <a:rPr sz="1100">
                <a:solidFill>
                  <a:srgbClr val="B0BEC5"/>
                </a:solidFill>
                <a:latin typeface="Cascadia Code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0BEC5"/>
                </a:solidFill>
                <a:latin typeface="Cascadia Code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10 / 15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B2E1E6BF-73DC-48AD-A63B-4135DF2B1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907" y="1261871"/>
            <a:ext cx="3071846" cy="52303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4FC3F7"/>
                </a:solidFill>
                <a:latin typeface="Segoe UI"/>
              </a:rPr>
              <a:t>FRONTEND K</a:t>
            </a:r>
            <a:r>
              <a:rPr lang="hu-HU" sz="900" b="1" i="0" dirty="0">
                <a:solidFill>
                  <a:srgbClr val="4FC3F7"/>
                </a:solidFill>
                <a:latin typeface="Segoe UI"/>
              </a:rPr>
              <a:t>Ó</a:t>
            </a:r>
            <a:r>
              <a:rPr sz="900" b="1" i="0" dirty="0">
                <a:solidFill>
                  <a:srgbClr val="4FC3F7"/>
                </a:solidFill>
                <a:latin typeface="Segoe UI"/>
              </a:rPr>
              <a:t>D  -  MAIN-APP.JS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7455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E8F0FE"/>
                </a:solidFill>
                <a:latin typeface="Segoe UI"/>
              </a:rPr>
              <a:t>Hib</a:t>
            </a:r>
            <a:r>
              <a:rPr lang="hu-HU" sz="2600" b="1" i="0" dirty="0">
                <a:solidFill>
                  <a:srgbClr val="E8F0FE"/>
                </a:solidFill>
                <a:latin typeface="Segoe UI"/>
              </a:rPr>
              <a:t>á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k 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megjelen</a:t>
            </a:r>
            <a:r>
              <a:rPr lang="hu-HU" sz="2600" b="1" i="0" dirty="0">
                <a:solidFill>
                  <a:srgbClr val="E8F0FE"/>
                </a:solidFill>
                <a:latin typeface="Segoe UI"/>
              </a:rPr>
              <a:t>í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t</a:t>
            </a:r>
            <a:r>
              <a:rPr lang="hu-HU" sz="2600" b="1" i="0" dirty="0">
                <a:solidFill>
                  <a:srgbClr val="E8F0FE"/>
                </a:solidFill>
                <a:latin typeface="Segoe UI"/>
              </a:rPr>
              <a:t>é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se  -  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renderFaults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()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5257800"/>
          </a:xfrm>
          <a:prstGeom prst="rect">
            <a:avLst/>
          </a:prstGeom>
          <a:solidFill>
            <a:srgbClr val="05101A"/>
          </a:solidFill>
          <a:ln w="12700">
            <a:solidFill>
              <a:srgbClr val="1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307593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93D8"/>
                </a:solidFill>
                <a:latin typeface="Cascadia Code"/>
              </a:rPr>
              <a:t>function </a:t>
            </a:r>
            <a:r>
              <a:rPr sz="1100" dirty="0" err="1">
                <a:solidFill>
                  <a:srgbClr val="69F0AE"/>
                </a:solidFill>
                <a:latin typeface="Cascadia Code"/>
              </a:rPr>
              <a:t>renderFaults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(faults)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93D8"/>
                </a:solidFill>
                <a:latin typeface="Cascadia Code"/>
              </a:rPr>
              <a:t>  const </a:t>
            </a:r>
            <a:r>
              <a:rPr sz="1100" dirty="0" err="1">
                <a:solidFill>
                  <a:srgbClr val="E8F0FE"/>
                </a:solidFill>
                <a:latin typeface="Cascadia Code"/>
              </a:rPr>
              <a:t>tableBody</a:t>
            </a:r>
            <a:r>
              <a:rPr sz="1100" dirty="0">
                <a:solidFill>
                  <a:srgbClr val="E8F0FE"/>
                </a:solidFill>
                <a:latin typeface="Cascadia Code"/>
              </a:rPr>
              <a:t> 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=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document.getElementById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'</a:t>
            </a:r>
            <a:r>
              <a:rPr sz="1100" dirty="0" err="1">
                <a:solidFill>
                  <a:srgbClr val="FFD54F"/>
                </a:solidFill>
                <a:latin typeface="Cascadia Code"/>
              </a:rPr>
              <a:t>faultsTableBody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'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B0BEC5"/>
                </a:solidFill>
                <a:latin typeface="Cascadia Code"/>
              </a:rPr>
              <a:t> 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tableBody.innerHTML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 = '';  </a:t>
            </a:r>
            <a:r>
              <a:rPr sz="1100" dirty="0">
                <a:solidFill>
                  <a:srgbClr val="607D8B"/>
                </a:solidFill>
                <a:latin typeface="Cascadia Code"/>
              </a:rPr>
              <a:t>// </a:t>
            </a:r>
            <a:r>
              <a:rPr sz="1100" dirty="0" err="1">
                <a:solidFill>
                  <a:srgbClr val="607D8B"/>
                </a:solidFill>
                <a:latin typeface="Cascadia Code"/>
              </a:rPr>
              <a:t>tabla</a:t>
            </a:r>
            <a:r>
              <a:rPr sz="1100" dirty="0">
                <a:solidFill>
                  <a:srgbClr val="607D8B"/>
                </a:solidFill>
                <a:latin typeface="Cascadia Code"/>
              </a:rPr>
              <a:t> </a:t>
            </a:r>
            <a:r>
              <a:rPr sz="1100" dirty="0" err="1">
                <a:solidFill>
                  <a:srgbClr val="607D8B"/>
                </a:solidFill>
                <a:latin typeface="Cascadia Code"/>
              </a:rPr>
              <a:t>torleése</a:t>
            </a:r>
            <a:r>
              <a:rPr sz="1100" dirty="0">
                <a:solidFill>
                  <a:srgbClr val="607D8B"/>
                </a:solidFill>
                <a:latin typeface="Cascadia Code"/>
              </a:rPr>
              <a:t> </a:t>
            </a:r>
            <a:r>
              <a:rPr sz="1100" dirty="0" err="1">
                <a:solidFill>
                  <a:srgbClr val="607D8B"/>
                </a:solidFill>
                <a:latin typeface="Cascadia Code"/>
              </a:rPr>
              <a:t>ujrarendereles</a:t>
            </a:r>
            <a:r>
              <a:rPr sz="1100" dirty="0">
                <a:solidFill>
                  <a:srgbClr val="607D8B"/>
                </a:solidFill>
                <a:latin typeface="Cascadia Code"/>
              </a:rPr>
              <a:t> </a:t>
            </a:r>
            <a:r>
              <a:rPr sz="1100" dirty="0" err="1">
                <a:solidFill>
                  <a:srgbClr val="607D8B"/>
                </a:solidFill>
                <a:latin typeface="Cascadia Code"/>
              </a:rPr>
              <a:t>elott</a:t>
            </a:r>
            <a:endParaRPr sz="1100" dirty="0">
              <a:solidFill>
                <a:srgbClr val="607D8B"/>
              </a:solidFill>
              <a:latin typeface="Cascadia Code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69F0AE"/>
                </a:solidFill>
                <a:latin typeface="Cascadia Code"/>
              </a:rPr>
              <a:t>  </a:t>
            </a:r>
            <a:r>
              <a:rPr sz="1100" dirty="0" err="1">
                <a:solidFill>
                  <a:srgbClr val="69F0AE"/>
                </a:solidFill>
                <a:latin typeface="Cascadia Code"/>
              </a:rPr>
              <a:t>faults.forEach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(fault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93D8"/>
                </a:solidFill>
                <a:latin typeface="Cascadia Code"/>
              </a:rPr>
              <a:t>    const </a:t>
            </a:r>
            <a:r>
              <a:rPr sz="1100" dirty="0">
                <a:solidFill>
                  <a:srgbClr val="E8F0FE"/>
                </a:solidFill>
                <a:latin typeface="Cascadia Code"/>
              </a:rPr>
              <a:t>row 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=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tableBody.insertRow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B0BEC5"/>
                </a:solidFill>
                <a:latin typeface="Cascadia Code"/>
              </a:rPr>
              <a:t>   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row.insertCell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().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textContent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 =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fault.datum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B0BEC5"/>
                </a:solidFill>
                <a:latin typeface="Cascadia Code"/>
              </a:rPr>
              <a:t>   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row.insertCell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().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textContent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 =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fault.terem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B0BEC5"/>
                </a:solidFill>
                <a:latin typeface="Cascadia Code"/>
              </a:rPr>
              <a:t>   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row.insertCell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().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textContent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 =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fault.leiras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607D8B"/>
                </a:solidFill>
                <a:latin typeface="Cascadia Code"/>
              </a:rPr>
              <a:t>    // </a:t>
            </a:r>
            <a:r>
              <a:rPr sz="1100" dirty="0" err="1">
                <a:solidFill>
                  <a:srgbClr val="607D8B"/>
                </a:solidFill>
                <a:latin typeface="Cascadia Code"/>
              </a:rPr>
              <a:t>Allapot</a:t>
            </a:r>
            <a:r>
              <a:rPr sz="1100" dirty="0">
                <a:solidFill>
                  <a:srgbClr val="607D8B"/>
                </a:solidFill>
                <a:latin typeface="Cascadia Code"/>
              </a:rPr>
              <a:t> - Bootstrap badge </a:t>
            </a:r>
            <a:r>
              <a:rPr sz="1100" dirty="0" err="1">
                <a:solidFill>
                  <a:srgbClr val="607D8B"/>
                </a:solidFill>
                <a:latin typeface="Cascadia Code"/>
              </a:rPr>
              <a:t>szinezessel</a:t>
            </a:r>
            <a:endParaRPr sz="1100" dirty="0">
              <a:solidFill>
                <a:srgbClr val="607D8B"/>
              </a:solidFill>
              <a:latin typeface="Cascadia Code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93D8"/>
                </a:solidFill>
                <a:latin typeface="Cascadia Code"/>
              </a:rPr>
              <a:t>    const </a:t>
            </a:r>
            <a:r>
              <a:rPr sz="1100" dirty="0" err="1">
                <a:solidFill>
                  <a:srgbClr val="E8F0FE"/>
                </a:solidFill>
                <a:latin typeface="Cascadia Code"/>
              </a:rPr>
              <a:t>szin</a:t>
            </a:r>
            <a:r>
              <a:rPr sz="1100" dirty="0">
                <a:solidFill>
                  <a:srgbClr val="E8F0FE"/>
                </a:solidFill>
                <a:latin typeface="Cascadia Code"/>
              </a:rPr>
              <a:t> 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=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fault.allapot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 === 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'</a:t>
            </a:r>
            <a:r>
              <a:rPr sz="1100" dirty="0" err="1">
                <a:solidFill>
                  <a:srgbClr val="FFD54F"/>
                </a:solidFill>
                <a:latin typeface="Cascadia Code"/>
              </a:rPr>
              <a:t>bejelentve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'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 ? 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'warning'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 : 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'success'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B0BEC5"/>
                </a:solidFill>
                <a:latin typeface="Cascadia Code"/>
              </a:rPr>
              <a:t>   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row.insertCell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().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innerHTML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 = `&lt;span class="badge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bg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-${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szin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}"&gt;${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fault.allapot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}&lt;/span&gt;`;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B0BEC5"/>
                </a:solidFill>
                <a:latin typeface="Cascadi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607D8B"/>
                </a:solidFill>
                <a:latin typeface="Cascadia Code"/>
              </a:rPr>
              <a:t>    // </a:t>
            </a:r>
            <a:r>
              <a:rPr sz="1100" dirty="0" err="1">
                <a:solidFill>
                  <a:srgbClr val="607D8B"/>
                </a:solidFill>
                <a:latin typeface="Cascadia Code"/>
              </a:rPr>
              <a:t>Javitas</a:t>
            </a:r>
            <a:r>
              <a:rPr sz="1100" dirty="0">
                <a:solidFill>
                  <a:srgbClr val="607D8B"/>
                </a:solidFill>
                <a:latin typeface="Cascadia Code"/>
              </a:rPr>
              <a:t> </a:t>
            </a:r>
            <a:r>
              <a:rPr sz="1100" dirty="0" err="1">
                <a:solidFill>
                  <a:srgbClr val="607D8B"/>
                </a:solidFill>
                <a:latin typeface="Cascadia Code"/>
              </a:rPr>
              <a:t>gomb</a:t>
            </a:r>
            <a:r>
              <a:rPr sz="1100" dirty="0">
                <a:solidFill>
                  <a:srgbClr val="607D8B"/>
                </a:solidFill>
                <a:latin typeface="Cascadia Code"/>
              </a:rPr>
              <a:t> - </a:t>
            </a:r>
            <a:r>
              <a:rPr sz="1100" dirty="0" err="1">
                <a:solidFill>
                  <a:srgbClr val="607D8B"/>
                </a:solidFill>
                <a:latin typeface="Cascadia Code"/>
              </a:rPr>
              <a:t>csak</a:t>
            </a:r>
            <a:r>
              <a:rPr sz="1100" dirty="0">
                <a:solidFill>
                  <a:srgbClr val="607D8B"/>
                </a:solidFill>
                <a:latin typeface="Cascadia Code"/>
              </a:rPr>
              <a:t> </a:t>
            </a:r>
            <a:r>
              <a:rPr sz="1100" dirty="0" err="1">
                <a:solidFill>
                  <a:srgbClr val="607D8B"/>
                </a:solidFill>
                <a:latin typeface="Cascadia Code"/>
              </a:rPr>
              <a:t>karbantarto</a:t>
            </a:r>
            <a:r>
              <a:rPr sz="1100" dirty="0">
                <a:solidFill>
                  <a:srgbClr val="607D8B"/>
                </a:solidFill>
                <a:latin typeface="Cascadia Code"/>
              </a:rPr>
              <a:t> / admin </a:t>
            </a:r>
            <a:r>
              <a:rPr sz="1100" dirty="0" err="1">
                <a:solidFill>
                  <a:srgbClr val="607D8B"/>
                </a:solidFill>
                <a:latin typeface="Cascadia Code"/>
              </a:rPr>
              <a:t>latja</a:t>
            </a:r>
            <a:endParaRPr sz="1100" dirty="0">
              <a:solidFill>
                <a:srgbClr val="607D8B"/>
              </a:solidFill>
              <a:latin typeface="Cascadia Code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93D8"/>
                </a:solidFill>
                <a:latin typeface="Cascadia Code"/>
              </a:rPr>
              <a:t>    if 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fault.allapot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 === 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'</a:t>
            </a:r>
            <a:r>
              <a:rPr sz="1100" dirty="0" err="1">
                <a:solidFill>
                  <a:srgbClr val="FFD54F"/>
                </a:solidFill>
                <a:latin typeface="Cascadia Code"/>
              </a:rPr>
              <a:t>bejelentve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'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 &amp;&amp; (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szerep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 === 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'admin'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 ||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szerep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 === 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'</a:t>
            </a:r>
            <a:r>
              <a:rPr sz="1100" dirty="0" err="1">
                <a:solidFill>
                  <a:srgbClr val="FFD54F"/>
                </a:solidFill>
                <a:latin typeface="Cascadia Code"/>
              </a:rPr>
              <a:t>karbantarto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'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))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93D8"/>
                </a:solidFill>
                <a:latin typeface="Cascadia Code"/>
              </a:rPr>
              <a:t>      const </a:t>
            </a:r>
            <a:r>
              <a:rPr sz="1100" dirty="0" err="1">
                <a:solidFill>
                  <a:srgbClr val="E8F0FE"/>
                </a:solidFill>
                <a:latin typeface="Cascadia Code"/>
              </a:rPr>
              <a:t>btn</a:t>
            </a:r>
            <a:r>
              <a:rPr sz="1100" dirty="0">
                <a:solidFill>
                  <a:srgbClr val="E8F0FE"/>
                </a:solidFill>
                <a:latin typeface="Cascadia Code"/>
              </a:rPr>
              <a:t> 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=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document.createElement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'button'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B0BEC5"/>
                </a:solidFill>
                <a:latin typeface="Cascadia Code"/>
              </a:rPr>
              <a:t>     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btn.textContent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 = 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'</a:t>
            </a:r>
            <a:r>
              <a:rPr sz="1100" dirty="0" err="1">
                <a:solidFill>
                  <a:srgbClr val="FFD54F"/>
                </a:solidFill>
                <a:latin typeface="Cascadia Code"/>
              </a:rPr>
              <a:t>Javitas</a:t>
            </a:r>
            <a:r>
              <a:rPr sz="1100" dirty="0">
                <a:solidFill>
                  <a:srgbClr val="FFD54F"/>
                </a:solidFill>
                <a:latin typeface="Cascadia Code"/>
              </a:rPr>
              <a:t>'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; 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btn.onclick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 = () =&gt; </a:t>
            </a:r>
            <a:r>
              <a:rPr sz="1100" dirty="0" err="1">
                <a:solidFill>
                  <a:srgbClr val="B0BEC5"/>
                </a:solidFill>
                <a:latin typeface="Cascadia Code"/>
              </a:rPr>
              <a:t>handleMarkAsFixed</a:t>
            </a:r>
            <a:r>
              <a:rPr sz="1100" dirty="0">
                <a:solidFill>
                  <a:srgbClr val="B0BEC5"/>
                </a:solidFill>
                <a:latin typeface="Cascadia Code"/>
              </a:rPr>
              <a:t>(fault.id);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B0BEC5"/>
                </a:solidFill>
                <a:latin typeface="Cascadia Code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B0BEC5"/>
                </a:solidFill>
                <a:latin typeface="Cascadia Code"/>
              </a:rPr>
              <a:t> 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B0BEC5"/>
                </a:solidFill>
                <a:latin typeface="Cascadia Code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11 / 15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04290A22-90A5-4459-9800-35B19F041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5435" y="1297115"/>
            <a:ext cx="3167852" cy="52225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4FC3F7"/>
                </a:solidFill>
                <a:latin typeface="Segoe UI"/>
              </a:rPr>
              <a:t>MIN</a:t>
            </a:r>
            <a:r>
              <a:rPr lang="hu-HU" sz="900" b="1" dirty="0">
                <a:solidFill>
                  <a:srgbClr val="4FC3F7"/>
                </a:solidFill>
                <a:latin typeface="Segoe UI"/>
              </a:rPr>
              <a:t>Ö</a:t>
            </a:r>
            <a:r>
              <a:rPr sz="900" b="1" i="0" dirty="0">
                <a:solidFill>
                  <a:srgbClr val="4FC3F7"/>
                </a:solidFill>
                <a:latin typeface="Segoe UI"/>
              </a:rPr>
              <a:t>S</a:t>
            </a:r>
            <a:r>
              <a:rPr lang="hu-HU" sz="900" b="1" i="0" dirty="0">
                <a:solidFill>
                  <a:srgbClr val="4FC3F7"/>
                </a:solidFill>
                <a:latin typeface="Segoe UI"/>
              </a:rPr>
              <a:t>É</a:t>
            </a:r>
            <a:r>
              <a:rPr sz="900" b="1" i="0" dirty="0">
                <a:solidFill>
                  <a:srgbClr val="4FC3F7"/>
                </a:solidFill>
                <a:latin typeface="Segoe UI"/>
              </a:rPr>
              <a:t>GBIZTOS</a:t>
            </a:r>
            <a:r>
              <a:rPr lang="hu-HU" sz="900" b="1" i="0" dirty="0">
                <a:solidFill>
                  <a:srgbClr val="4FC3F7"/>
                </a:solidFill>
                <a:latin typeface="Segoe UI"/>
              </a:rPr>
              <a:t>Í</a:t>
            </a:r>
            <a:r>
              <a:rPr sz="900" b="1" i="0" dirty="0">
                <a:solidFill>
                  <a:srgbClr val="4FC3F7"/>
                </a:solidFill>
                <a:latin typeface="Segoe UI"/>
              </a:rPr>
              <a:t>T</a:t>
            </a:r>
            <a:r>
              <a:rPr lang="hu-HU" sz="900" b="1" i="0" dirty="0">
                <a:solidFill>
                  <a:srgbClr val="4FC3F7"/>
                </a:solidFill>
                <a:latin typeface="Segoe UI"/>
              </a:rPr>
              <a:t>Á</a:t>
            </a:r>
            <a:r>
              <a:rPr sz="900" b="1" i="0" dirty="0">
                <a:solidFill>
                  <a:srgbClr val="4FC3F7"/>
                </a:solidFill>
                <a:latin typeface="Segoe UI"/>
              </a:rPr>
              <a:t>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7455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 err="1">
                <a:solidFill>
                  <a:srgbClr val="E8F0FE"/>
                </a:solidFill>
                <a:latin typeface="Segoe UI"/>
              </a:rPr>
              <a:t>Tesztel</a:t>
            </a:r>
            <a:r>
              <a:rPr lang="hu-HU" sz="2600" b="1" i="0" dirty="0">
                <a:solidFill>
                  <a:srgbClr val="E8F0FE"/>
                </a:solidFill>
                <a:latin typeface="Segoe UI"/>
              </a:rPr>
              <a:t>é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3657600" cy="3657600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8F0FE"/>
                </a:solidFill>
                <a:latin typeface="Segoe UI"/>
              </a:rPr>
              <a:t>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8132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C3F7"/>
                </a:solidFill>
                <a:latin typeface="Segoe UI"/>
              </a:rPr>
              <a:t>API tesztek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3200400" cy="82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</a:t>
            </a:r>
            <a:r>
              <a:rPr sz="1300" dirty="0" err="1">
                <a:solidFill>
                  <a:srgbClr val="B0BEC5"/>
                </a:solidFill>
              </a:rPr>
              <a:t>api_test.http</a:t>
            </a:r>
            <a:r>
              <a:rPr sz="1300" dirty="0">
                <a:solidFill>
                  <a:srgbClr val="B0BEC5"/>
                </a:solidFill>
              </a:rPr>
              <a:t> - REST Client f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 err="1">
                <a:solidFill>
                  <a:srgbClr val="B0BEC5"/>
                </a:solidFill>
              </a:rPr>
              <a:t>jl</a:t>
            </a:r>
            <a:endParaRPr sz="1300" dirty="0">
              <a:solidFill>
                <a:srgbClr val="B0BEC5"/>
              </a:solidFill>
            </a:endParaRP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Minden v</a:t>
            </a:r>
            <a:r>
              <a:rPr lang="hu-HU" sz="1300" dirty="0">
                <a:solidFill>
                  <a:srgbClr val="B0BEC5"/>
                </a:solidFill>
              </a:rPr>
              <a:t>é</a:t>
            </a:r>
            <a:r>
              <a:rPr sz="1300" dirty="0" err="1">
                <a:solidFill>
                  <a:srgbClr val="B0BEC5"/>
                </a:solidFill>
              </a:rPr>
              <a:t>gpont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sz="1300" dirty="0" err="1">
                <a:solidFill>
                  <a:srgbClr val="B0BEC5"/>
                </a:solidFill>
              </a:rPr>
              <a:t>manuálisan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sz="1300" dirty="0" err="1">
                <a:solidFill>
                  <a:srgbClr val="B0BEC5"/>
                </a:solidFill>
              </a:rPr>
              <a:t>tesztelt</a:t>
            </a:r>
            <a:endParaRPr sz="1300" dirty="0">
              <a:solidFill>
                <a:srgbClr val="B0BEC5"/>
              </a:solidFill>
            </a:endParaRP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Login, </a:t>
            </a:r>
            <a:r>
              <a:rPr sz="1300" dirty="0" err="1">
                <a:solidFill>
                  <a:srgbClr val="B0BEC5"/>
                </a:solidFill>
              </a:rPr>
              <a:t>hib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>
                <a:solidFill>
                  <a:srgbClr val="B0BEC5"/>
                </a:solidFill>
              </a:rPr>
              <a:t>k, </a:t>
            </a:r>
            <a:r>
              <a:rPr sz="1300" dirty="0" err="1">
                <a:solidFill>
                  <a:srgbClr val="B0BEC5"/>
                </a:solidFill>
              </a:rPr>
              <a:t>jav</a:t>
            </a:r>
            <a:r>
              <a:rPr lang="hu-HU" sz="1300" dirty="0">
                <a:solidFill>
                  <a:srgbClr val="B0BEC5"/>
                </a:solidFill>
              </a:rPr>
              <a:t>í</a:t>
            </a:r>
            <a:r>
              <a:rPr sz="1300" dirty="0">
                <a:solidFill>
                  <a:srgbClr val="B0BEC5"/>
                </a:solidFill>
              </a:rPr>
              <a:t>t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>
                <a:solidFill>
                  <a:srgbClr val="B0BEC5"/>
                </a:solidFill>
              </a:rPr>
              <a:t>s, t</a:t>
            </a:r>
            <a:r>
              <a:rPr lang="hu-HU" sz="1300" dirty="0">
                <a:solidFill>
                  <a:srgbClr val="B0BEC5"/>
                </a:solidFill>
              </a:rPr>
              <a:t>ö</a:t>
            </a:r>
            <a:r>
              <a:rPr sz="1300" dirty="0" err="1">
                <a:solidFill>
                  <a:srgbClr val="B0BEC5"/>
                </a:solidFill>
              </a:rPr>
              <a:t>rl</a:t>
            </a:r>
            <a:r>
              <a:rPr lang="hu-HU" sz="1300" dirty="0">
                <a:solidFill>
                  <a:srgbClr val="B0BEC5"/>
                </a:solidFill>
              </a:rPr>
              <a:t>é</a:t>
            </a:r>
            <a:r>
              <a:rPr sz="1300" dirty="0">
                <a:solidFill>
                  <a:srgbClr val="B0BEC5"/>
                </a:solidFill>
              </a:rPr>
              <a:t>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261872"/>
            <a:ext cx="3657600" cy="3657600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8F0FE"/>
                </a:solidFill>
                <a:latin typeface="Segoe UI"/>
              </a:rPr>
              <a:t>🖥️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48132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A825"/>
                </a:solidFill>
                <a:latin typeface="Segoe UI"/>
              </a:rPr>
              <a:t>E2E tesztek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48840"/>
            <a:ext cx="3200400" cy="82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e2etests.md - </a:t>
            </a:r>
            <a:r>
              <a:rPr sz="1300" dirty="0" err="1">
                <a:solidFill>
                  <a:srgbClr val="B0BEC5"/>
                </a:solidFill>
              </a:rPr>
              <a:t>forgat</a:t>
            </a:r>
            <a:r>
              <a:rPr lang="hu-HU" sz="1300" dirty="0">
                <a:solidFill>
                  <a:srgbClr val="B0BEC5"/>
                </a:solidFill>
              </a:rPr>
              <a:t>ó</a:t>
            </a:r>
            <a:r>
              <a:rPr sz="1300" dirty="0">
                <a:solidFill>
                  <a:srgbClr val="B0BEC5"/>
                </a:solidFill>
              </a:rPr>
              <a:t>k</a:t>
            </a:r>
            <a:r>
              <a:rPr lang="hu-HU" sz="1300" dirty="0">
                <a:solidFill>
                  <a:srgbClr val="B0BEC5"/>
                </a:solidFill>
              </a:rPr>
              <a:t>ö</a:t>
            </a:r>
            <a:r>
              <a:rPr sz="1300" dirty="0" err="1">
                <a:solidFill>
                  <a:srgbClr val="B0BEC5"/>
                </a:solidFill>
              </a:rPr>
              <a:t>nyvek</a:t>
            </a:r>
            <a:endParaRPr sz="1300" dirty="0">
              <a:solidFill>
                <a:srgbClr val="B0BEC5"/>
              </a:solidFill>
            </a:endParaRP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e2e_futtatás.xlsx - </a:t>
            </a:r>
            <a:r>
              <a:rPr sz="1300" dirty="0" err="1">
                <a:solidFill>
                  <a:srgbClr val="B0BEC5"/>
                </a:solidFill>
              </a:rPr>
              <a:t>futtat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 err="1">
                <a:solidFill>
                  <a:srgbClr val="B0BEC5"/>
                </a:solidFill>
              </a:rPr>
              <a:t>si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sz="1300" dirty="0" err="1">
                <a:solidFill>
                  <a:srgbClr val="B0BEC5"/>
                </a:solidFill>
              </a:rPr>
              <a:t>napl</a:t>
            </a:r>
            <a:r>
              <a:rPr lang="hu-HU" sz="1300" dirty="0">
                <a:solidFill>
                  <a:srgbClr val="B0BEC5"/>
                </a:solidFill>
              </a:rPr>
              <a:t>ó</a:t>
            </a:r>
            <a:endParaRPr sz="1300" dirty="0">
              <a:solidFill>
                <a:srgbClr val="B0BEC5"/>
              </a:solidFill>
            </a:endParaRP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</a:t>
            </a:r>
            <a:r>
              <a:rPr sz="1300" dirty="0" err="1">
                <a:solidFill>
                  <a:srgbClr val="B0BEC5"/>
                </a:solidFill>
              </a:rPr>
              <a:t>Teljes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sz="1300" dirty="0" err="1">
                <a:solidFill>
                  <a:srgbClr val="B0BEC5"/>
                </a:solidFill>
              </a:rPr>
              <a:t>felhasznal</a:t>
            </a:r>
            <a:r>
              <a:rPr lang="hu-HU" sz="1300" dirty="0">
                <a:solidFill>
                  <a:srgbClr val="B0BEC5"/>
                </a:solidFill>
              </a:rPr>
              <a:t>ó</a:t>
            </a:r>
            <a:r>
              <a:rPr sz="1300" dirty="0" err="1">
                <a:solidFill>
                  <a:srgbClr val="B0BEC5"/>
                </a:solidFill>
              </a:rPr>
              <a:t>i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sz="1300" dirty="0" err="1">
                <a:solidFill>
                  <a:srgbClr val="B0BEC5"/>
                </a:solidFill>
              </a:rPr>
              <a:t>folyamatok</a:t>
            </a:r>
            <a:endParaRPr sz="1300" dirty="0">
              <a:solidFill>
                <a:srgbClr val="B0BEC5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21040" y="1261872"/>
            <a:ext cx="3657600" cy="3657600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19" y="14173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8F0FE"/>
                </a:solidFill>
                <a:latin typeface="Segoe UI"/>
              </a:rPr>
              <a:t>🗃️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148132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3E97B"/>
                </a:solidFill>
                <a:latin typeface="Segoe UI"/>
              </a:rPr>
              <a:t>Tesztadatok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148840"/>
            <a:ext cx="3200400" cy="82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</a:t>
            </a:r>
            <a:r>
              <a:rPr sz="1300" dirty="0" err="1">
                <a:solidFill>
                  <a:srgbClr val="B0BEC5"/>
                </a:solidFill>
              </a:rPr>
              <a:t>tesztadatok.sql</a:t>
            </a:r>
            <a:r>
              <a:rPr sz="1300" dirty="0">
                <a:solidFill>
                  <a:srgbClr val="B0BEC5"/>
                </a:solidFill>
              </a:rPr>
              <a:t> - 5 </a:t>
            </a:r>
            <a:r>
              <a:rPr sz="1300" dirty="0" err="1">
                <a:solidFill>
                  <a:srgbClr val="B0BEC5"/>
                </a:solidFill>
              </a:rPr>
              <a:t>felhaszn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>
                <a:solidFill>
                  <a:srgbClr val="B0BEC5"/>
                </a:solidFill>
              </a:rPr>
              <a:t>l</a:t>
            </a:r>
            <a:r>
              <a:rPr lang="hu-HU" sz="1300" dirty="0">
                <a:solidFill>
                  <a:srgbClr val="B0BEC5"/>
                </a:solidFill>
              </a:rPr>
              <a:t>ó</a:t>
            </a:r>
            <a:endParaRPr sz="1300" dirty="0">
              <a:solidFill>
                <a:srgbClr val="B0BEC5"/>
              </a:solidFill>
            </a:endParaRP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admin / tan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 err="1">
                <a:solidFill>
                  <a:srgbClr val="B0BEC5"/>
                </a:solidFill>
              </a:rPr>
              <a:t>rok</a:t>
            </a:r>
            <a:r>
              <a:rPr sz="1300" dirty="0">
                <a:solidFill>
                  <a:srgbClr val="B0BEC5"/>
                </a:solidFill>
              </a:rPr>
              <a:t> / </a:t>
            </a:r>
            <a:r>
              <a:rPr sz="1300" dirty="0" err="1">
                <a:solidFill>
                  <a:srgbClr val="B0BEC5"/>
                </a:solidFill>
              </a:rPr>
              <a:t>karbantartok</a:t>
            </a:r>
            <a:endParaRPr sz="1300" dirty="0">
              <a:solidFill>
                <a:srgbClr val="B0BEC5"/>
              </a:solidFill>
            </a:endParaRP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5 el</a:t>
            </a:r>
            <a:r>
              <a:rPr lang="hu-HU" sz="1300" dirty="0">
                <a:solidFill>
                  <a:srgbClr val="B0BEC5"/>
                </a:solidFill>
              </a:rPr>
              <a:t>ö</a:t>
            </a:r>
            <a:r>
              <a:rPr sz="1300" dirty="0">
                <a:solidFill>
                  <a:srgbClr val="B0BEC5"/>
                </a:solidFill>
              </a:rPr>
              <a:t>re </a:t>
            </a:r>
            <a:r>
              <a:rPr sz="1300" dirty="0" err="1">
                <a:solidFill>
                  <a:srgbClr val="B0BEC5"/>
                </a:solidFill>
              </a:rPr>
              <a:t>defini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 err="1">
                <a:solidFill>
                  <a:srgbClr val="B0BEC5"/>
                </a:solidFill>
              </a:rPr>
              <a:t>lt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sz="1300" dirty="0" err="1">
                <a:solidFill>
                  <a:srgbClr val="B0BEC5"/>
                </a:solidFill>
              </a:rPr>
              <a:t>hibabejelent</a:t>
            </a:r>
            <a:r>
              <a:rPr lang="hu-HU" sz="1300" dirty="0">
                <a:solidFill>
                  <a:srgbClr val="B0BEC5"/>
                </a:solidFill>
              </a:rPr>
              <a:t>é</a:t>
            </a:r>
            <a:r>
              <a:rPr sz="1300" dirty="0">
                <a:solidFill>
                  <a:srgbClr val="B0BEC5"/>
                </a:solidFill>
              </a:rPr>
              <a:t>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66360"/>
            <a:ext cx="11274552" cy="1344168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2578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C3F7"/>
                </a:solidFill>
                <a:latin typeface="Segoe UI"/>
              </a:rPr>
              <a:t>Tesztkörnyezet inditasa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650992"/>
            <a:ext cx="11274552" cy="777240"/>
          </a:xfrm>
          <a:prstGeom prst="rect">
            <a:avLst/>
          </a:prstGeom>
          <a:solidFill>
            <a:srgbClr val="05101A"/>
          </a:solidFill>
          <a:ln w="12700">
            <a:solidFill>
              <a:srgbClr val="1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5760720"/>
            <a:ext cx="11000232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69F0AE"/>
                </a:solidFill>
                <a:latin typeface="Cascadia Code"/>
              </a:rPr>
              <a:t>$ sqlite3 </a:t>
            </a:r>
            <a:r>
              <a:rPr sz="1100" dirty="0" err="1">
                <a:solidFill>
                  <a:srgbClr val="69F0AE"/>
                </a:solidFill>
                <a:latin typeface="Cascadia Code"/>
              </a:rPr>
              <a:t>hibabejelento.db</a:t>
            </a:r>
            <a:r>
              <a:rPr sz="1100" dirty="0">
                <a:solidFill>
                  <a:srgbClr val="69F0AE"/>
                </a:solidFill>
                <a:latin typeface="Cascadia Code"/>
              </a:rPr>
              <a:t> &lt; tests/</a:t>
            </a:r>
            <a:r>
              <a:rPr sz="1100" dirty="0" err="1">
                <a:solidFill>
                  <a:srgbClr val="69F0AE"/>
                </a:solidFill>
                <a:latin typeface="Cascadia Code"/>
              </a:rPr>
              <a:t>tesztadatok.sql</a:t>
            </a:r>
            <a:endParaRPr sz="1100" dirty="0">
              <a:solidFill>
                <a:srgbClr val="69F0AE"/>
              </a:solidFill>
              <a:latin typeface="Cascadia Code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69F0AE"/>
                </a:solidFill>
                <a:latin typeface="Cascadia Code"/>
              </a:rPr>
              <a:t>$ </a:t>
            </a:r>
            <a:r>
              <a:rPr sz="1100" dirty="0" err="1">
                <a:solidFill>
                  <a:srgbClr val="69F0AE"/>
                </a:solidFill>
                <a:latin typeface="Cascadia Code"/>
              </a:rPr>
              <a:t>npm</a:t>
            </a:r>
            <a:r>
              <a:rPr sz="1100" dirty="0">
                <a:solidFill>
                  <a:srgbClr val="69F0AE"/>
                </a:solidFill>
                <a:latin typeface="Cascadia Code"/>
              </a:rPr>
              <a:t> start</a:t>
            </a:r>
            <a:r>
              <a:rPr sz="1100" dirty="0">
                <a:solidFill>
                  <a:srgbClr val="607D8B"/>
                </a:solidFill>
                <a:latin typeface="Cascadia Code"/>
              </a:rPr>
              <a:t>   # -&gt; http://localhost:3000  (PORT </a:t>
            </a:r>
            <a:r>
              <a:rPr sz="1100" dirty="0" err="1">
                <a:solidFill>
                  <a:srgbClr val="607D8B"/>
                </a:solidFill>
                <a:latin typeface="Cascadia Code"/>
              </a:rPr>
              <a:t>konfiguralhato</a:t>
            </a:r>
            <a:r>
              <a:rPr sz="1100" dirty="0">
                <a:solidFill>
                  <a:srgbClr val="607D8B"/>
                </a:solidFill>
                <a:latin typeface="Cascadia Code"/>
              </a:rPr>
              <a:t> .env-ben)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14 / 15</a:t>
            </a:r>
          </a:p>
        </p:txBody>
      </p:sp>
      <p:pic>
        <p:nvPicPr>
          <p:cNvPr id="22" name="Kép 21">
            <a:extLst>
              <a:ext uri="{FF2B5EF4-FFF2-40B4-BE49-F238E27FC236}">
                <a16:creationId xmlns:a16="http://schemas.microsoft.com/office/drawing/2014/main" id="{394804E9-A386-4A56-8BFE-EBD3B8B6B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00" y="3015298"/>
            <a:ext cx="3240000" cy="1831023"/>
          </a:xfrm>
          <a:prstGeom prst="rect">
            <a:avLst/>
          </a:prstGeom>
        </p:spPr>
      </p:pic>
      <p:pic>
        <p:nvPicPr>
          <p:cNvPr id="23" name="Kép 22">
            <a:extLst>
              <a:ext uri="{FF2B5EF4-FFF2-40B4-BE49-F238E27FC236}">
                <a16:creationId xmlns:a16="http://schemas.microsoft.com/office/drawing/2014/main" id="{316ABFF8-D011-4C6D-B08F-6D2EA5548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9840" y="3256040"/>
            <a:ext cx="3240000" cy="999844"/>
          </a:xfrm>
          <a:prstGeom prst="rect">
            <a:avLst/>
          </a:prstGeom>
        </p:spPr>
      </p:pic>
      <p:pic>
        <p:nvPicPr>
          <p:cNvPr id="24" name="Kép 23">
            <a:extLst>
              <a:ext uri="{FF2B5EF4-FFF2-40B4-BE49-F238E27FC236}">
                <a16:creationId xmlns:a16="http://schemas.microsoft.com/office/drawing/2014/main" id="{65E708C0-3F01-4D1F-85CC-BF27D7F4F2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920" y="3036862"/>
            <a:ext cx="3240000" cy="17413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hu-HU" sz="900" b="1" i="0" dirty="0">
                <a:solidFill>
                  <a:srgbClr val="4FC3F7"/>
                </a:solidFill>
                <a:latin typeface="Segoe UI"/>
              </a:rPr>
              <a:t>Ö</a:t>
            </a:r>
            <a:r>
              <a:rPr sz="900" b="1" i="0" dirty="0">
                <a:solidFill>
                  <a:srgbClr val="4FC3F7"/>
                </a:solidFill>
                <a:latin typeface="Segoe UI"/>
              </a:rPr>
              <a:t>SSZEFOGLAL</a:t>
            </a:r>
            <a:r>
              <a:rPr lang="hu-HU" sz="900" b="1" i="0" dirty="0">
                <a:solidFill>
                  <a:srgbClr val="4FC3F7"/>
                </a:solidFill>
                <a:latin typeface="Segoe UI"/>
              </a:rPr>
              <a:t>Á</a:t>
            </a:r>
            <a:r>
              <a:rPr sz="900" b="1" i="0" dirty="0">
                <a:solidFill>
                  <a:srgbClr val="4FC3F7"/>
                </a:solidFill>
                <a:latin typeface="Segoe UI"/>
              </a:rPr>
              <a:t>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7455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 err="1">
                <a:solidFill>
                  <a:srgbClr val="E8F0FE"/>
                </a:solidFill>
                <a:latin typeface="Segoe UI"/>
              </a:rPr>
              <a:t>Eredm</a:t>
            </a:r>
            <a:r>
              <a:rPr lang="hu-HU" sz="2600" b="1" i="0" dirty="0">
                <a:solidFill>
                  <a:srgbClr val="E8F0FE"/>
                </a:solidFill>
                <a:latin typeface="Segoe UI"/>
              </a:rPr>
              <a:t>é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ny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 &amp; 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Tovabb</a:t>
            </a:r>
            <a:r>
              <a:rPr lang="hu-HU" sz="2600" b="1" i="0" dirty="0">
                <a:solidFill>
                  <a:srgbClr val="E8F0FE"/>
                </a:solidFill>
                <a:latin typeface="Segoe UI"/>
              </a:rPr>
              <a:t> 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fejleszt</a:t>
            </a:r>
            <a:r>
              <a:rPr lang="hu-HU" sz="2600" b="1" i="0" dirty="0">
                <a:solidFill>
                  <a:srgbClr val="E8F0FE"/>
                </a:solidFill>
                <a:latin typeface="Segoe UI"/>
              </a:rPr>
              <a:t>é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si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 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lehet</a:t>
            </a:r>
            <a:r>
              <a:rPr lang="hu-HU" sz="2600" b="1" i="0" dirty="0">
                <a:solidFill>
                  <a:srgbClr val="E8F0FE"/>
                </a:solidFill>
                <a:latin typeface="Segoe UI"/>
              </a:rPr>
              <a:t>ő</a:t>
            </a:r>
            <a:r>
              <a:rPr sz="2600" b="1" i="0" dirty="0">
                <a:solidFill>
                  <a:srgbClr val="E8F0FE"/>
                </a:solidFill>
                <a:latin typeface="Segoe UI"/>
              </a:rPr>
              <a:t>s</a:t>
            </a:r>
            <a:r>
              <a:rPr lang="hu-HU" sz="2600" b="1" i="0" dirty="0">
                <a:solidFill>
                  <a:srgbClr val="E8F0FE"/>
                </a:solidFill>
                <a:latin typeface="Segoe UI"/>
              </a:rPr>
              <a:t>é</a:t>
            </a:r>
            <a:r>
              <a:rPr sz="2600" b="1" i="0" dirty="0" err="1">
                <a:solidFill>
                  <a:srgbClr val="E8F0FE"/>
                </a:solidFill>
                <a:latin typeface="Segoe UI"/>
              </a:rPr>
              <a:t>gek</a:t>
            </a:r>
            <a:endParaRPr sz="2600" b="1" i="0" dirty="0">
              <a:solidFill>
                <a:srgbClr val="E8F0FE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5394960" cy="5056632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43E97B"/>
                </a:solidFill>
                <a:latin typeface="Segoe UI"/>
              </a:rPr>
              <a:t>✅  Elk</a:t>
            </a:r>
            <a:r>
              <a:rPr lang="hu-HU" sz="1400" b="1" i="0" dirty="0">
                <a:solidFill>
                  <a:srgbClr val="43E97B"/>
                </a:solidFill>
                <a:latin typeface="Segoe UI"/>
              </a:rPr>
              <a:t>é</a:t>
            </a:r>
            <a:r>
              <a:rPr sz="1400" b="1" i="0" dirty="0" err="1">
                <a:solidFill>
                  <a:srgbClr val="43E97B"/>
                </a:solidFill>
                <a:latin typeface="Segoe UI"/>
              </a:rPr>
              <a:t>szult</a:t>
            </a:r>
            <a:r>
              <a:rPr sz="1400" b="1" i="0" dirty="0">
                <a:solidFill>
                  <a:srgbClr val="43E97B"/>
                </a:solidFill>
                <a:latin typeface="Segoe UI"/>
              </a:rPr>
              <a:t> </a:t>
            </a:r>
            <a:r>
              <a:rPr sz="1400" b="1" i="0" dirty="0" err="1">
                <a:solidFill>
                  <a:srgbClr val="43E97B"/>
                </a:solidFill>
                <a:latin typeface="Segoe UI"/>
              </a:rPr>
              <a:t>funkci</a:t>
            </a:r>
            <a:r>
              <a:rPr lang="hu-HU" sz="1400" b="1" i="0" dirty="0">
                <a:solidFill>
                  <a:srgbClr val="43E97B"/>
                </a:solidFill>
                <a:latin typeface="Segoe UI"/>
              </a:rPr>
              <a:t>ó</a:t>
            </a:r>
            <a:r>
              <a:rPr sz="1400" b="1" i="0" dirty="0">
                <a:solidFill>
                  <a:srgbClr val="43E97B"/>
                </a:solidFill>
                <a:latin typeface="Segoe UI"/>
              </a:rPr>
              <a:t>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4937760" cy="1613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</a:t>
            </a:r>
            <a:r>
              <a:rPr sz="1300" dirty="0" err="1">
                <a:solidFill>
                  <a:srgbClr val="B0BEC5"/>
                </a:solidFill>
              </a:rPr>
              <a:t>Szerepk</a:t>
            </a:r>
            <a:r>
              <a:rPr lang="hu-HU" sz="1300" dirty="0">
                <a:solidFill>
                  <a:srgbClr val="B0BEC5"/>
                </a:solidFill>
              </a:rPr>
              <a:t>ö</a:t>
            </a:r>
            <a:r>
              <a:rPr sz="1300" dirty="0">
                <a:solidFill>
                  <a:srgbClr val="B0BEC5"/>
                </a:solidFill>
              </a:rPr>
              <a:t>r-</a:t>
            </a:r>
            <a:r>
              <a:rPr sz="1300" dirty="0" err="1">
                <a:solidFill>
                  <a:srgbClr val="B0BEC5"/>
                </a:solidFill>
              </a:rPr>
              <a:t>alap</a:t>
            </a:r>
            <a:r>
              <a:rPr lang="hu-HU" sz="1300" dirty="0">
                <a:solidFill>
                  <a:srgbClr val="B0BEC5"/>
                </a:solidFill>
              </a:rPr>
              <a:t>ú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sz="1300" dirty="0" err="1">
                <a:solidFill>
                  <a:srgbClr val="B0BEC5"/>
                </a:solidFill>
              </a:rPr>
              <a:t>bejelentkezes</a:t>
            </a:r>
            <a:r>
              <a:rPr sz="1300" dirty="0">
                <a:solidFill>
                  <a:srgbClr val="B0BEC5"/>
                </a:solidFill>
              </a:rPr>
              <a:t> (JWT)</a:t>
            </a: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</a:t>
            </a:r>
            <a:r>
              <a:rPr sz="1300" dirty="0" err="1">
                <a:solidFill>
                  <a:srgbClr val="B0BEC5"/>
                </a:solidFill>
              </a:rPr>
              <a:t>Hibabejelentes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lang="hu-HU" sz="1300" dirty="0">
                <a:solidFill>
                  <a:srgbClr val="B0BEC5"/>
                </a:solidFill>
              </a:rPr>
              <a:t>é</a:t>
            </a:r>
            <a:r>
              <a:rPr sz="1300" dirty="0">
                <a:solidFill>
                  <a:srgbClr val="B0BEC5"/>
                </a:solidFill>
              </a:rPr>
              <a:t>s list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>
                <a:solidFill>
                  <a:srgbClr val="B0BEC5"/>
                </a:solidFill>
              </a:rPr>
              <a:t>z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>
                <a:solidFill>
                  <a:srgbClr val="B0BEC5"/>
                </a:solidFill>
              </a:rPr>
              <a:t>s </a:t>
            </a:r>
            <a:r>
              <a:rPr sz="1300" dirty="0" err="1">
                <a:solidFill>
                  <a:srgbClr val="B0BEC5"/>
                </a:solidFill>
              </a:rPr>
              <a:t>szur</a:t>
            </a:r>
            <a:r>
              <a:rPr lang="hu-HU" sz="1300" dirty="0">
                <a:solidFill>
                  <a:srgbClr val="B0BEC5"/>
                </a:solidFill>
              </a:rPr>
              <a:t>óv</a:t>
            </a:r>
            <a:r>
              <a:rPr sz="1300" dirty="0">
                <a:solidFill>
                  <a:srgbClr val="B0BEC5"/>
                </a:solidFill>
              </a:rPr>
              <a:t>al</a:t>
            </a: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</a:t>
            </a:r>
            <a:r>
              <a:rPr sz="1300" dirty="0" err="1">
                <a:solidFill>
                  <a:srgbClr val="B0BEC5"/>
                </a:solidFill>
              </a:rPr>
              <a:t>Jav</a:t>
            </a:r>
            <a:r>
              <a:rPr lang="hu-HU" sz="1300" dirty="0">
                <a:solidFill>
                  <a:srgbClr val="B0BEC5"/>
                </a:solidFill>
              </a:rPr>
              <a:t>í</a:t>
            </a:r>
            <a:r>
              <a:rPr sz="1300" dirty="0">
                <a:solidFill>
                  <a:srgbClr val="B0BEC5"/>
                </a:solidFill>
              </a:rPr>
              <a:t>t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>
                <a:solidFill>
                  <a:srgbClr val="B0BEC5"/>
                </a:solidFill>
              </a:rPr>
              <a:t>s </a:t>
            </a:r>
            <a:r>
              <a:rPr sz="1300" dirty="0" err="1">
                <a:solidFill>
                  <a:srgbClr val="B0BEC5"/>
                </a:solidFill>
              </a:rPr>
              <a:t>kezel</a:t>
            </a:r>
            <a:r>
              <a:rPr lang="hu-HU" sz="1300" dirty="0">
                <a:solidFill>
                  <a:srgbClr val="B0BEC5"/>
                </a:solidFill>
              </a:rPr>
              <a:t>é</a:t>
            </a:r>
            <a:r>
              <a:rPr sz="1300" dirty="0">
                <a:solidFill>
                  <a:srgbClr val="B0BEC5"/>
                </a:solidFill>
              </a:rPr>
              <a:t>se - </a:t>
            </a:r>
            <a:r>
              <a:rPr sz="1300" dirty="0" err="1">
                <a:solidFill>
                  <a:srgbClr val="B0BEC5"/>
                </a:solidFill>
              </a:rPr>
              <a:t>javit</a:t>
            </a:r>
            <a:r>
              <a:rPr lang="hu-HU" sz="1300" dirty="0">
                <a:solidFill>
                  <a:srgbClr val="B0BEC5"/>
                </a:solidFill>
              </a:rPr>
              <a:t>ó</a:t>
            </a:r>
            <a:r>
              <a:rPr sz="1300" dirty="0">
                <a:solidFill>
                  <a:srgbClr val="B0BEC5"/>
                </a:solidFill>
              </a:rPr>
              <a:t> + datum r</a:t>
            </a:r>
            <a:r>
              <a:rPr lang="hu-HU" sz="1300" dirty="0">
                <a:solidFill>
                  <a:srgbClr val="B0BEC5"/>
                </a:solidFill>
              </a:rPr>
              <a:t>ö</a:t>
            </a:r>
            <a:r>
              <a:rPr sz="1300" dirty="0" err="1">
                <a:solidFill>
                  <a:srgbClr val="B0BEC5"/>
                </a:solidFill>
              </a:rPr>
              <a:t>gz</a:t>
            </a:r>
            <a:r>
              <a:rPr lang="hu-HU" sz="1300" dirty="0">
                <a:solidFill>
                  <a:srgbClr val="B0BEC5"/>
                </a:solidFill>
              </a:rPr>
              <a:t>í</a:t>
            </a:r>
            <a:r>
              <a:rPr sz="1300" dirty="0" err="1">
                <a:solidFill>
                  <a:srgbClr val="B0BEC5"/>
                </a:solidFill>
              </a:rPr>
              <a:t>tve</a:t>
            </a:r>
            <a:endParaRPr sz="1300" dirty="0">
              <a:solidFill>
                <a:srgbClr val="B0BEC5"/>
              </a:solidFill>
            </a:endParaRP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Admin </a:t>
            </a:r>
            <a:r>
              <a:rPr sz="1300" dirty="0" err="1">
                <a:solidFill>
                  <a:srgbClr val="B0BEC5"/>
                </a:solidFill>
              </a:rPr>
              <a:t>felhaszn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>
                <a:solidFill>
                  <a:srgbClr val="B0BEC5"/>
                </a:solidFill>
              </a:rPr>
              <a:t>l</a:t>
            </a:r>
            <a:r>
              <a:rPr lang="hu-HU" sz="1300" dirty="0">
                <a:solidFill>
                  <a:srgbClr val="B0BEC5"/>
                </a:solidFill>
              </a:rPr>
              <a:t>ó</a:t>
            </a:r>
            <a:r>
              <a:rPr sz="1300" dirty="0" err="1">
                <a:solidFill>
                  <a:srgbClr val="B0BEC5"/>
                </a:solidFill>
              </a:rPr>
              <a:t>kézel</a:t>
            </a:r>
            <a:r>
              <a:rPr lang="hu-HU" sz="1300" dirty="0">
                <a:solidFill>
                  <a:srgbClr val="B0BEC5"/>
                </a:solidFill>
              </a:rPr>
              <a:t>ő</a:t>
            </a:r>
            <a:r>
              <a:rPr sz="1300" dirty="0">
                <a:solidFill>
                  <a:srgbClr val="B0BEC5"/>
                </a:solidFill>
              </a:rPr>
              <a:t> panel</a:t>
            </a: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</a:t>
            </a:r>
            <a:r>
              <a:rPr sz="1300" dirty="0" err="1">
                <a:solidFill>
                  <a:srgbClr val="B0BEC5"/>
                </a:solidFill>
              </a:rPr>
              <a:t>Reszponz</a:t>
            </a:r>
            <a:r>
              <a:rPr lang="hu-HU" sz="1300" dirty="0">
                <a:solidFill>
                  <a:srgbClr val="B0BEC5"/>
                </a:solidFill>
              </a:rPr>
              <a:t>í</a:t>
            </a:r>
            <a:r>
              <a:rPr sz="1300" dirty="0">
                <a:solidFill>
                  <a:srgbClr val="B0BEC5"/>
                </a:solidFill>
              </a:rPr>
              <a:t>v UI - Bootstrap 5</a:t>
            </a: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</a:t>
            </a:r>
            <a:r>
              <a:rPr lang="pt-BR" sz="1300" dirty="0">
                <a:solidFill>
                  <a:srgbClr val="B0BEC5"/>
                </a:solidFill>
              </a:rPr>
              <a:t>Manu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lang="pt-BR" sz="1300" dirty="0">
                <a:solidFill>
                  <a:srgbClr val="B0BEC5"/>
                </a:solidFill>
              </a:rPr>
              <a:t>lis API- </a:t>
            </a:r>
            <a:r>
              <a:rPr lang="hu-HU" sz="1300" dirty="0">
                <a:solidFill>
                  <a:srgbClr val="B0BEC5"/>
                </a:solidFill>
              </a:rPr>
              <a:t>o</a:t>
            </a:r>
            <a:r>
              <a:rPr lang="pt-BR" sz="1300" dirty="0">
                <a:solidFill>
                  <a:srgbClr val="B0BEC5"/>
                </a:solidFill>
              </a:rPr>
              <a:t>s E2E tesztek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61872"/>
            <a:ext cx="5394960" cy="5056632"/>
          </a:xfrm>
          <a:prstGeom prst="rect">
            <a:avLst/>
          </a:prstGeom>
          <a:solidFill>
            <a:srgbClr val="1B2D45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4FC3F7"/>
                </a:solidFill>
                <a:latin typeface="Segoe UI"/>
              </a:rPr>
              <a:t>🚀  Tov</a:t>
            </a:r>
            <a:r>
              <a:rPr lang="hu-HU" sz="1400" b="1" i="0" dirty="0">
                <a:solidFill>
                  <a:srgbClr val="4FC3F7"/>
                </a:solidFill>
                <a:latin typeface="Segoe UI"/>
              </a:rPr>
              <a:t>á</a:t>
            </a:r>
            <a:r>
              <a:rPr sz="1400" b="1" i="0" dirty="0">
                <a:solidFill>
                  <a:srgbClr val="4FC3F7"/>
                </a:solidFill>
                <a:latin typeface="Segoe UI"/>
              </a:rPr>
              <a:t>bb</a:t>
            </a:r>
            <a:r>
              <a:rPr lang="hu-HU" sz="1400" b="1" i="0" dirty="0">
                <a:solidFill>
                  <a:srgbClr val="4FC3F7"/>
                </a:solidFill>
                <a:latin typeface="Segoe UI"/>
              </a:rPr>
              <a:t> </a:t>
            </a:r>
            <a:r>
              <a:rPr sz="1400" b="1" i="0" dirty="0" err="1">
                <a:solidFill>
                  <a:srgbClr val="4FC3F7"/>
                </a:solidFill>
                <a:latin typeface="Segoe UI"/>
              </a:rPr>
              <a:t>fejleszt</a:t>
            </a:r>
            <a:r>
              <a:rPr lang="hu-HU" sz="1400" b="1" i="0" dirty="0">
                <a:solidFill>
                  <a:srgbClr val="4FC3F7"/>
                </a:solidFill>
                <a:latin typeface="Segoe UI"/>
              </a:rPr>
              <a:t>é</a:t>
            </a:r>
            <a:r>
              <a:rPr sz="1400" b="1" i="0" dirty="0" err="1">
                <a:solidFill>
                  <a:srgbClr val="4FC3F7"/>
                </a:solidFill>
                <a:latin typeface="Segoe UI"/>
              </a:rPr>
              <a:t>si</a:t>
            </a:r>
            <a:r>
              <a:rPr sz="1400" b="1" i="0" dirty="0">
                <a:solidFill>
                  <a:srgbClr val="4FC3F7"/>
                </a:solidFill>
                <a:latin typeface="Segoe UI"/>
              </a:rPr>
              <a:t> </a:t>
            </a:r>
            <a:r>
              <a:rPr lang="hu-HU" sz="1400" b="1" dirty="0">
                <a:solidFill>
                  <a:srgbClr val="4FC3F7"/>
                </a:solidFill>
                <a:latin typeface="Segoe UI"/>
              </a:rPr>
              <a:t>í</a:t>
            </a:r>
            <a:r>
              <a:rPr sz="1400" b="1" i="0" dirty="0" err="1">
                <a:solidFill>
                  <a:srgbClr val="4FC3F7"/>
                </a:solidFill>
                <a:latin typeface="Segoe UI"/>
              </a:rPr>
              <a:t>ranyok</a:t>
            </a:r>
            <a:endParaRPr sz="1400" b="1" i="0" dirty="0">
              <a:solidFill>
                <a:srgbClr val="4FC3F7"/>
              </a:solidFill>
              <a:latin typeface="Segoe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0" y="1874519"/>
            <a:ext cx="4937760" cy="134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E-mail </a:t>
            </a:r>
            <a:r>
              <a:rPr lang="hu-HU" sz="1300" dirty="0">
                <a:solidFill>
                  <a:srgbClr val="B0BEC5"/>
                </a:solidFill>
              </a:rPr>
              <a:t>ér</a:t>
            </a:r>
            <a:r>
              <a:rPr sz="1300" dirty="0" err="1">
                <a:solidFill>
                  <a:srgbClr val="B0BEC5"/>
                </a:solidFill>
              </a:rPr>
              <a:t>tes</a:t>
            </a:r>
            <a:r>
              <a:rPr lang="hu-HU" sz="1300" dirty="0">
                <a:solidFill>
                  <a:srgbClr val="B0BEC5"/>
                </a:solidFill>
              </a:rPr>
              <a:t>i</a:t>
            </a:r>
            <a:r>
              <a:rPr sz="1300" dirty="0">
                <a:solidFill>
                  <a:srgbClr val="B0BEC5"/>
                </a:solidFill>
              </a:rPr>
              <a:t>t</a:t>
            </a:r>
            <a:r>
              <a:rPr lang="hu-HU" sz="1300" dirty="0">
                <a:solidFill>
                  <a:srgbClr val="B0BEC5"/>
                </a:solidFill>
              </a:rPr>
              <a:t>é</a:t>
            </a:r>
            <a:r>
              <a:rPr sz="1300" dirty="0">
                <a:solidFill>
                  <a:srgbClr val="B0BEC5"/>
                </a:solidFill>
              </a:rPr>
              <a:t>s </a:t>
            </a:r>
            <a:r>
              <a:rPr sz="1300" dirty="0" err="1">
                <a:solidFill>
                  <a:srgbClr val="B0BEC5"/>
                </a:solidFill>
              </a:rPr>
              <a:t>karbantartoknak</a:t>
            </a:r>
            <a:endParaRPr sz="1300" dirty="0">
              <a:solidFill>
                <a:srgbClr val="B0BEC5"/>
              </a:solidFill>
            </a:endParaRP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K</a:t>
            </a:r>
            <a:r>
              <a:rPr lang="hu-HU" sz="1300" dirty="0">
                <a:solidFill>
                  <a:srgbClr val="B0BEC5"/>
                </a:solidFill>
              </a:rPr>
              <a:t>é</a:t>
            </a:r>
            <a:r>
              <a:rPr sz="1300" dirty="0">
                <a:solidFill>
                  <a:srgbClr val="B0BEC5"/>
                </a:solidFill>
              </a:rPr>
              <a:t>p</a:t>
            </a:r>
            <a:r>
              <a:rPr lang="hu-HU" sz="1300" dirty="0">
                <a:solidFill>
                  <a:srgbClr val="B0BEC5"/>
                </a:solidFill>
              </a:rPr>
              <a:t> </a:t>
            </a:r>
            <a:r>
              <a:rPr sz="1300" dirty="0">
                <a:solidFill>
                  <a:srgbClr val="B0BEC5"/>
                </a:solidFill>
              </a:rPr>
              <a:t>felt</a:t>
            </a:r>
            <a:r>
              <a:rPr lang="hu-HU" sz="1300" dirty="0">
                <a:solidFill>
                  <a:srgbClr val="B0BEC5"/>
                </a:solidFill>
              </a:rPr>
              <a:t>ö</a:t>
            </a:r>
            <a:r>
              <a:rPr sz="1300" dirty="0" err="1">
                <a:solidFill>
                  <a:srgbClr val="B0BEC5"/>
                </a:solidFill>
              </a:rPr>
              <a:t>ltes</a:t>
            </a:r>
            <a:r>
              <a:rPr sz="1300" dirty="0">
                <a:solidFill>
                  <a:srgbClr val="B0BEC5"/>
                </a:solidFill>
              </a:rPr>
              <a:t> a </a:t>
            </a:r>
            <a:r>
              <a:rPr sz="1300" dirty="0" err="1">
                <a:solidFill>
                  <a:srgbClr val="B0BEC5"/>
                </a:solidFill>
              </a:rPr>
              <a:t>hib</a:t>
            </a:r>
            <a:r>
              <a:rPr lang="hu-HU" sz="1300" dirty="0">
                <a:solidFill>
                  <a:srgbClr val="B0BEC5"/>
                </a:solidFill>
              </a:rPr>
              <a:t>á</a:t>
            </a:r>
            <a:r>
              <a:rPr sz="1300" dirty="0" err="1">
                <a:solidFill>
                  <a:srgbClr val="B0BEC5"/>
                </a:solidFill>
              </a:rPr>
              <a:t>khoz</a:t>
            </a:r>
            <a:endParaRPr sz="1300" dirty="0">
              <a:solidFill>
                <a:srgbClr val="B0BEC5"/>
              </a:solidFill>
            </a:endParaRP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</a:t>
            </a:r>
            <a:r>
              <a:rPr sz="1300" dirty="0" err="1">
                <a:solidFill>
                  <a:srgbClr val="B0BEC5"/>
                </a:solidFill>
              </a:rPr>
              <a:t>Prioritas</a:t>
            </a:r>
            <a:r>
              <a:rPr lang="hu-HU" sz="1300" dirty="0">
                <a:solidFill>
                  <a:srgbClr val="B0BEC5"/>
                </a:solidFill>
              </a:rPr>
              <a:t> </a:t>
            </a:r>
            <a:r>
              <a:rPr sz="1300" dirty="0" err="1">
                <a:solidFill>
                  <a:srgbClr val="B0BEC5"/>
                </a:solidFill>
              </a:rPr>
              <a:t>kezel</a:t>
            </a:r>
            <a:r>
              <a:rPr lang="hu-HU" sz="1300" dirty="0">
                <a:solidFill>
                  <a:srgbClr val="B0BEC5"/>
                </a:solidFill>
              </a:rPr>
              <a:t>é</a:t>
            </a:r>
            <a:r>
              <a:rPr sz="1300" dirty="0">
                <a:solidFill>
                  <a:srgbClr val="B0BEC5"/>
                </a:solidFill>
              </a:rPr>
              <a:t>s a </a:t>
            </a:r>
            <a:r>
              <a:rPr sz="1300" dirty="0" err="1">
                <a:solidFill>
                  <a:srgbClr val="B0BEC5"/>
                </a:solidFill>
              </a:rPr>
              <a:t>hibajegyeken</a:t>
            </a:r>
            <a:endParaRPr sz="1300" dirty="0">
              <a:solidFill>
                <a:srgbClr val="B0BEC5"/>
              </a:solidFill>
            </a:endParaRP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</a:t>
            </a:r>
            <a:r>
              <a:rPr sz="1300" dirty="0" err="1">
                <a:solidFill>
                  <a:srgbClr val="B0BEC5"/>
                </a:solidFill>
              </a:rPr>
              <a:t>Reszletesebb</a:t>
            </a:r>
            <a:r>
              <a:rPr sz="1300" dirty="0">
                <a:solidFill>
                  <a:srgbClr val="B0BEC5"/>
                </a:solidFill>
              </a:rPr>
              <a:t> </a:t>
            </a:r>
            <a:r>
              <a:rPr sz="1300" dirty="0" err="1">
                <a:solidFill>
                  <a:srgbClr val="B0BEC5"/>
                </a:solidFill>
              </a:rPr>
              <a:t>napl</a:t>
            </a:r>
            <a:r>
              <a:rPr lang="hu-HU" sz="1300" dirty="0">
                <a:solidFill>
                  <a:srgbClr val="B0BEC5"/>
                </a:solidFill>
              </a:rPr>
              <a:t>ó</a:t>
            </a:r>
            <a:r>
              <a:rPr sz="1300" dirty="0">
                <a:solidFill>
                  <a:srgbClr val="B0BEC5"/>
                </a:solidFill>
              </a:rPr>
              <a:t> / audit log</a:t>
            </a: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B0BEC5"/>
                </a:solidFill>
              </a:rPr>
              <a:t>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6473952"/>
            <a:ext cx="2103120" cy="310896"/>
          </a:xfrm>
          <a:prstGeom prst="rect">
            <a:avLst/>
          </a:prstGeom>
          <a:solidFill>
            <a:srgbClr val="1B2D45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647395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73E8"/>
                </a:solidFill>
                <a:latin typeface="Segoe UI"/>
              </a:rPr>
              <a:t>Node.js + Express.js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39" y="6473952"/>
            <a:ext cx="2103120" cy="310896"/>
          </a:xfrm>
          <a:prstGeom prst="rect">
            <a:avLst/>
          </a:prstGeom>
          <a:solidFill>
            <a:srgbClr val="1B2D45"/>
          </a:solidFill>
          <a:ln w="12700">
            <a:solidFill>
              <a:srgbClr val="43E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34639" y="647395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3E97B"/>
                </a:solidFill>
                <a:latin typeface="Segoe UI"/>
              </a:rPr>
              <a:t>SQLite + better-sqlite3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10912" y="6473952"/>
            <a:ext cx="2103120" cy="310896"/>
          </a:xfrm>
          <a:prstGeom prst="rect">
            <a:avLst/>
          </a:prstGeom>
          <a:solidFill>
            <a:srgbClr val="1B2D45"/>
          </a:solidFill>
          <a:ln w="127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10912" y="647395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9A825"/>
                </a:solidFill>
                <a:latin typeface="Segoe UI"/>
              </a:rPr>
              <a:t>Bootstrap 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87183" y="6473952"/>
            <a:ext cx="2103120" cy="310896"/>
          </a:xfrm>
          <a:prstGeom prst="rect">
            <a:avLst/>
          </a:prstGeom>
          <a:solidFill>
            <a:srgbClr val="1B2D45"/>
          </a:solidFill>
          <a:ln w="127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87183" y="647395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5350"/>
                </a:solidFill>
                <a:latin typeface="Segoe UI"/>
              </a:rPr>
              <a:t>bcrypt.js + JWT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63455" y="6473952"/>
            <a:ext cx="2103120" cy="310896"/>
          </a:xfrm>
          <a:prstGeom prst="rect">
            <a:avLst/>
          </a:prstGeom>
          <a:solidFill>
            <a:srgbClr val="1B2D45"/>
          </a:solidFill>
          <a:ln w="12700">
            <a:solidFill>
              <a:srgbClr val="FF2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63455" y="6473952"/>
            <a:ext cx="2103120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29FF"/>
                </a:solidFill>
                <a:latin typeface="Segoe UI"/>
              </a:rPr>
              <a:t>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  <a:latin typeface="Segoe U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2464</Words>
  <Application>Microsoft Office PowerPoint</Application>
  <PresentationFormat>Egyéni</PresentationFormat>
  <Paragraphs>325</Paragraphs>
  <Slides>16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16</vt:i4>
      </vt:variant>
    </vt:vector>
  </HeadingPairs>
  <TitlesOfParts>
    <vt:vector size="21" baseType="lpstr">
      <vt:lpstr>Arial</vt:lpstr>
      <vt:lpstr>Calibri</vt:lpstr>
      <vt:lpstr>Cascadia Code</vt:lpstr>
      <vt:lpstr>Segoe UI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/>
  <cp:keywords/>
  <dc:description>generated using python-pptx</dc:description>
  <cp:lastModifiedBy>Holtzspach Barnabás Gyula</cp:lastModifiedBy>
  <cp:revision>29</cp:revision>
  <dcterms:created xsi:type="dcterms:W3CDTF">2013-01-27T09:14:16Z</dcterms:created>
  <dcterms:modified xsi:type="dcterms:W3CDTF">2026-03-27T08:15:59Z</dcterms:modified>
  <cp:category/>
</cp:coreProperties>
</file>
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914400" y="457200"/>
            <a:ext cx="7315200" cy="7315200"/>
          </a:xfrm>
          <a:prstGeom prst="ellipse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846320" y="45720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0" i="0">
                <a:solidFill>
                  <a:srgbClr val="E8F0FE"/>
                </a:solidFill>
                <a:latin typeface="Segoe UI"/>
              </a:rPr>
              <a:t>🛠️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17373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4FC3F7"/>
                </a:solidFill>
                <a:latin typeface="Segoe UI"/>
              </a:rPr>
              <a:t>VIZSGAREMEK  -  2025. MAJUS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4884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E8F0FE"/>
                </a:solidFill>
                <a:latin typeface="Segoe UI"/>
              </a:rPr>
              <a:t>Hibabejelento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429000"/>
            <a:ext cx="9418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90CAF9"/>
                </a:solidFill>
                <a:latin typeface="Segoe UI"/>
              </a:rPr>
              <a:t>Webes hibabejelento es -nyilvantarto rendszer iskolai kornyezetbe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4343400"/>
            <a:ext cx="1645920" cy="402336"/>
          </a:xfrm>
          <a:prstGeom prst="rect">
            <a:avLst/>
          </a:prstGeom>
          <a:solidFill>
            <a:srgbClr val="1B2D45"/>
          </a:solidFill>
          <a:ln w="1524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4343400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73E8"/>
                </a:solidFill>
                <a:latin typeface="Segoe UI"/>
              </a:rPr>
              <a:t>Node.js</a:t>
            </a:r>
          </a:p>
        </p:txBody>
      </p:sp>
      <p:sp>
        <p:nvSpPr>
          <p:cNvPr id="9" name="Rectangle 8"/>
          <p:cNvSpPr/>
          <p:nvPr/>
        </p:nvSpPr>
        <p:spPr>
          <a:xfrm>
            <a:off x="3566160" y="4343400"/>
            <a:ext cx="1645920" cy="402336"/>
          </a:xfrm>
          <a:prstGeom prst="rect">
            <a:avLst/>
          </a:prstGeom>
          <a:solidFill>
            <a:srgbClr val="1B2D45"/>
          </a:solidFill>
          <a:ln w="1524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4343400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73E8"/>
                </a:solidFill>
                <a:latin typeface="Segoe UI"/>
              </a:rPr>
              <a:t>Express.js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0" y="4343400"/>
            <a:ext cx="1645920" cy="402336"/>
          </a:xfrm>
          <a:prstGeom prst="rect">
            <a:avLst/>
          </a:prstGeom>
          <a:solidFill>
            <a:srgbClr val="1B2D45"/>
          </a:solidFill>
          <a:ln w="15240">
            <a:solidFill>
              <a:srgbClr val="43E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0" y="4343400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3E97B"/>
                </a:solidFill>
                <a:latin typeface="Segoe UI"/>
              </a:rPr>
              <a:t>SQLite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40879" y="4343400"/>
            <a:ext cx="1645920" cy="402336"/>
          </a:xfrm>
          <a:prstGeom prst="rect">
            <a:avLst/>
          </a:prstGeom>
          <a:solidFill>
            <a:srgbClr val="1B2D45"/>
          </a:solidFill>
          <a:ln w="15240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79" y="4343400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9A825"/>
                </a:solidFill>
                <a:latin typeface="Segoe UI"/>
              </a:rPr>
              <a:t>Bootstrap 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78240" y="4343400"/>
            <a:ext cx="1645920" cy="402336"/>
          </a:xfrm>
          <a:prstGeom prst="rect">
            <a:avLst/>
          </a:prstGeom>
          <a:solidFill>
            <a:srgbClr val="1B2D45"/>
          </a:solidFill>
          <a:ln w="15240">
            <a:solidFill>
              <a:srgbClr val="EF5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0" y="4343400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F5350"/>
                </a:solidFill>
                <a:latin typeface="Segoe UI"/>
              </a:rPr>
              <a:t>JWT + bcrypt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6217920"/>
            <a:ext cx="10332720" cy="27432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6309360"/>
            <a:ext cx="10332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07D8B"/>
                </a:solidFill>
                <a:latin typeface="Segoe UI"/>
              </a:rPr>
              <a:t>Node.js + Express  -  SQLite  -  Vanilla JS  -  Bootstrap 5  -  JWT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07D8B"/>
                </a:solidFill>
                <a:latin typeface="Segoe UI"/>
              </a:rPr>
              <a:t>1 / 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FC3F7"/>
                </a:solidFill>
                <a:latin typeface="Segoe UI"/>
              </a:rPr>
              <a:t>KIINDULAS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8F0FE"/>
                </a:solidFill>
                <a:latin typeface="Segoe UI"/>
              </a:rPr>
              <a:t>Mi volt a problema?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74552" cy="27432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5303520" cy="5212080"/>
          </a:xfrm>
          <a:prstGeom prst="rect">
            <a:avLst/>
          </a:prstGeom>
          <a:solidFill>
            <a:srgbClr val="1B2D45"/>
          </a:solidFill>
          <a:ln w="12700">
            <a:solidFill>
              <a:srgbClr val="2A4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E8F0FE"/>
                </a:solidFill>
                <a:latin typeface="Segoe UI"/>
              </a:rPr>
              <a:t>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37160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FC3F7"/>
                </a:solidFill>
                <a:latin typeface="Segoe UI"/>
              </a:rPr>
              <a:t>Regi megoldas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>
                <a:solidFill>
                  <a:srgbClr val="B0BEC5"/>
                </a:solidFill>
              </a:rPr>
              <a:t>  Az iskola portajan egy papir fuzet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B0BEC5"/>
                </a:solidFill>
              </a:rPr>
              <a:t>  Tanarok kezzel irjak be a hibakat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B0BEC5"/>
                </a:solidFill>
              </a:rPr>
              <a:t>  Karbantartok manualisam jelolnek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B0BEC5"/>
                </a:solidFill>
              </a:rPr>
              <a:t>  Neheezen attekintheto, elveszhet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B0BEC5"/>
                </a:solidFill>
              </a:rPr>
              <a:t>  Nincs visszakereses / szures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3383280"/>
            <a:ext cx="777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4FC3F7"/>
                </a:solidFill>
                <a:latin typeface="Cascadia Code"/>
              </a:rPr>
              <a:t>-&gt;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234440"/>
            <a:ext cx="5303520" cy="5212080"/>
          </a:xfrm>
          <a:prstGeom prst="rect">
            <a:avLst/>
          </a:prstGeom>
          <a:solidFill>
            <a:srgbClr val="1B2D45"/>
          </a:solidFill>
          <a:ln w="12700">
            <a:solidFill>
              <a:srgbClr val="2A4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32588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E8F0FE"/>
                </a:solidFill>
                <a:latin typeface="Segoe UI"/>
              </a:rPr>
              <a:t>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137160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3E97B"/>
                </a:solidFill>
                <a:latin typeface="Segoe UI"/>
              </a:rPr>
              <a:t>Az uj megoldas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196596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>
                <a:solidFill>
                  <a:srgbClr val="B0BEC5"/>
                </a:solidFill>
              </a:rPr>
              <a:t>  Webes felulet - PC-n es mobilon is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B0BEC5"/>
                </a:solidFill>
              </a:rPr>
              <a:t>  Valos ideju adatbazis-nyilvantartas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B0BEC5"/>
                </a:solidFill>
              </a:rPr>
              <a:t>  Szerepkor alapu jogosultsagkezeles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B0BEC5"/>
                </a:solidFill>
              </a:rPr>
              <a:t>  Atlathato lista szuresi lehetoseggel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B0BEC5"/>
                </a:solidFill>
              </a:rPr>
              <a:t>  Automatikus datum- es adatrogzites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07D8B"/>
                </a:solidFill>
                <a:latin typeface="Segoe UI"/>
              </a:rPr>
              <a:t>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FC3F7"/>
                </a:solidFill>
                <a:latin typeface="Segoe UI"/>
              </a:rPr>
              <a:t>SPECIFIKACIO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8F0FE"/>
                </a:solidFill>
                <a:latin typeface="Segoe UI"/>
              </a:rPr>
              <a:t>Felhasznaloi szerepkorok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74552" cy="27432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3657600" cy="5212080"/>
          </a:xfrm>
          <a:prstGeom prst="rect">
            <a:avLst/>
          </a:prstGeom>
          <a:solidFill>
            <a:srgbClr val="1B2D45"/>
          </a:solidFill>
          <a:ln w="12700">
            <a:solidFill>
              <a:srgbClr val="2A4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822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E8F0FE"/>
                </a:solidFill>
                <a:latin typeface="Segoe UI"/>
              </a:rPr>
              <a:t>👩‍🏫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444752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4FC3F7"/>
                </a:solidFill>
                <a:latin typeface="Segoe UI"/>
              </a:rPr>
              <a:t>Tanar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48840"/>
            <a:ext cx="3200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>
                <a:solidFill>
                  <a:srgbClr val="B0BEC5"/>
                </a:solidFill>
              </a:rPr>
              <a:t>  Bejelenthet uj hibakat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B0BEC5"/>
                </a:solidFill>
              </a:rPr>
              <a:t>  Megtekintheti az osszes hibabejelentest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234440"/>
            <a:ext cx="3657600" cy="5212080"/>
          </a:xfrm>
          <a:prstGeom prst="rect">
            <a:avLst/>
          </a:prstGeom>
          <a:solidFill>
            <a:srgbClr val="1B2D45"/>
          </a:solidFill>
          <a:ln w="12700">
            <a:solidFill>
              <a:srgbClr val="2A4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371600"/>
            <a:ext cx="822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E8F0FE"/>
                </a:solidFill>
                <a:latin typeface="Segoe UI"/>
              </a:rPr>
              <a:t>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40679" y="1444752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9A825"/>
                </a:solidFill>
                <a:latin typeface="Segoe UI"/>
              </a:rPr>
              <a:t>Karbantarto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148840"/>
            <a:ext cx="3200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>
                <a:solidFill>
                  <a:srgbClr val="B0BEC5"/>
                </a:solidFill>
              </a:rPr>
              <a:t>  Megtekintheti az osszes hibat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B0BEC5"/>
                </a:solidFill>
              </a:rPr>
              <a:t>  Bejelentve -&gt; Kijavitva allapot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B0BEC5"/>
                </a:solidFill>
              </a:rPr>
              <a:t>  Javitas datuma automatikusan rogzul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21040" y="1234440"/>
            <a:ext cx="3657600" cy="5212080"/>
          </a:xfrm>
          <a:prstGeom prst="rect">
            <a:avLst/>
          </a:prstGeom>
          <a:solidFill>
            <a:srgbClr val="1B2D45"/>
          </a:solidFill>
          <a:ln w="12700">
            <a:solidFill>
              <a:srgbClr val="2A4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19" y="1371600"/>
            <a:ext cx="822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E8F0FE"/>
                </a:solidFill>
                <a:latin typeface="Segoe UI"/>
              </a:rPr>
              <a:t>🛡️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72600" y="1444752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F5350"/>
                </a:solidFill>
                <a:latin typeface="Segoe UI"/>
              </a:rPr>
              <a:t>Adminisztrator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2148840"/>
            <a:ext cx="3200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>
                <a:solidFill>
                  <a:srgbClr val="B0BEC5"/>
                </a:solidFill>
              </a:rPr>
              <a:t>  Minden tanari / karbantartoi jog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B0BEC5"/>
                </a:solidFill>
              </a:rPr>
              <a:t>  Uj felhasznalok felvetele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B0BEC5"/>
                </a:solidFill>
              </a:rPr>
              <a:t>  Felhasznalok torlese (magat nem)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07D8B"/>
                </a:solidFill>
                <a:latin typeface="Segoe UI"/>
              </a:rPr>
              <a:t>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FC3F7"/>
                </a:solidFill>
                <a:latin typeface="Segoe UI"/>
              </a:rPr>
              <a:t>RENDSZERTERV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8F0FE"/>
                </a:solidFill>
                <a:latin typeface="Segoe UI"/>
              </a:rPr>
              <a:t>Rendszer architektura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74552" cy="27432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98448"/>
            <a:ext cx="3291840" cy="2194560"/>
          </a:xfrm>
          <a:prstGeom prst="rect">
            <a:avLst/>
          </a:prstGeom>
          <a:solidFill>
            <a:srgbClr val="1B2D45"/>
          </a:solidFill>
          <a:ln w="1270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822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E8F0FE"/>
                </a:solidFill>
                <a:latin typeface="Segoe UI"/>
              </a:rPr>
              <a:t>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4630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4FC3F7"/>
                </a:solidFill>
                <a:latin typeface="Segoe UI"/>
              </a:rP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9659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5"/>
                </a:solidFill>
                <a:latin typeface="Segoe UI"/>
              </a:rPr>
              <a:t>HTML, CSS, JS
Bootstrap 5</a:t>
            </a:r>
          </a:p>
        </p:txBody>
      </p:sp>
      <p:sp>
        <p:nvSpPr>
          <p:cNvPr id="9" name="Rectangle 8"/>
          <p:cNvSpPr/>
          <p:nvPr/>
        </p:nvSpPr>
        <p:spPr>
          <a:xfrm>
            <a:off x="4160520" y="1298448"/>
            <a:ext cx="3291840" cy="2194560"/>
          </a:xfrm>
          <a:prstGeom prst="rect">
            <a:avLst/>
          </a:prstGeom>
          <a:solidFill>
            <a:srgbClr val="1B2D45"/>
          </a:solidFill>
          <a:ln w="12700">
            <a:solidFill>
              <a:srgbClr val="43E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400" y="1417320"/>
            <a:ext cx="822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E8F0FE"/>
                </a:solidFill>
                <a:latin typeface="Segoe UI"/>
              </a:rPr>
              <a:t>⚙️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66360" y="14630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43E97B"/>
                </a:solidFill>
                <a:latin typeface="Segoe UI"/>
              </a:rPr>
              <a:t>REST 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6360" y="19659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5"/>
                </a:solidFill>
                <a:latin typeface="Segoe UI"/>
              </a:rPr>
              <a:t>Node.js
Express.js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63840" y="1298448"/>
            <a:ext cx="3291840" cy="2194560"/>
          </a:xfrm>
          <a:prstGeom prst="rect">
            <a:avLst/>
          </a:prstGeom>
          <a:solidFill>
            <a:srgbClr val="1B2D45"/>
          </a:solidFill>
          <a:ln w="12700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19" y="1417320"/>
            <a:ext cx="822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E8F0FE"/>
                </a:solidFill>
                <a:latin typeface="Segoe UI"/>
              </a:rPr>
              <a:t>🗄️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14630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9A825"/>
                </a:solidFill>
                <a:latin typeface="Segoe UI"/>
              </a:rPr>
              <a:t>Adatbazis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0" y="19659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5"/>
                </a:solidFill>
                <a:latin typeface="Segoe UI"/>
              </a:rPr>
              <a:t>SQLite
better-sqlite3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21031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FC3F7"/>
                </a:solidFill>
                <a:latin typeface="Cascadia Code"/>
              </a:rPr>
              <a:t>&lt;--&gt;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43800" y="21031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FC3F7"/>
                </a:solidFill>
                <a:latin typeface="Cascadia Code"/>
              </a:rPr>
              <a:t>&lt;--&gt;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794760"/>
            <a:ext cx="5394960" cy="2697480"/>
          </a:xfrm>
          <a:prstGeom prst="rect">
            <a:avLst/>
          </a:prstGeom>
          <a:solidFill>
            <a:srgbClr val="1B2D45"/>
          </a:solidFill>
          <a:ln w="12700">
            <a:solidFill>
              <a:srgbClr val="2A4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3886200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FC3F7"/>
                </a:solidFill>
                <a:latin typeface="Segoe UI"/>
              </a:rPr>
              <a:t>🔐  Hitelesites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4315968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B0BEC5"/>
                </a:solidFill>
              </a:rPr>
              <a:t>  bcrypt.js: jelszavak hashelve tarolodnak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B0BEC5"/>
                </a:solidFill>
              </a:rPr>
              <a:t>  JWT token: bejelentkezeskor allitodik ki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B0BEC5"/>
                </a:solidFill>
              </a:rPr>
              <a:t>  sessionStorage: token tarolasa a kliensen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27648" y="3794760"/>
            <a:ext cx="5394960" cy="2697480"/>
          </a:xfrm>
          <a:prstGeom prst="rect">
            <a:avLst/>
          </a:prstGeom>
          <a:solidFill>
            <a:srgbClr val="1B2D45"/>
          </a:solidFill>
          <a:ln w="12700">
            <a:solidFill>
              <a:srgbClr val="2A4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10528" y="3886200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FC3F7"/>
                </a:solidFill>
                <a:latin typeface="Segoe UI"/>
              </a:rPr>
              <a:t>📡  Kommunikacio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0528" y="4315968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B0BEC5"/>
                </a:solidFill>
              </a:rPr>
              <a:t>  Frontend: fetch() API hivasokkal kommunikal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B0BEC5"/>
                </a:solidFill>
              </a:rPr>
              <a:t>  Minden vedett keres: Authorization: Bearer &lt;token&gt;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B0BEC5"/>
                </a:solidFill>
              </a:rPr>
              <a:t>  .env: JWT_SECRET, DB_PATH, PORT konfig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07D8B"/>
                </a:solidFill>
                <a:latin typeface="Segoe UI"/>
              </a:rPr>
              <a:t>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FC3F7"/>
                </a:solidFill>
                <a:latin typeface="Segoe UI"/>
              </a:rPr>
              <a:t>BACKEND KOD  -  SERVER.JS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8F0FE"/>
                </a:solidFill>
                <a:latin typeface="Segoe UI"/>
              </a:rPr>
              <a:t>Szerver inicializalasa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74552" cy="27432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61872"/>
            <a:ext cx="11274552" cy="5257800"/>
          </a:xfrm>
          <a:prstGeom prst="rect">
            <a:avLst/>
          </a:prstGeom>
          <a:solidFill>
            <a:srgbClr val="05101A"/>
          </a:solidFill>
          <a:ln w="12700">
            <a:solidFill>
              <a:srgbClr val="1A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1000232" cy="50383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CE93D8"/>
                </a:solidFill>
                <a:latin typeface="Cascadia Code"/>
              </a:rPr>
              <a:t>require</a:t>
            </a:r>
            <a:r>
              <a:rPr sz="1100">
                <a:solidFill>
                  <a:srgbClr val="B0BEC5"/>
                </a:solidFill>
                <a:latin typeface="Cascadia Code"/>
              </a:rPr>
              <a:t>('dotenv').config();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CE93D8"/>
                </a:solidFill>
                <a:latin typeface="Cascadia Code"/>
              </a:rPr>
              <a:t>const </a:t>
            </a:r>
            <a:r>
              <a:rPr sz="1100">
                <a:solidFill>
                  <a:srgbClr val="E8F0FE"/>
                </a:solidFill>
                <a:latin typeface="Cascadia Code"/>
              </a:rPr>
              <a:t>express  </a:t>
            </a:r>
            <a:r>
              <a:rPr sz="1100">
                <a:solidFill>
                  <a:srgbClr val="B0BEC5"/>
                </a:solidFill>
                <a:latin typeface="Cascadia Code"/>
              </a:rPr>
              <a:t>= </a:t>
            </a:r>
            <a:r>
              <a:rPr sz="1100">
                <a:solidFill>
                  <a:srgbClr val="CE93D8"/>
                </a:solidFill>
                <a:latin typeface="Cascadia Code"/>
              </a:rPr>
              <a:t>require</a:t>
            </a:r>
            <a:r>
              <a:rPr sz="1100">
                <a:solidFill>
                  <a:srgbClr val="B0BEC5"/>
                </a:solidFill>
                <a:latin typeface="Cascadia Code"/>
              </a:rPr>
              <a:t>('express');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CE93D8"/>
                </a:solidFill>
                <a:latin typeface="Cascadia Code"/>
              </a:rPr>
              <a:t>const </a:t>
            </a:r>
            <a:r>
              <a:rPr sz="1100">
                <a:solidFill>
                  <a:srgbClr val="E8F0FE"/>
                </a:solidFill>
                <a:latin typeface="Cascadia Code"/>
              </a:rPr>
              <a:t>Database </a:t>
            </a:r>
            <a:r>
              <a:rPr sz="1100">
                <a:solidFill>
                  <a:srgbClr val="B0BEC5"/>
                </a:solidFill>
                <a:latin typeface="Cascadia Code"/>
              </a:rPr>
              <a:t>= </a:t>
            </a:r>
            <a:r>
              <a:rPr sz="1100">
                <a:solidFill>
                  <a:srgbClr val="CE93D8"/>
                </a:solidFill>
                <a:latin typeface="Cascadia Code"/>
              </a:rPr>
              <a:t>require</a:t>
            </a:r>
            <a:r>
              <a:rPr sz="1100">
                <a:solidFill>
                  <a:srgbClr val="B0BEC5"/>
                </a:solidFill>
                <a:latin typeface="Cascadia Code"/>
              </a:rPr>
              <a:t>('better-sqlite3');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CE93D8"/>
                </a:solidFill>
                <a:latin typeface="Cascadia Code"/>
              </a:rPr>
              <a:t>const </a:t>
            </a:r>
            <a:r>
              <a:rPr sz="1100">
                <a:solidFill>
                  <a:srgbClr val="E8F0FE"/>
                </a:solidFill>
                <a:latin typeface="Cascadia Code"/>
              </a:rPr>
              <a:t>bcrypt   </a:t>
            </a:r>
            <a:r>
              <a:rPr sz="1100">
                <a:solidFill>
                  <a:srgbClr val="B0BEC5"/>
                </a:solidFill>
                <a:latin typeface="Cascadia Code"/>
              </a:rPr>
              <a:t>= </a:t>
            </a:r>
            <a:r>
              <a:rPr sz="1100">
                <a:solidFill>
                  <a:srgbClr val="CE93D8"/>
                </a:solidFill>
                <a:latin typeface="Cascadia Code"/>
              </a:rPr>
              <a:t>require</a:t>
            </a:r>
            <a:r>
              <a:rPr sz="1100">
                <a:solidFill>
                  <a:srgbClr val="B0BEC5"/>
                </a:solidFill>
                <a:latin typeface="Cascadia Code"/>
              </a:rPr>
              <a:t>('bcryptjs');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CE93D8"/>
                </a:solidFill>
                <a:latin typeface="Cascadia Code"/>
              </a:rPr>
              <a:t>const </a:t>
            </a:r>
            <a:r>
              <a:rPr sz="1100">
                <a:solidFill>
                  <a:srgbClr val="E8F0FE"/>
                </a:solidFill>
                <a:latin typeface="Cascadia Code"/>
              </a:rPr>
              <a:t>jwt      </a:t>
            </a:r>
            <a:r>
              <a:rPr sz="1100">
                <a:solidFill>
                  <a:srgbClr val="B0BEC5"/>
                </a:solidFill>
                <a:latin typeface="Cascadia Code"/>
              </a:rPr>
              <a:t>= </a:t>
            </a:r>
            <a:r>
              <a:rPr sz="1100">
                <a:solidFill>
                  <a:srgbClr val="CE93D8"/>
                </a:solidFill>
                <a:latin typeface="Cascadia Code"/>
              </a:rPr>
              <a:t>require</a:t>
            </a:r>
            <a:r>
              <a:rPr sz="1100">
                <a:solidFill>
                  <a:srgbClr val="B0BEC5"/>
                </a:solidFill>
                <a:latin typeface="Cascadia Code"/>
              </a:rPr>
              <a:t>('jsonwebtoken');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B0BEC5"/>
                </a:solidFill>
                <a:latin typeface="Cascadia Code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CE93D8"/>
                </a:solidFill>
                <a:latin typeface="Cascadia Code"/>
              </a:rPr>
              <a:t>const </a:t>
            </a:r>
            <a:r>
              <a:rPr sz="1100">
                <a:solidFill>
                  <a:srgbClr val="E8F0FE"/>
                </a:solidFill>
                <a:latin typeface="Cascadia Code"/>
              </a:rPr>
              <a:t>PORT       </a:t>
            </a:r>
            <a:r>
              <a:rPr sz="1100">
                <a:solidFill>
                  <a:srgbClr val="B0BEC5"/>
                </a:solidFill>
                <a:latin typeface="Cascadia Code"/>
              </a:rPr>
              <a:t>= process.env.PORT || </a:t>
            </a:r>
            <a:r>
              <a:rPr sz="1100">
                <a:solidFill>
                  <a:srgbClr val="FFD54F"/>
                </a:solidFill>
                <a:latin typeface="Cascadia Code"/>
              </a:rPr>
              <a:t>3000</a:t>
            </a:r>
            <a:r>
              <a:rPr sz="1100">
                <a:solidFill>
                  <a:srgbClr val="B0BEC5"/>
                </a:solidFill>
                <a:latin typeface="Cascadia Code"/>
              </a:rPr>
              <a:t>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CE93D8"/>
                </a:solidFill>
                <a:latin typeface="Cascadia Code"/>
              </a:rPr>
              <a:t>const </a:t>
            </a:r>
            <a:r>
              <a:rPr sz="1100">
                <a:solidFill>
                  <a:srgbClr val="E8F0FE"/>
                </a:solidFill>
                <a:latin typeface="Cascadia Code"/>
              </a:rPr>
              <a:t>JWT_SECRET </a:t>
            </a:r>
            <a:r>
              <a:rPr sz="1100">
                <a:solidFill>
                  <a:srgbClr val="B0BEC5"/>
                </a:solidFill>
                <a:latin typeface="Cascadia Code"/>
              </a:rPr>
              <a:t>= process.env.JWT_SECRET;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CE93D8"/>
                </a:solidFill>
                <a:latin typeface="Cascadia Code"/>
              </a:rPr>
              <a:t>const </a:t>
            </a:r>
            <a:r>
              <a:rPr sz="1100">
                <a:solidFill>
                  <a:srgbClr val="E8F0FE"/>
                </a:solidFill>
                <a:latin typeface="Cascadia Code"/>
              </a:rPr>
              <a:t>DB_PATH    </a:t>
            </a:r>
            <a:r>
              <a:rPr sz="1100">
                <a:solidFill>
                  <a:srgbClr val="B0BEC5"/>
                </a:solidFill>
                <a:latin typeface="Cascadia Code"/>
              </a:rPr>
              <a:t>= process.env.DB_PATH || </a:t>
            </a:r>
            <a:r>
              <a:rPr sz="1100">
                <a:solidFill>
                  <a:srgbClr val="FFD54F"/>
                </a:solidFill>
                <a:latin typeface="Cascadia Code"/>
              </a:rPr>
              <a:t>'./hibabejelento.db'</a:t>
            </a:r>
            <a:r>
              <a:rPr sz="1100">
                <a:solidFill>
                  <a:srgbClr val="B0BEC5"/>
                </a:solidFill>
                <a:latin typeface="Cascadia Code"/>
              </a:rPr>
              <a:t>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B0BEC5"/>
                </a:solidFill>
                <a:latin typeface="Cascadia Code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CE93D8"/>
                </a:solidFill>
                <a:latin typeface="Cascadia Code"/>
              </a:rPr>
              <a:t>const </a:t>
            </a:r>
            <a:r>
              <a:rPr sz="1100">
                <a:solidFill>
                  <a:srgbClr val="E8F0FE"/>
                </a:solidFill>
                <a:latin typeface="Cascadia Code"/>
              </a:rPr>
              <a:t>app </a:t>
            </a:r>
            <a:r>
              <a:rPr sz="1100">
                <a:solidFill>
                  <a:srgbClr val="B0BEC5"/>
                </a:solidFill>
                <a:latin typeface="Cascadia Code"/>
              </a:rPr>
              <a:t>= </a:t>
            </a:r>
            <a:r>
              <a:rPr sz="1100">
                <a:solidFill>
                  <a:srgbClr val="69F0AE"/>
                </a:solidFill>
                <a:latin typeface="Cascadia Code"/>
              </a:rPr>
              <a:t>express</a:t>
            </a:r>
            <a:r>
              <a:rPr sz="1100">
                <a:solidFill>
                  <a:srgbClr val="B0BEC5"/>
                </a:solidFill>
                <a:latin typeface="Cascadia Code"/>
              </a:rPr>
              <a:t>();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69F0AE"/>
                </a:solidFill>
                <a:latin typeface="Cascadia Code"/>
              </a:rPr>
              <a:t>app.use</a:t>
            </a:r>
            <a:r>
              <a:rPr sz="1100">
                <a:solidFill>
                  <a:srgbClr val="B0BEC5"/>
                </a:solidFill>
                <a:latin typeface="Cascadia Code"/>
              </a:rPr>
              <a:t>(express.json());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69F0AE"/>
                </a:solidFill>
                <a:latin typeface="Cascadia Code"/>
              </a:rPr>
              <a:t>app.use</a:t>
            </a:r>
            <a:r>
              <a:rPr sz="1100">
                <a:solidFill>
                  <a:srgbClr val="B0BEC5"/>
                </a:solidFill>
                <a:latin typeface="Cascadia Code"/>
              </a:rPr>
              <a:t>(express.static(</a:t>
            </a:r>
            <a:r>
              <a:rPr sz="1100">
                <a:solidFill>
                  <a:srgbClr val="FFD54F"/>
                </a:solidFill>
                <a:latin typeface="Cascadia Code"/>
              </a:rPr>
              <a:t>"public"</a:t>
            </a:r>
            <a:r>
              <a:rPr sz="1100">
                <a:solidFill>
                  <a:srgbClr val="B0BEC5"/>
                </a:solidFill>
                <a:latin typeface="Cascadia Code"/>
              </a:rPr>
              <a:t>));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B0BEC5"/>
                </a:solidFill>
                <a:latin typeface="Cascadia Code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607D8B"/>
                </a:solidFill>
                <a:latin typeface="Cascadia Code"/>
              </a:rPr>
              <a:t>// Adatbazis - better-sqlite3 (szinkron API)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CE93D8"/>
                </a:solidFill>
                <a:latin typeface="Cascadia Code"/>
              </a:rPr>
              <a:t>const </a:t>
            </a:r>
            <a:r>
              <a:rPr sz="1100">
                <a:solidFill>
                  <a:srgbClr val="E8F0FE"/>
                </a:solidFill>
                <a:latin typeface="Cascadia Code"/>
              </a:rPr>
              <a:t>db </a:t>
            </a:r>
            <a:r>
              <a:rPr sz="1100">
                <a:solidFill>
                  <a:srgbClr val="B0BEC5"/>
                </a:solidFill>
                <a:latin typeface="Cascadia Code"/>
              </a:rPr>
              <a:t>= </a:t>
            </a:r>
            <a:r>
              <a:rPr sz="1100">
                <a:solidFill>
                  <a:srgbClr val="CE93D8"/>
                </a:solidFill>
                <a:latin typeface="Cascadia Code"/>
              </a:rPr>
              <a:t>new </a:t>
            </a:r>
            <a:r>
              <a:rPr sz="1100">
                <a:solidFill>
                  <a:srgbClr val="69F0AE"/>
                </a:solidFill>
                <a:latin typeface="Cascadia Code"/>
              </a:rPr>
              <a:t>Database</a:t>
            </a:r>
            <a:r>
              <a:rPr sz="1100">
                <a:solidFill>
                  <a:srgbClr val="B0BEC5"/>
                </a:solidFill>
                <a:latin typeface="Cascadia Code"/>
              </a:rPr>
              <a:t>(DB_PATH);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B0BEC5"/>
                </a:solidFill>
                <a:latin typeface="Cascadia Code"/>
              </a:rPr>
              <a:t>db.pragma(</a:t>
            </a:r>
            <a:r>
              <a:rPr sz="1100">
                <a:solidFill>
                  <a:srgbClr val="FFD54F"/>
                </a:solidFill>
                <a:latin typeface="Cascadia Code"/>
              </a:rPr>
              <a:t>'foreign_keys = ON'</a:t>
            </a:r>
            <a:r>
              <a:rPr sz="1100">
                <a:solidFill>
                  <a:srgbClr val="B0BEC5"/>
                </a:solidFill>
                <a:latin typeface="Cascadia Code"/>
              </a:rPr>
              <a:t>);  </a:t>
            </a:r>
            <a:r>
              <a:rPr sz="1100">
                <a:solidFill>
                  <a:srgbClr val="607D8B"/>
                </a:solidFill>
                <a:latin typeface="Cascadia Code"/>
              </a:rPr>
              <a:t>// Kaszkad-torlés megakadalyozasa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B0BEC5"/>
                </a:solidFill>
                <a:latin typeface="Cascadia Code"/>
              </a:rPr>
              <a:t>db.pragma(</a:t>
            </a:r>
            <a:r>
              <a:rPr sz="1100">
                <a:solidFill>
                  <a:srgbClr val="FFD54F"/>
                </a:solidFill>
                <a:latin typeface="Cascadia Code"/>
              </a:rPr>
              <a:t>'journal_mode = WAL'</a:t>
            </a:r>
            <a:r>
              <a:rPr sz="1100">
                <a:solidFill>
                  <a:srgbClr val="B0BEC5"/>
                </a:solidFill>
                <a:latin typeface="Cascadia Code"/>
              </a:rPr>
              <a:t>);  </a:t>
            </a:r>
            <a:r>
              <a:rPr sz="1100">
                <a:solidFill>
                  <a:srgbClr val="607D8B"/>
                </a:solidFill>
                <a:latin typeface="Cascadia Code"/>
              </a:rPr>
              <a:t>// Jobb teljesitmeny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B0BEC5"/>
                </a:solidFill>
                <a:latin typeface="Cascadia Code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69F0AE"/>
                </a:solidFill>
                <a:latin typeface="Cascadia Code"/>
              </a:rPr>
              <a:t>app.listen</a:t>
            </a:r>
            <a:r>
              <a:rPr sz="1100">
                <a:solidFill>
                  <a:srgbClr val="B0BEC5"/>
                </a:solidFill>
                <a:latin typeface="Cascadia Code"/>
              </a:rPr>
              <a:t>(PORT, () =&gt; console.log(</a:t>
            </a:r>
            <a:r>
              <a:rPr sz="1100">
                <a:solidFill>
                  <a:srgbClr val="FFD54F"/>
                </a:solidFill>
                <a:latin typeface="Cascadia Code"/>
              </a:rPr>
              <a:t>`Szerver fut: http://localhost:${PORT}`</a:t>
            </a:r>
            <a:r>
              <a:rPr sz="1100">
                <a:solidFill>
                  <a:srgbClr val="B0BEC5"/>
                </a:solidFill>
                <a:latin typeface="Cascadia Code"/>
              </a:rPr>
              <a:t>));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07D8B"/>
                </a:solidFill>
                <a:latin typeface="Segoe UI"/>
              </a:rPr>
              <a:t>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FC3F7"/>
                </a:solidFill>
                <a:latin typeface="Segoe UI"/>
              </a:rPr>
              <a:t>BACKEND KOD  -  SERVER.JS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8F0FE"/>
                </a:solidFill>
                <a:latin typeface="Segoe UI"/>
              </a:rPr>
              <a:t>JWT hitelesitesi middleware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74552" cy="27432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61872"/>
            <a:ext cx="11274552" cy="5257800"/>
          </a:xfrm>
          <a:prstGeom prst="rect">
            <a:avLst/>
          </a:prstGeom>
          <a:solidFill>
            <a:srgbClr val="05101A"/>
          </a:solidFill>
          <a:ln w="12700">
            <a:solidFill>
              <a:srgbClr val="1A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1000232" cy="50383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607D8B"/>
                </a:solidFill>
                <a:latin typeface="Cascadia Code"/>
              </a:rPr>
              <a:t>// Middleware: JWT token ellenorzese minden vedett vegponton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CE93D8"/>
                </a:solidFill>
                <a:latin typeface="Cascadia Code"/>
              </a:rPr>
              <a:t>function </a:t>
            </a:r>
            <a:r>
              <a:rPr sz="1100">
                <a:solidFill>
                  <a:srgbClr val="69F0AE"/>
                </a:solidFill>
                <a:latin typeface="Cascadia Code"/>
              </a:rPr>
              <a:t>authenticateToken</a:t>
            </a:r>
            <a:r>
              <a:rPr sz="1100">
                <a:solidFill>
                  <a:srgbClr val="B0BEC5"/>
                </a:solidFill>
                <a:latin typeface="Cascadia Code"/>
              </a:rPr>
              <a:t>(req, res, next)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CE93D8"/>
                </a:solidFill>
                <a:latin typeface="Cascadia Code"/>
              </a:rPr>
              <a:t>  const </a:t>
            </a:r>
            <a:r>
              <a:rPr sz="1100">
                <a:solidFill>
                  <a:srgbClr val="E8F0FE"/>
                </a:solidFill>
                <a:latin typeface="Cascadia Code"/>
              </a:rPr>
              <a:t>authHeader </a:t>
            </a:r>
            <a:r>
              <a:rPr sz="1100">
                <a:solidFill>
                  <a:srgbClr val="B0BEC5"/>
                </a:solidFill>
                <a:latin typeface="Cascadia Code"/>
              </a:rPr>
              <a:t>= req.headers[</a:t>
            </a:r>
            <a:r>
              <a:rPr sz="1100">
                <a:solidFill>
                  <a:srgbClr val="FFD54F"/>
                </a:solidFill>
                <a:latin typeface="Cascadia Code"/>
              </a:rPr>
              <a:t>'authorization'</a:t>
            </a:r>
            <a:r>
              <a:rPr sz="1100">
                <a:solidFill>
                  <a:srgbClr val="B0BEC5"/>
                </a:solidFill>
                <a:latin typeface="Cascadia Code"/>
              </a:rPr>
              <a:t>];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CE93D8"/>
                </a:solidFill>
                <a:latin typeface="Cascadia Code"/>
              </a:rPr>
              <a:t>  const </a:t>
            </a:r>
            <a:r>
              <a:rPr sz="1100">
                <a:solidFill>
                  <a:srgbClr val="E8F0FE"/>
                </a:solidFill>
                <a:latin typeface="Cascadia Code"/>
              </a:rPr>
              <a:t>token </a:t>
            </a:r>
            <a:r>
              <a:rPr sz="1100">
                <a:solidFill>
                  <a:srgbClr val="B0BEC5"/>
                </a:solidFill>
                <a:latin typeface="Cascadia Code"/>
              </a:rPr>
              <a:t>= authHeader &amp;&amp; authHeader.split(</a:t>
            </a:r>
            <a:r>
              <a:rPr sz="1100">
                <a:solidFill>
                  <a:srgbClr val="FFD54F"/>
                </a:solidFill>
                <a:latin typeface="Cascadia Code"/>
              </a:rPr>
              <a:t>' '</a:t>
            </a:r>
            <a:r>
              <a:rPr sz="1100">
                <a:solidFill>
                  <a:srgbClr val="B0BEC5"/>
                </a:solidFill>
                <a:latin typeface="Cascadia Code"/>
              </a:rPr>
              <a:t>)[1];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B0BEC5"/>
                </a:solidFill>
                <a:latin typeface="Cascadia Code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CE93D8"/>
                </a:solidFill>
                <a:latin typeface="Cascadia Code"/>
              </a:rPr>
              <a:t>  if </a:t>
            </a:r>
            <a:r>
              <a:rPr sz="1100">
                <a:solidFill>
                  <a:srgbClr val="B0BEC5"/>
                </a:solidFill>
                <a:latin typeface="Cascadia Code"/>
              </a:rPr>
              <a:t>(!token)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B0BEC5"/>
                </a:solidFill>
                <a:latin typeface="Cascadia Code"/>
              </a:rPr>
              <a:t>    return res.status(</a:t>
            </a:r>
            <a:r>
              <a:rPr sz="1100">
                <a:solidFill>
                  <a:srgbClr val="FF8A80"/>
                </a:solidFill>
                <a:latin typeface="Cascadia Code"/>
              </a:rPr>
              <a:t>401</a:t>
            </a:r>
            <a:r>
              <a:rPr sz="1100">
                <a:solidFill>
                  <a:srgbClr val="B0BEC5"/>
                </a:solidFill>
                <a:latin typeface="Cascadia Code"/>
              </a:rPr>
              <a:t>).json({ error: </a:t>
            </a:r>
            <a:r>
              <a:rPr sz="1100">
                <a:solidFill>
                  <a:srgbClr val="FFD54F"/>
                </a:solidFill>
                <a:latin typeface="Cascadia Code"/>
              </a:rPr>
              <a:t>'Hianyzo token.'</a:t>
            </a:r>
            <a:r>
              <a:rPr sz="1100">
                <a:solidFill>
                  <a:srgbClr val="B0BEC5"/>
                </a:solidFill>
                <a:latin typeface="Cascadia Code"/>
              </a:rPr>
              <a:t> });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B0BEC5"/>
                </a:solidFill>
                <a:latin typeface="Cascadia Code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69F0AE"/>
                </a:solidFill>
                <a:latin typeface="Cascadia Code"/>
              </a:rPr>
              <a:t>  jwt.verify</a:t>
            </a:r>
            <a:r>
              <a:rPr sz="1100">
                <a:solidFill>
                  <a:srgbClr val="B0BEC5"/>
                </a:solidFill>
                <a:latin typeface="Cascadia Code"/>
              </a:rPr>
              <a:t>(token, JWT_SECRET, (err, user) =&gt;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CE93D8"/>
                </a:solidFill>
                <a:latin typeface="Cascadia Code"/>
              </a:rPr>
              <a:t>    if </a:t>
            </a:r>
            <a:r>
              <a:rPr sz="1100">
                <a:solidFill>
                  <a:srgbClr val="B0BEC5"/>
                </a:solidFill>
                <a:latin typeface="Cascadia Code"/>
              </a:rPr>
              <a:t>(err)</a:t>
            </a:r>
            <a:r>
              <a:rPr sz="1100">
                <a:solidFill>
                  <a:srgbClr val="B0BEC5"/>
                </a:solidFill>
                <a:latin typeface="Cascadia Code"/>
              </a:rPr>
              <a:t> return res.status(</a:t>
            </a:r>
            <a:r>
              <a:rPr sz="1100">
                <a:solidFill>
                  <a:srgbClr val="FF8A80"/>
                </a:solidFill>
                <a:latin typeface="Cascadia Code"/>
              </a:rPr>
              <a:t>403</a:t>
            </a:r>
            <a:r>
              <a:rPr sz="1100">
                <a:solidFill>
                  <a:srgbClr val="B0BEC5"/>
                </a:solidFill>
                <a:latin typeface="Cascadia Code"/>
              </a:rPr>
              <a:t>).json({ error: </a:t>
            </a:r>
            <a:r>
              <a:rPr sz="1100">
                <a:solidFill>
                  <a:srgbClr val="FFD54F"/>
                </a:solidFill>
                <a:latin typeface="Cascadia Code"/>
              </a:rPr>
              <a:t>'Ervénytelen token.'</a:t>
            </a:r>
            <a:r>
              <a:rPr sz="1100">
                <a:solidFill>
                  <a:srgbClr val="B0BEC5"/>
                </a:solidFill>
                <a:latin typeface="Cascadia Code"/>
              </a:rPr>
              <a:t> });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E8F0FE"/>
                </a:solidFill>
                <a:latin typeface="Cascadia Code"/>
              </a:rPr>
              <a:t>    req.user </a:t>
            </a:r>
            <a:r>
              <a:rPr sz="1100">
                <a:solidFill>
                  <a:srgbClr val="B0BEC5"/>
                </a:solidFill>
                <a:latin typeface="Cascadia Code"/>
              </a:rPr>
              <a:t>= user;  </a:t>
            </a:r>
            <a:r>
              <a:rPr sz="1100">
                <a:solidFill>
                  <a:srgbClr val="607D8B"/>
                </a:solidFill>
                <a:latin typeface="Cascadia Code"/>
              </a:rPr>
              <a:t>// { id, felhasznalonev, szerep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B0BEC5"/>
                </a:solidFill>
                <a:latin typeface="Cascadia Code"/>
              </a:rPr>
              <a:t>    next();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B0BEC5"/>
                </a:solidFill>
                <a:latin typeface="Cascadia Code"/>
              </a:rPr>
              <a:t>  });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B0BEC5"/>
                </a:solidFill>
                <a:latin typeface="Cascadia Code"/>
              </a:rPr>
              <a:t>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B0BEC5"/>
                </a:solidFill>
                <a:latin typeface="Cascadia Code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607D8B"/>
                </a:solidFill>
                <a:latin typeface="Cascadia Code"/>
              </a:rPr>
              <a:t>// Hasznalat: minden vedett vegponton masodik parameter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69F0AE"/>
                </a:solidFill>
                <a:latin typeface="Cascadia Code"/>
              </a:rPr>
              <a:t>app.get</a:t>
            </a:r>
            <a:r>
              <a:rPr sz="1100">
                <a:solidFill>
                  <a:srgbClr val="B0BEC5"/>
                </a:solidFill>
                <a:latin typeface="Cascadia Code"/>
              </a:rPr>
              <a:t>('/api/hibak', </a:t>
            </a:r>
            <a:r>
              <a:rPr sz="1100">
                <a:solidFill>
                  <a:srgbClr val="82B1FF"/>
                </a:solidFill>
                <a:latin typeface="Cascadia Code"/>
              </a:rPr>
              <a:t>authenticateToken</a:t>
            </a:r>
            <a:r>
              <a:rPr sz="1100">
                <a:solidFill>
                  <a:srgbClr val="B0BEC5"/>
                </a:solidFill>
                <a:latin typeface="Cascadia Code"/>
              </a:rPr>
              <a:t>, async (req, res) =&gt;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607D8B"/>
                </a:solidFill>
                <a:latin typeface="Cascadia Code"/>
              </a:rPr>
              <a:t>  // req.user mar tartalmazza a JWT adatait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B0BEC5"/>
                </a:solidFill>
                <a:latin typeface="Cascadia Code"/>
              </a:rPr>
              <a:t>  const hibak = dbAll('SELECT * FROM hibak ORDER BY datum DESC');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B0BEC5"/>
                </a:solidFill>
                <a:latin typeface="Cascadia Code"/>
              </a:rPr>
              <a:t>  res.json(hibak);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B0BEC5"/>
                </a:solidFill>
                <a:latin typeface="Cascadia Code"/>
              </a:rPr>
              <a:t>});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07D8B"/>
                </a:solidFill>
                <a:latin typeface="Segoe UI"/>
              </a:rPr>
              <a:t>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FC3F7"/>
                </a:solidFill>
                <a:latin typeface="Segoe UI"/>
              </a:rPr>
              <a:t>BACKEND KOD  -  SERVER.JS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8F0FE"/>
                </a:solidFill>
                <a:latin typeface="Segoe UI"/>
              </a:rPr>
              <a:t>POST /api/login  -  Bejelentkezes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74552" cy="27432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61872"/>
            <a:ext cx="11274552" cy="5257800"/>
          </a:xfrm>
          <a:prstGeom prst="rect">
            <a:avLst/>
          </a:prstGeom>
          <a:solidFill>
            <a:srgbClr val="05101A"/>
          </a:solidFill>
          <a:ln w="12700">
            <a:solidFill>
              <a:srgbClr val="1A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1000232" cy="50383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69F0AE"/>
                </a:solidFill>
                <a:latin typeface="Cascadia Code"/>
              </a:rPr>
              <a:t>app.post</a:t>
            </a:r>
            <a:r>
              <a:rPr sz="1100">
                <a:solidFill>
                  <a:srgbClr val="B0BEC5"/>
                </a:solidFill>
                <a:latin typeface="Cascadia Code"/>
              </a:rPr>
              <a:t>('/api/login', async (req, res) =&gt;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CE93D8"/>
                </a:solidFill>
                <a:latin typeface="Cascadia Code"/>
              </a:rPr>
              <a:t>  const </a:t>
            </a:r>
            <a:r>
              <a:rPr sz="1100">
                <a:solidFill>
                  <a:srgbClr val="E8F0FE"/>
                </a:solidFill>
                <a:latin typeface="Cascadia Code"/>
              </a:rPr>
              <a:t>{ felhasznalonev, jelszo } </a:t>
            </a:r>
            <a:r>
              <a:rPr sz="1100">
                <a:solidFill>
                  <a:srgbClr val="B0BEC5"/>
                </a:solidFill>
                <a:latin typeface="Cascadia Code"/>
              </a:rPr>
              <a:t>= req.body;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CE93D8"/>
                </a:solidFill>
                <a:latin typeface="Cascadia Code"/>
              </a:rPr>
              <a:t>  if </a:t>
            </a:r>
            <a:r>
              <a:rPr sz="1100">
                <a:solidFill>
                  <a:srgbClr val="B0BEC5"/>
                </a:solidFill>
                <a:latin typeface="Cascadia Code"/>
              </a:rPr>
              <a:t>(!felhasznalonev || !jelszo)</a:t>
            </a:r>
            <a:r>
              <a:rPr sz="1100">
                <a:solidFill>
                  <a:srgbClr val="B0BEC5"/>
                </a:solidFill>
                <a:latin typeface="Cascadia Code"/>
              </a:rPr>
              <a:t> return res.status(</a:t>
            </a:r>
            <a:r>
              <a:rPr sz="1100">
                <a:solidFill>
                  <a:srgbClr val="FF8A80"/>
                </a:solidFill>
                <a:latin typeface="Cascadia Code"/>
              </a:rPr>
              <a:t>400</a:t>
            </a:r>
            <a:r>
              <a:rPr sz="1100">
                <a:solidFill>
                  <a:srgbClr val="B0BEC5"/>
                </a:solidFill>
                <a:latin typeface="Cascadia Code"/>
              </a:rPr>
              <a:t>).json(...);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B0BEC5"/>
                </a:solidFill>
                <a:latin typeface="Cascadia Code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607D8B"/>
                </a:solidFill>
                <a:latin typeface="Cascadia Code"/>
              </a:rPr>
              <a:t>  // 1. Felhasznalo keresese az adatbazisban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CE93D8"/>
                </a:solidFill>
                <a:latin typeface="Cascadia Code"/>
              </a:rPr>
              <a:t>  const </a:t>
            </a:r>
            <a:r>
              <a:rPr sz="1100">
                <a:solidFill>
                  <a:srgbClr val="E8F0FE"/>
                </a:solidFill>
                <a:latin typeface="Cascadia Code"/>
              </a:rPr>
              <a:t>user </a:t>
            </a:r>
            <a:r>
              <a:rPr sz="1100">
                <a:solidFill>
                  <a:srgbClr val="B0BEC5"/>
                </a:solidFill>
                <a:latin typeface="Cascadia Code"/>
              </a:rPr>
              <a:t>= dbGet(</a:t>
            </a:r>
            <a:r>
              <a:rPr sz="1100">
                <a:solidFill>
                  <a:srgbClr val="FFD54F"/>
                </a:solidFill>
                <a:latin typeface="Cascadia Code"/>
              </a:rPr>
              <a:t>'SELECT * FROM felhasznalok WHERE felhasznalonev = ?'</a:t>
            </a:r>
            <a:r>
              <a:rPr sz="1100">
                <a:solidFill>
                  <a:srgbClr val="B0BEC5"/>
                </a:solidFill>
                <a:latin typeface="Cascadia Code"/>
              </a:rPr>
              <a:t>, [felhasznalonev]);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CE93D8"/>
                </a:solidFill>
                <a:latin typeface="Cascadia Code"/>
              </a:rPr>
              <a:t>  if </a:t>
            </a:r>
            <a:r>
              <a:rPr sz="1100">
                <a:solidFill>
                  <a:srgbClr val="B0BEC5"/>
                </a:solidFill>
                <a:latin typeface="Cascadia Code"/>
              </a:rPr>
              <a:t>(!user) return res.status(</a:t>
            </a:r>
            <a:r>
              <a:rPr sz="1100">
                <a:solidFill>
                  <a:srgbClr val="FF8A80"/>
                </a:solidFill>
                <a:latin typeface="Cascadia Code"/>
              </a:rPr>
              <a:t>401</a:t>
            </a:r>
            <a:r>
              <a:rPr sz="1100">
                <a:solidFill>
                  <a:srgbClr val="B0BEC5"/>
                </a:solidFill>
                <a:latin typeface="Cascadia Code"/>
              </a:rPr>
              <a:t>).json({ error: 'Hibas felhasznalonev.' });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B0BEC5"/>
                </a:solidFill>
                <a:latin typeface="Cascadia Code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607D8B"/>
                </a:solidFill>
                <a:latin typeface="Cascadia Code"/>
              </a:rPr>
              <a:t>  // 2. Jelszo-hash ellenorzese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CE93D8"/>
                </a:solidFill>
                <a:latin typeface="Cascadia Code"/>
              </a:rPr>
              <a:t>  const </a:t>
            </a:r>
            <a:r>
              <a:rPr sz="1100">
                <a:solidFill>
                  <a:srgbClr val="E8F0FE"/>
                </a:solidFill>
                <a:latin typeface="Cascadia Code"/>
              </a:rPr>
              <a:t>valid </a:t>
            </a:r>
            <a:r>
              <a:rPr sz="1100">
                <a:solidFill>
                  <a:srgbClr val="CE93D8"/>
                </a:solidFill>
                <a:latin typeface="Cascadia Code"/>
              </a:rPr>
              <a:t>= await </a:t>
            </a:r>
            <a:r>
              <a:rPr sz="1100">
                <a:solidFill>
                  <a:srgbClr val="69F0AE"/>
                </a:solidFill>
                <a:latin typeface="Cascadia Code"/>
              </a:rPr>
              <a:t>bcrypt.compare</a:t>
            </a:r>
            <a:r>
              <a:rPr sz="1100">
                <a:solidFill>
                  <a:srgbClr val="B0BEC5"/>
                </a:solidFill>
                <a:latin typeface="Cascadia Code"/>
              </a:rPr>
              <a:t>(jelszo, user.jelszo);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CE93D8"/>
                </a:solidFill>
                <a:latin typeface="Cascadia Code"/>
              </a:rPr>
              <a:t>  if </a:t>
            </a:r>
            <a:r>
              <a:rPr sz="1100">
                <a:solidFill>
                  <a:srgbClr val="B0BEC5"/>
                </a:solidFill>
                <a:latin typeface="Cascadia Code"/>
              </a:rPr>
              <a:t>(!valid) return res.status(</a:t>
            </a:r>
            <a:r>
              <a:rPr sz="1100">
                <a:solidFill>
                  <a:srgbClr val="FF8A80"/>
                </a:solidFill>
                <a:latin typeface="Cascadia Code"/>
              </a:rPr>
              <a:t>401</a:t>
            </a:r>
            <a:r>
              <a:rPr sz="1100">
                <a:solidFill>
                  <a:srgbClr val="B0BEC5"/>
                </a:solidFill>
                <a:latin typeface="Cascadia Code"/>
              </a:rPr>
              <a:t>).json({ error: 'Hibas jelszo.' });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B0BEC5"/>
                </a:solidFill>
                <a:latin typeface="Cascadia Code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607D8B"/>
                </a:solidFill>
                <a:latin typeface="Cascadia Code"/>
              </a:rPr>
              <a:t>  // 3. JWT token generalasa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CE93D8"/>
                </a:solidFill>
                <a:latin typeface="Cascadia Code"/>
              </a:rPr>
              <a:t>  const </a:t>
            </a:r>
            <a:r>
              <a:rPr sz="1100">
                <a:solidFill>
                  <a:srgbClr val="E8F0FE"/>
                </a:solidFill>
                <a:latin typeface="Cascadia Code"/>
              </a:rPr>
              <a:t>token </a:t>
            </a:r>
            <a:r>
              <a:rPr sz="1100">
                <a:solidFill>
                  <a:srgbClr val="B0BEC5"/>
                </a:solidFill>
                <a:latin typeface="Cascadia Code"/>
              </a:rPr>
              <a:t>= jwt.sign(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B0BEC5"/>
                </a:solidFill>
                <a:latin typeface="Cascadia Code"/>
              </a:rPr>
              <a:t>    { id: user.id, felhasznalonev: user.felhasznalonev, szerep: user.szerep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B0BEC5"/>
                </a:solidFill>
                <a:latin typeface="Cascadia Code"/>
              </a:rPr>
              <a:t>    JWT_SECRET, { expiresIn: </a:t>
            </a:r>
            <a:r>
              <a:rPr sz="1100">
                <a:solidFill>
                  <a:srgbClr val="FFD54F"/>
                </a:solidFill>
                <a:latin typeface="Cascadia Code"/>
              </a:rPr>
              <a:t>'1h'</a:t>
            </a:r>
            <a:r>
              <a:rPr sz="1100">
                <a:solidFill>
                  <a:srgbClr val="B0BEC5"/>
                </a:solidFill>
                <a:latin typeface="Cascadia Code"/>
              </a:rPr>
              <a:t> }  </a:t>
            </a:r>
            <a:r>
              <a:rPr sz="1100">
                <a:solidFill>
                  <a:srgbClr val="607D8B"/>
                </a:solidFill>
                <a:latin typeface="Cascadia Code"/>
              </a:rPr>
              <a:t>// 1 ora utan lejár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B0BEC5"/>
                </a:solidFill>
                <a:latin typeface="Cascadia Code"/>
              </a:rPr>
              <a:t>  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69F0AE"/>
                </a:solidFill>
                <a:latin typeface="Cascadia Code"/>
              </a:rPr>
              <a:t>  res.json</a:t>
            </a:r>
            <a:r>
              <a:rPr sz="1100">
                <a:solidFill>
                  <a:srgbClr val="B0BEC5"/>
                </a:solidFill>
                <a:latin typeface="Cascadia Code"/>
              </a:rPr>
              <a:t>({ token });  </a:t>
            </a:r>
            <a:r>
              <a:rPr sz="1100">
                <a:solidFill>
                  <a:srgbClr val="607D8B"/>
                </a:solidFill>
                <a:latin typeface="Cascadia Code"/>
              </a:rPr>
              <a:t>// kliens eltárolja sessionStorage-ben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B0BEC5"/>
                </a:solidFill>
                <a:latin typeface="Cascadia Code"/>
              </a:rPr>
              <a:t>});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07D8B"/>
                </a:solidFill>
                <a:latin typeface="Segoe UI"/>
              </a:rPr>
              <a:t>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FC3F7"/>
                </a:solidFill>
                <a:latin typeface="Segoe UI"/>
              </a:rPr>
              <a:t>BACKEND KOD  -  SERVER.JS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8F0FE"/>
                </a:solidFill>
                <a:latin typeface="Segoe UI"/>
              </a:rPr>
              <a:t>POST /api/hibak  -  Hiba bejelentese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74552" cy="27432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61872"/>
            <a:ext cx="11274552" cy="5257800"/>
          </a:xfrm>
          <a:prstGeom prst="rect">
            <a:avLst/>
          </a:prstGeom>
          <a:solidFill>
            <a:srgbClr val="05101A"/>
          </a:solidFill>
          <a:ln w="12700">
            <a:solidFill>
              <a:srgbClr val="1A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1000232" cy="50383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69F0AE"/>
                </a:solidFill>
                <a:latin typeface="Cascadia Code"/>
              </a:rPr>
              <a:t>app.post</a:t>
            </a:r>
            <a:r>
              <a:rPr sz="1100">
                <a:solidFill>
                  <a:srgbClr val="B0BEC5"/>
                </a:solidFill>
                <a:latin typeface="Cascadia Code"/>
              </a:rPr>
              <a:t>('/api/hibak', </a:t>
            </a:r>
            <a:r>
              <a:rPr sz="1100">
                <a:solidFill>
                  <a:srgbClr val="82B1FF"/>
                </a:solidFill>
                <a:latin typeface="Cascadia Code"/>
              </a:rPr>
              <a:t>authenticateToken</a:t>
            </a:r>
            <a:r>
              <a:rPr sz="1100">
                <a:solidFill>
                  <a:srgbClr val="B0BEC5"/>
                </a:solidFill>
                <a:latin typeface="Cascadia Code"/>
              </a:rPr>
              <a:t>, async (req, res) =&gt;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CE93D8"/>
                </a:solidFill>
                <a:latin typeface="Cascadia Code"/>
              </a:rPr>
              <a:t>  const </a:t>
            </a:r>
            <a:r>
              <a:rPr sz="1100">
                <a:solidFill>
                  <a:srgbClr val="E8F0FE"/>
                </a:solidFill>
                <a:latin typeface="Cascadia Code"/>
              </a:rPr>
              <a:t>{ terem, leiras } </a:t>
            </a:r>
            <a:r>
              <a:rPr sz="1100">
                <a:solidFill>
                  <a:srgbClr val="B0BEC5"/>
                </a:solidFill>
                <a:latin typeface="Cascadia Code"/>
              </a:rPr>
              <a:t>= req.body;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CE93D8"/>
                </a:solidFill>
                <a:latin typeface="Cascadia Code"/>
              </a:rPr>
              <a:t>  const </a:t>
            </a:r>
            <a:r>
              <a:rPr sz="1100">
                <a:solidFill>
                  <a:srgbClr val="E8F0FE"/>
                </a:solidFill>
                <a:latin typeface="Cascadia Code"/>
              </a:rPr>
              <a:t>currentUser </a:t>
            </a:r>
            <a:r>
              <a:rPr sz="1100">
                <a:solidFill>
                  <a:srgbClr val="B0BEC5"/>
                </a:solidFill>
                <a:latin typeface="Cascadia Code"/>
              </a:rPr>
              <a:t>= req.user;  </a:t>
            </a:r>
            <a:r>
              <a:rPr sz="1100">
                <a:solidFill>
                  <a:srgbClr val="607D8B"/>
                </a:solidFill>
                <a:latin typeface="Cascadia Code"/>
              </a:rPr>
              <a:t>// JWT-bol dekodolva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B0BEC5"/>
                </a:solidFill>
                <a:latin typeface="Cascadia Code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607D8B"/>
                </a:solidFill>
                <a:latin typeface="Cascadia Code"/>
              </a:rPr>
              <a:t>  // Jogosultsag ellenorzés: csak tanar vagy admin rogzithet hibat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CE93D8"/>
                </a:solidFill>
                <a:latin typeface="Cascadia Code"/>
              </a:rPr>
              <a:t>  if </a:t>
            </a:r>
            <a:r>
              <a:rPr sz="1100">
                <a:solidFill>
                  <a:srgbClr val="B0BEC5"/>
                </a:solidFill>
                <a:latin typeface="Cascadia Code"/>
              </a:rPr>
              <a:t>(currentUser.szerep !== </a:t>
            </a:r>
            <a:r>
              <a:rPr sz="1100">
                <a:solidFill>
                  <a:srgbClr val="FFD54F"/>
                </a:solidFill>
                <a:latin typeface="Cascadia Code"/>
              </a:rPr>
              <a:t>'tanar'</a:t>
            </a:r>
            <a:r>
              <a:rPr sz="1100">
                <a:solidFill>
                  <a:srgbClr val="B0BEC5"/>
                </a:solidFill>
                <a:latin typeface="Cascadia Code"/>
              </a:rPr>
              <a:t> &amp;&amp; currentUser.szerep !== </a:t>
            </a:r>
            <a:r>
              <a:rPr sz="1100">
                <a:solidFill>
                  <a:srgbClr val="FFD54F"/>
                </a:solidFill>
                <a:latin typeface="Cascadia Code"/>
              </a:rPr>
              <a:t>'admin'</a:t>
            </a:r>
            <a:r>
              <a:rPr sz="1100">
                <a:solidFill>
                  <a:srgbClr val="B0BEC5"/>
                </a:solidFill>
                <a:latin typeface="Cascadia Code"/>
              </a:rPr>
              <a:t>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B0BEC5"/>
                </a:solidFill>
                <a:latin typeface="Cascadia Code"/>
              </a:rPr>
              <a:t>    return res.status(</a:t>
            </a:r>
            <a:r>
              <a:rPr sz="1100">
                <a:solidFill>
                  <a:srgbClr val="FF8A80"/>
                </a:solidFill>
                <a:latin typeface="Cascadia Code"/>
              </a:rPr>
              <a:t>403</a:t>
            </a:r>
            <a:r>
              <a:rPr sz="1100">
                <a:solidFill>
                  <a:srgbClr val="B0BEC5"/>
                </a:solidFill>
                <a:latin typeface="Cascadia Code"/>
              </a:rPr>
              <a:t>).json({ error: 'Nincs jogosultsaga.' });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B0BEC5"/>
                </a:solidFill>
                <a:latin typeface="Cascadia Code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CE93D8"/>
                </a:solidFill>
                <a:latin typeface="Cascadia Code"/>
              </a:rPr>
              <a:t>  const </a:t>
            </a:r>
            <a:r>
              <a:rPr sz="1100">
                <a:solidFill>
                  <a:srgbClr val="E8F0FE"/>
                </a:solidFill>
                <a:latin typeface="Cascadia Code"/>
              </a:rPr>
              <a:t>datum  </a:t>
            </a:r>
            <a:r>
              <a:rPr sz="1100">
                <a:solidFill>
                  <a:srgbClr val="B0BEC5"/>
                </a:solidFill>
                <a:latin typeface="Cascadia Code"/>
              </a:rPr>
              <a:t>= new Date().toISOString().split(</a:t>
            </a:r>
            <a:r>
              <a:rPr sz="1100">
                <a:solidFill>
                  <a:srgbClr val="FFD54F"/>
                </a:solidFill>
                <a:latin typeface="Cascadia Code"/>
              </a:rPr>
              <a:t>'T'</a:t>
            </a:r>
            <a:r>
              <a:rPr sz="1100">
                <a:solidFill>
                  <a:srgbClr val="B0BEC5"/>
                </a:solidFill>
                <a:latin typeface="Cascadia Code"/>
              </a:rPr>
              <a:t>)[0]; </a:t>
            </a:r>
            <a:r>
              <a:rPr sz="1100">
                <a:solidFill>
                  <a:srgbClr val="607D8B"/>
                </a:solidFill>
                <a:latin typeface="Cascadia Code"/>
              </a:rPr>
              <a:t>// YYYY-MM-DD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CE93D8"/>
                </a:solidFill>
                <a:latin typeface="Cascadia Code"/>
              </a:rPr>
              <a:t>  const </a:t>
            </a:r>
            <a:r>
              <a:rPr sz="1100">
                <a:solidFill>
                  <a:srgbClr val="E8F0FE"/>
                </a:solidFill>
                <a:latin typeface="Cascadia Code"/>
              </a:rPr>
              <a:t>result </a:t>
            </a:r>
            <a:r>
              <a:rPr sz="1100">
                <a:solidFill>
                  <a:srgbClr val="B0BEC5"/>
                </a:solidFill>
                <a:latin typeface="Cascadia Code"/>
              </a:rPr>
              <a:t>= dbRun(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FFD54F"/>
                </a:solidFill>
                <a:latin typeface="Cascadia Code"/>
              </a:rPr>
              <a:t>    'INSERT INTO hibak (datum, bejelento_id, terem, leiras, allapot) VALUES (?,?,?,?,?)',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B0BEC5"/>
                </a:solidFill>
                <a:latin typeface="Cascadia Code"/>
              </a:rPr>
              <a:t>    [datum, currentUser.id, terem, leiras, </a:t>
            </a:r>
            <a:r>
              <a:rPr sz="1100">
                <a:solidFill>
                  <a:srgbClr val="FFD54F"/>
                </a:solidFill>
                <a:latin typeface="Cascadia Code"/>
              </a:rPr>
              <a:t>'bejelentve'</a:t>
            </a:r>
            <a:r>
              <a:rPr sz="1100">
                <a:solidFill>
                  <a:srgbClr val="B0BEC5"/>
                </a:solidFill>
                <a:latin typeface="Cascadia Code"/>
              </a:rPr>
              <a:t>]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B0BEC5"/>
                </a:solidFill>
                <a:latin typeface="Cascadia Code"/>
              </a:rPr>
              <a:t>  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B0BEC5"/>
                </a:solidFill>
                <a:latin typeface="Cascadia Code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607D8B"/>
                </a:solidFill>
                <a:latin typeface="Cascadia Code"/>
              </a:rPr>
              <a:t>  // Visszaadjuk az uj rekordot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CE93D8"/>
                </a:solidFill>
                <a:latin typeface="Cascadia Code"/>
              </a:rPr>
              <a:t>  const </a:t>
            </a:r>
            <a:r>
              <a:rPr sz="1100">
                <a:solidFill>
                  <a:srgbClr val="E8F0FE"/>
                </a:solidFill>
                <a:latin typeface="Cascadia Code"/>
              </a:rPr>
              <a:t>ujHiba </a:t>
            </a:r>
            <a:r>
              <a:rPr sz="1100">
                <a:solidFill>
                  <a:srgbClr val="B0BEC5"/>
                </a:solidFill>
                <a:latin typeface="Cascadia Code"/>
              </a:rPr>
              <a:t>= dbGet(</a:t>
            </a:r>
            <a:r>
              <a:rPr sz="1100">
                <a:solidFill>
                  <a:srgbClr val="FFD54F"/>
                </a:solidFill>
                <a:latin typeface="Cascadia Code"/>
              </a:rPr>
              <a:t>'SELECT * FROM hibak WHERE id = ?'</a:t>
            </a:r>
            <a:r>
              <a:rPr sz="1100">
                <a:solidFill>
                  <a:srgbClr val="B0BEC5"/>
                </a:solidFill>
                <a:latin typeface="Cascadia Code"/>
              </a:rPr>
              <a:t>, [result.lastInsertRowid]);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B0BEC5"/>
                </a:solidFill>
                <a:latin typeface="Cascadia Code"/>
              </a:rPr>
              <a:t>  res.status(</a:t>
            </a:r>
            <a:r>
              <a:rPr sz="1100">
                <a:solidFill>
                  <a:srgbClr val="69F0AE"/>
                </a:solidFill>
                <a:latin typeface="Cascadia Code"/>
              </a:rPr>
              <a:t>201</a:t>
            </a:r>
            <a:r>
              <a:rPr sz="1100">
                <a:solidFill>
                  <a:srgbClr val="B0BEC5"/>
                </a:solidFill>
                <a:latin typeface="Cascadia Code"/>
              </a:rPr>
              <a:t>).json(ujHiba);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B0BEC5"/>
                </a:solidFill>
                <a:latin typeface="Cascadia Code"/>
              </a:rPr>
              <a:t>});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07D8B"/>
                </a:solidFill>
                <a:latin typeface="Segoe UI"/>
              </a:rPr>
              <a:t>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FC3F7"/>
                </a:solidFill>
                <a:latin typeface="Segoe UI"/>
              </a:rPr>
              <a:t>BACKEND KOD  -  SERVER.JS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8F0FE"/>
                </a:solidFill>
                <a:latin typeface="Segoe UI"/>
              </a:rPr>
              <a:t>PUT /api/hibak/:id/javitas  -  Hiba javitasa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74552" cy="27432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61872"/>
            <a:ext cx="11274552" cy="5257800"/>
          </a:xfrm>
          <a:prstGeom prst="rect">
            <a:avLst/>
          </a:prstGeom>
          <a:solidFill>
            <a:srgbClr val="05101A"/>
          </a:solidFill>
          <a:ln w="12700">
            <a:solidFill>
              <a:srgbClr val="1A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1000232" cy="50383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69F0AE"/>
                </a:solidFill>
                <a:latin typeface="Cascadia Code"/>
              </a:rPr>
              <a:t>app.put</a:t>
            </a:r>
            <a:r>
              <a:rPr sz="1100">
                <a:solidFill>
                  <a:srgbClr val="B0BEC5"/>
                </a:solidFill>
                <a:latin typeface="Cascadia Code"/>
              </a:rPr>
              <a:t>('/api/hibak/:id/javitas', </a:t>
            </a:r>
            <a:r>
              <a:rPr sz="1100">
                <a:solidFill>
                  <a:srgbClr val="82B1FF"/>
                </a:solidFill>
                <a:latin typeface="Cascadia Code"/>
              </a:rPr>
              <a:t>authenticateToken</a:t>
            </a:r>
            <a:r>
              <a:rPr sz="1100">
                <a:solidFill>
                  <a:srgbClr val="B0BEC5"/>
                </a:solidFill>
                <a:latin typeface="Cascadia Code"/>
              </a:rPr>
              <a:t>, async (req, res) =&gt;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CE93D8"/>
                </a:solidFill>
                <a:latin typeface="Cascadia Code"/>
              </a:rPr>
              <a:t>  const </a:t>
            </a:r>
            <a:r>
              <a:rPr sz="1100">
                <a:solidFill>
                  <a:srgbClr val="E8F0FE"/>
                </a:solidFill>
                <a:latin typeface="Cascadia Code"/>
              </a:rPr>
              <a:t>{ id } </a:t>
            </a:r>
            <a:r>
              <a:rPr sz="1100">
                <a:solidFill>
                  <a:srgbClr val="B0BEC5"/>
                </a:solidFill>
                <a:latin typeface="Cascadia Code"/>
              </a:rPr>
              <a:t>= req.params;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CE93D8"/>
                </a:solidFill>
                <a:latin typeface="Cascadia Code"/>
              </a:rPr>
              <a:t>  const </a:t>
            </a:r>
            <a:r>
              <a:rPr sz="1100">
                <a:solidFill>
                  <a:srgbClr val="E8F0FE"/>
                </a:solidFill>
                <a:latin typeface="Cascadia Code"/>
              </a:rPr>
              <a:t>currentUser </a:t>
            </a:r>
            <a:r>
              <a:rPr sz="1100">
                <a:solidFill>
                  <a:srgbClr val="B0BEC5"/>
                </a:solidFill>
                <a:latin typeface="Cascadia Code"/>
              </a:rPr>
              <a:t>= req.user;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B0BEC5"/>
                </a:solidFill>
                <a:latin typeface="Cascadia Code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CE93D8"/>
                </a:solidFill>
                <a:latin typeface="Cascadia Code"/>
              </a:rPr>
              <a:t>  if </a:t>
            </a:r>
            <a:r>
              <a:rPr sz="1100">
                <a:solidFill>
                  <a:srgbClr val="B0BEC5"/>
                </a:solidFill>
                <a:latin typeface="Cascadia Code"/>
              </a:rPr>
              <a:t>(currentUser.szerep !== </a:t>
            </a:r>
            <a:r>
              <a:rPr sz="1100">
                <a:solidFill>
                  <a:srgbClr val="FFD54F"/>
                </a:solidFill>
                <a:latin typeface="Cascadia Code"/>
              </a:rPr>
              <a:t>'karbantarto'</a:t>
            </a:r>
            <a:r>
              <a:rPr sz="1100">
                <a:solidFill>
                  <a:srgbClr val="B0BEC5"/>
                </a:solidFill>
                <a:latin typeface="Cascadia Code"/>
              </a:rPr>
              <a:t> &amp;&amp; currentUser.szerep !== </a:t>
            </a:r>
            <a:r>
              <a:rPr sz="1100">
                <a:solidFill>
                  <a:srgbClr val="FFD54F"/>
                </a:solidFill>
                <a:latin typeface="Cascadia Code"/>
              </a:rPr>
              <a:t>'admin'</a:t>
            </a:r>
            <a:r>
              <a:rPr sz="1100">
                <a:solidFill>
                  <a:srgbClr val="B0BEC5"/>
                </a:solidFill>
                <a:latin typeface="Cascadia Code"/>
              </a:rPr>
              <a:t>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B0BEC5"/>
                </a:solidFill>
                <a:latin typeface="Cascadia Code"/>
              </a:rPr>
              <a:t>    return res.status(</a:t>
            </a:r>
            <a:r>
              <a:rPr sz="1100">
                <a:solidFill>
                  <a:srgbClr val="FF8A80"/>
                </a:solidFill>
                <a:latin typeface="Cascadia Code"/>
              </a:rPr>
              <a:t>403</a:t>
            </a:r>
            <a:r>
              <a:rPr sz="1100">
                <a:solidFill>
                  <a:srgbClr val="B0BEC5"/>
                </a:solidFill>
                <a:latin typeface="Cascadia Code"/>
              </a:rPr>
              <a:t>).json({ error: 'Nincs jogosultsaga.' });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B0BEC5"/>
                </a:solidFill>
                <a:latin typeface="Cascadia Code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CE93D8"/>
                </a:solidFill>
                <a:latin typeface="Cascadia Code"/>
              </a:rPr>
              <a:t>  const </a:t>
            </a:r>
            <a:r>
              <a:rPr sz="1100">
                <a:solidFill>
                  <a:srgbClr val="E8F0FE"/>
                </a:solidFill>
                <a:latin typeface="Cascadia Code"/>
              </a:rPr>
              <a:t>hiba </a:t>
            </a:r>
            <a:r>
              <a:rPr sz="1100">
                <a:solidFill>
                  <a:srgbClr val="B0BEC5"/>
                </a:solidFill>
                <a:latin typeface="Cascadia Code"/>
              </a:rPr>
              <a:t>= dbGet(</a:t>
            </a:r>
            <a:r>
              <a:rPr sz="1100">
                <a:solidFill>
                  <a:srgbClr val="FFD54F"/>
                </a:solidFill>
                <a:latin typeface="Cascadia Code"/>
              </a:rPr>
              <a:t>'SELECT * FROM hibak WHERE id = ?'</a:t>
            </a:r>
            <a:r>
              <a:rPr sz="1100">
                <a:solidFill>
                  <a:srgbClr val="B0BEC5"/>
                </a:solidFill>
                <a:latin typeface="Cascadia Code"/>
              </a:rPr>
              <a:t>, [id]);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CE93D8"/>
                </a:solidFill>
                <a:latin typeface="Cascadia Code"/>
              </a:rPr>
              <a:t>  if </a:t>
            </a:r>
            <a:r>
              <a:rPr sz="1100">
                <a:solidFill>
                  <a:srgbClr val="B0BEC5"/>
                </a:solidFill>
                <a:latin typeface="Cascadia Code"/>
              </a:rPr>
              <a:t>(!hiba)</a:t>
            </a:r>
            <a:r>
              <a:rPr sz="1100">
                <a:solidFill>
                  <a:srgbClr val="B0BEC5"/>
                </a:solidFill>
                <a:latin typeface="Cascadia Code"/>
              </a:rPr>
              <a:t>  return res.status(</a:t>
            </a:r>
            <a:r>
              <a:rPr sz="1100">
                <a:solidFill>
                  <a:srgbClr val="FF8A80"/>
                </a:solidFill>
                <a:latin typeface="Cascadia Code"/>
              </a:rPr>
              <a:t>404</a:t>
            </a:r>
            <a:r>
              <a:rPr sz="1100">
                <a:solidFill>
                  <a:srgbClr val="B0BEC5"/>
                </a:solidFill>
                <a:latin typeface="Cascadia Code"/>
              </a:rPr>
              <a:t>).json(...);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CE93D8"/>
                </a:solidFill>
                <a:latin typeface="Cascadia Code"/>
              </a:rPr>
              <a:t>  if </a:t>
            </a:r>
            <a:r>
              <a:rPr sz="1100">
                <a:solidFill>
                  <a:srgbClr val="B0BEC5"/>
                </a:solidFill>
                <a:latin typeface="Cascadia Code"/>
              </a:rPr>
              <a:t>(hiba.allapot === </a:t>
            </a:r>
            <a:r>
              <a:rPr sz="1100">
                <a:solidFill>
                  <a:srgbClr val="FFD54F"/>
                </a:solidFill>
                <a:latin typeface="Cascadia Code"/>
              </a:rPr>
              <a:t>'kijavitva'</a:t>
            </a:r>
            <a:r>
              <a:rPr sz="1100">
                <a:solidFill>
                  <a:srgbClr val="B0BEC5"/>
                </a:solidFill>
                <a:latin typeface="Cascadia Code"/>
              </a:rPr>
              <a:t>) return res.status(</a:t>
            </a:r>
            <a:r>
              <a:rPr sz="1100">
                <a:solidFill>
                  <a:srgbClr val="FF8A80"/>
                </a:solidFill>
                <a:latin typeface="Cascadia Code"/>
              </a:rPr>
              <a:t>409</a:t>
            </a:r>
            <a:r>
              <a:rPr sz="1100">
                <a:solidFill>
                  <a:srgbClr val="B0BEC5"/>
                </a:solidFill>
                <a:latin typeface="Cascadia Code"/>
              </a:rPr>
              <a:t>).json(...);  </a:t>
            </a:r>
            <a:r>
              <a:rPr sz="1100">
                <a:solidFill>
                  <a:srgbClr val="607D8B"/>
                </a:solidFill>
                <a:latin typeface="Cascadia Code"/>
              </a:rPr>
              <a:t>// mar ki van javitva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B0BEC5"/>
                </a:solidFill>
                <a:latin typeface="Cascadia Code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CE93D8"/>
                </a:solidFill>
                <a:latin typeface="Cascadia Code"/>
              </a:rPr>
              <a:t>  const </a:t>
            </a:r>
            <a:r>
              <a:rPr sz="1100">
                <a:solidFill>
                  <a:srgbClr val="E8F0FE"/>
                </a:solidFill>
                <a:latin typeface="Cascadia Code"/>
              </a:rPr>
              <a:t>javitas_datuma </a:t>
            </a:r>
            <a:r>
              <a:rPr sz="1100">
                <a:solidFill>
                  <a:srgbClr val="B0BEC5"/>
                </a:solidFill>
                <a:latin typeface="Cascadia Code"/>
              </a:rPr>
              <a:t>= new Date().toISOString().split(</a:t>
            </a:r>
            <a:r>
              <a:rPr sz="1100">
                <a:solidFill>
                  <a:srgbClr val="FFD54F"/>
                </a:solidFill>
                <a:latin typeface="Cascadia Code"/>
              </a:rPr>
              <a:t>'T'</a:t>
            </a:r>
            <a:r>
              <a:rPr sz="1100">
                <a:solidFill>
                  <a:srgbClr val="B0BEC5"/>
                </a:solidFill>
                <a:latin typeface="Cascadia Code"/>
              </a:rPr>
              <a:t>)[0];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B0BEC5"/>
                </a:solidFill>
                <a:latin typeface="Cascadia Code"/>
              </a:rPr>
              <a:t>  dbRun(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FFD54F"/>
                </a:solidFill>
                <a:latin typeface="Cascadia Code"/>
              </a:rPr>
              <a:t>    'UPDATE hibak SET allapot=?, javito_id=?, javitas_datuma=? WHERE id=?',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B0BEC5"/>
                </a:solidFill>
                <a:latin typeface="Cascadia Code"/>
              </a:rPr>
              <a:t>    [</a:t>
            </a:r>
            <a:r>
              <a:rPr sz="1100">
                <a:solidFill>
                  <a:srgbClr val="FFD54F"/>
                </a:solidFill>
                <a:latin typeface="Cascadia Code"/>
              </a:rPr>
              <a:t>'kijavitva'</a:t>
            </a:r>
            <a:r>
              <a:rPr sz="1100">
                <a:solidFill>
                  <a:srgbClr val="B0BEC5"/>
                </a:solidFill>
                <a:latin typeface="Cascadia Code"/>
              </a:rPr>
              <a:t>, currentUser.id, javitas_datuma, id]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B0BEC5"/>
                </a:solidFill>
                <a:latin typeface="Cascadia Code"/>
              </a:rPr>
              <a:t>  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69F0AE"/>
                </a:solidFill>
                <a:latin typeface="Cascadia Code"/>
              </a:rPr>
              <a:t>  res.json</a:t>
            </a:r>
            <a:r>
              <a:rPr sz="1100">
                <a:solidFill>
                  <a:srgbClr val="B0BEC5"/>
                </a:solidFill>
                <a:latin typeface="Cascadia Code"/>
              </a:rPr>
              <a:t>(dbGet('SELECT * FROM hibak WHERE id = ?', [id]));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B0BEC5"/>
                </a:solidFill>
                <a:latin typeface="Cascadia Code"/>
              </a:rPr>
              <a:t>});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07D8B"/>
                </a:solidFill>
                <a:latin typeface="Segoe UI"/>
              </a:rPr>
              <a:t>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FC3F7"/>
                </a:solidFill>
                <a:latin typeface="Segoe UI"/>
              </a:rPr>
              <a:t>FRONTEND KOD  -  LOGIN.JS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8F0FE"/>
                </a:solidFill>
                <a:latin typeface="Segoe UI"/>
              </a:rPr>
              <a:t>Bejelentkezesi logika  (handleLogin)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74552" cy="27432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61872"/>
            <a:ext cx="11274552" cy="5257800"/>
          </a:xfrm>
          <a:prstGeom prst="rect">
            <a:avLst/>
          </a:prstGeom>
          <a:solidFill>
            <a:srgbClr val="05101A"/>
          </a:solidFill>
          <a:ln w="12700">
            <a:solidFill>
              <a:srgbClr val="1A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1000232" cy="50383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CE93D8"/>
                </a:solidFill>
                <a:latin typeface="Cascadia Code"/>
              </a:rPr>
              <a:t>async function </a:t>
            </a:r>
            <a:r>
              <a:rPr sz="1100">
                <a:solidFill>
                  <a:srgbClr val="69F0AE"/>
                </a:solidFill>
                <a:latin typeface="Cascadia Code"/>
              </a:rPr>
              <a:t>handleLogin</a:t>
            </a:r>
            <a:r>
              <a:rPr sz="1100">
                <a:solidFill>
                  <a:srgbClr val="B0BEC5"/>
                </a:solidFill>
                <a:latin typeface="Cascadia Code"/>
              </a:rPr>
              <a:t>(event)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B0BEC5"/>
                </a:solidFill>
                <a:latin typeface="Cascadia Code"/>
              </a:rPr>
              <a:t>  event.preventDefault();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CE93D8"/>
                </a:solidFill>
                <a:latin typeface="Cascadia Code"/>
              </a:rPr>
              <a:t>  const </a:t>
            </a:r>
            <a:r>
              <a:rPr sz="1100">
                <a:solidFill>
                  <a:srgbClr val="E8F0FE"/>
                </a:solidFill>
                <a:latin typeface="Cascadia Code"/>
              </a:rPr>
              <a:t>felhasznalonev </a:t>
            </a:r>
            <a:r>
              <a:rPr sz="1100">
                <a:solidFill>
                  <a:srgbClr val="B0BEC5"/>
                </a:solidFill>
                <a:latin typeface="Cascadia Code"/>
              </a:rPr>
              <a:t>= document.getElementById(</a:t>
            </a:r>
            <a:r>
              <a:rPr sz="1100">
                <a:solidFill>
                  <a:srgbClr val="FFD54F"/>
                </a:solidFill>
                <a:latin typeface="Cascadia Code"/>
              </a:rPr>
              <a:t>'felhasznalonev'</a:t>
            </a:r>
            <a:r>
              <a:rPr sz="1100">
                <a:solidFill>
                  <a:srgbClr val="B0BEC5"/>
                </a:solidFill>
                <a:latin typeface="Cascadia Code"/>
              </a:rPr>
              <a:t>).value;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CE93D8"/>
                </a:solidFill>
                <a:latin typeface="Cascadia Code"/>
              </a:rPr>
              <a:t>  const </a:t>
            </a:r>
            <a:r>
              <a:rPr sz="1100">
                <a:solidFill>
                  <a:srgbClr val="E8F0FE"/>
                </a:solidFill>
                <a:latin typeface="Cascadia Code"/>
              </a:rPr>
              <a:t>jelszo </a:t>
            </a:r>
            <a:r>
              <a:rPr sz="1100">
                <a:solidFill>
                  <a:srgbClr val="B0BEC5"/>
                </a:solidFill>
                <a:latin typeface="Cascadia Code"/>
              </a:rPr>
              <a:t>= document.getElementById(</a:t>
            </a:r>
            <a:r>
              <a:rPr sz="1100">
                <a:solidFill>
                  <a:srgbClr val="FFD54F"/>
                </a:solidFill>
                <a:latin typeface="Cascadia Code"/>
              </a:rPr>
              <a:t>'jelszo'</a:t>
            </a:r>
            <a:r>
              <a:rPr sz="1100">
                <a:solidFill>
                  <a:srgbClr val="B0BEC5"/>
                </a:solidFill>
                <a:latin typeface="Cascadia Code"/>
              </a:rPr>
              <a:t>).value;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B0BEC5"/>
                </a:solidFill>
                <a:latin typeface="Cascadia Code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607D8B"/>
                </a:solidFill>
                <a:latin typeface="Cascadia Code"/>
              </a:rPr>
              <a:t>  // POST keres az API-ra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CE93D8"/>
                </a:solidFill>
                <a:latin typeface="Cascadia Code"/>
              </a:rPr>
              <a:t>  const </a:t>
            </a:r>
            <a:r>
              <a:rPr sz="1100">
                <a:solidFill>
                  <a:srgbClr val="E8F0FE"/>
                </a:solidFill>
                <a:latin typeface="Cascadia Code"/>
              </a:rPr>
              <a:t>response </a:t>
            </a:r>
            <a:r>
              <a:rPr sz="1100">
                <a:solidFill>
                  <a:srgbClr val="CE93D8"/>
                </a:solidFill>
                <a:latin typeface="Cascadia Code"/>
              </a:rPr>
              <a:t>= await </a:t>
            </a:r>
            <a:r>
              <a:rPr sz="1100">
                <a:solidFill>
                  <a:srgbClr val="69F0AE"/>
                </a:solidFill>
                <a:latin typeface="Cascadia Code"/>
              </a:rPr>
              <a:t>fetch</a:t>
            </a:r>
            <a:r>
              <a:rPr sz="1100">
                <a:solidFill>
                  <a:srgbClr val="B0BEC5"/>
                </a:solidFill>
                <a:latin typeface="Cascadia Code"/>
              </a:rPr>
              <a:t>(`${API_BASE_URL}/login`,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B0BEC5"/>
                </a:solidFill>
                <a:latin typeface="Cascadia Code"/>
              </a:rPr>
              <a:t>    method:  </a:t>
            </a:r>
            <a:r>
              <a:rPr sz="1100">
                <a:solidFill>
                  <a:srgbClr val="FFD54F"/>
                </a:solidFill>
                <a:latin typeface="Cascadia Code"/>
              </a:rPr>
              <a:t>'POST'</a:t>
            </a:r>
            <a:r>
              <a:rPr sz="1100">
                <a:solidFill>
                  <a:srgbClr val="B0BEC5"/>
                </a:solidFill>
                <a:latin typeface="Cascadia Code"/>
              </a:rPr>
              <a:t>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B0BEC5"/>
                </a:solidFill>
                <a:latin typeface="Cascadia Code"/>
              </a:rPr>
              <a:t>    headers: { 'Content-Type': </a:t>
            </a:r>
            <a:r>
              <a:rPr sz="1100">
                <a:solidFill>
                  <a:srgbClr val="FFD54F"/>
                </a:solidFill>
                <a:latin typeface="Cascadia Code"/>
              </a:rPr>
              <a:t>'application/json'</a:t>
            </a:r>
            <a:r>
              <a:rPr sz="1100">
                <a:solidFill>
                  <a:srgbClr val="B0BEC5"/>
                </a:solidFill>
                <a:latin typeface="Cascadia Code"/>
              </a:rPr>
              <a:t>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69F0AE"/>
                </a:solidFill>
                <a:latin typeface="Cascadia Code"/>
              </a:rPr>
              <a:t>    body:    JSON.stringify</a:t>
            </a:r>
            <a:r>
              <a:rPr sz="1100">
                <a:solidFill>
                  <a:srgbClr val="B0BEC5"/>
                </a:solidFill>
                <a:latin typeface="Cascadia Code"/>
              </a:rPr>
              <a:t>({ felhasznalonev, jelszo })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B0BEC5"/>
                </a:solidFill>
                <a:latin typeface="Cascadia Code"/>
              </a:rPr>
              <a:t>  });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B0BEC5"/>
                </a:solidFill>
                <a:latin typeface="Cascadia Code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CE93D8"/>
                </a:solidFill>
                <a:latin typeface="Cascadia Code"/>
              </a:rPr>
              <a:t>  const </a:t>
            </a:r>
            <a:r>
              <a:rPr sz="1100">
                <a:solidFill>
                  <a:srgbClr val="E8F0FE"/>
                </a:solidFill>
                <a:latin typeface="Cascadia Code"/>
              </a:rPr>
              <a:t>data </a:t>
            </a:r>
            <a:r>
              <a:rPr sz="1100">
                <a:solidFill>
                  <a:srgbClr val="B0BEC5"/>
                </a:solidFill>
                <a:latin typeface="Cascadia Code"/>
              </a:rPr>
              <a:t>= await response.json();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CE93D8"/>
                </a:solidFill>
                <a:latin typeface="Cascadia Code"/>
              </a:rPr>
              <a:t>  if </a:t>
            </a:r>
            <a:r>
              <a:rPr sz="1100">
                <a:solidFill>
                  <a:srgbClr val="B0BEC5"/>
                </a:solidFill>
                <a:latin typeface="Cascadia Code"/>
              </a:rPr>
              <a:t>(response.ok)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69F0AE"/>
                </a:solidFill>
                <a:latin typeface="Cascadia Code"/>
              </a:rPr>
              <a:t>    sessionStorage.setItem</a:t>
            </a:r>
            <a:r>
              <a:rPr sz="1100">
                <a:solidFill>
                  <a:srgbClr val="B0BEC5"/>
                </a:solidFill>
                <a:latin typeface="Cascadia Code"/>
              </a:rPr>
              <a:t>(</a:t>
            </a:r>
            <a:r>
              <a:rPr sz="1100">
                <a:solidFill>
                  <a:srgbClr val="FFD54F"/>
                </a:solidFill>
                <a:latin typeface="Cascadia Code"/>
              </a:rPr>
              <a:t>'authToken'</a:t>
            </a:r>
            <a:r>
              <a:rPr sz="1100">
                <a:solidFill>
                  <a:srgbClr val="B0BEC5"/>
                </a:solidFill>
                <a:latin typeface="Cascadia Code"/>
              </a:rPr>
              <a:t>, data.token); </a:t>
            </a:r>
            <a:r>
              <a:rPr sz="1100">
                <a:solidFill>
                  <a:srgbClr val="607D8B"/>
                </a:solidFill>
                <a:latin typeface="Cascadia Code"/>
              </a:rPr>
              <a:t>// JWT elmentese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B0BEC5"/>
                </a:solidFill>
                <a:latin typeface="Cascadia Code"/>
              </a:rPr>
              <a:t>    window.location.href = </a:t>
            </a:r>
            <a:r>
              <a:rPr sz="1100">
                <a:solidFill>
                  <a:srgbClr val="FFD54F"/>
                </a:solidFill>
                <a:latin typeface="Cascadia Code"/>
              </a:rPr>
              <a:t>'main.html'</a:t>
            </a:r>
            <a:r>
              <a:rPr sz="1100">
                <a:solidFill>
                  <a:srgbClr val="B0BEC5"/>
                </a:solidFill>
                <a:latin typeface="Cascadia Code"/>
              </a:rPr>
              <a:t>;  </a:t>
            </a:r>
            <a:r>
              <a:rPr sz="1100">
                <a:solidFill>
                  <a:srgbClr val="607D8B"/>
                </a:solidFill>
                <a:latin typeface="Cascadia Code"/>
              </a:rPr>
              <a:t>// atiranyitas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B0BEC5"/>
                </a:solidFill>
                <a:latin typeface="Cascadia Code"/>
              </a:rPr>
              <a:t>  } else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B0BEC5"/>
                </a:solidFill>
                <a:latin typeface="Cascadia Code"/>
              </a:rPr>
              <a:t>    loginErrorDiv.textContent = data.error || </a:t>
            </a:r>
            <a:r>
              <a:rPr sz="1100">
                <a:solidFill>
                  <a:srgbClr val="FFD54F"/>
                </a:solidFill>
                <a:latin typeface="Cascadia Code"/>
              </a:rPr>
              <a:t>'Sikertelen bejelentkezes.'</a:t>
            </a:r>
            <a:r>
              <a:rPr sz="1100">
                <a:solidFill>
                  <a:srgbClr val="B0BEC5"/>
                </a:solidFill>
                <a:latin typeface="Cascadia Code"/>
              </a:rPr>
              <a:t>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B0BEC5"/>
                </a:solidFill>
                <a:latin typeface="Cascadia Code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B0BEC5"/>
                </a:solidFill>
                <a:latin typeface="Cascadia Code"/>
              </a:rP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07D8B"/>
                </a:solidFill>
                <a:latin typeface="Segoe UI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FC3F7"/>
                </a:solidFill>
                <a:latin typeface="Segoe UI"/>
              </a:rPr>
              <a:t>FRONTEND KOD  -  MAIN-APP.JS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8F0FE"/>
                </a:solidFill>
                <a:latin typeface="Segoe UI"/>
              </a:rPr>
              <a:t>Hibak megjelenitese  -  renderFaults()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74552" cy="27432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61872"/>
            <a:ext cx="11274552" cy="5257800"/>
          </a:xfrm>
          <a:prstGeom prst="rect">
            <a:avLst/>
          </a:prstGeom>
          <a:solidFill>
            <a:srgbClr val="05101A"/>
          </a:solidFill>
          <a:ln w="12700">
            <a:solidFill>
              <a:srgbClr val="1A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1000232" cy="50383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CE93D8"/>
                </a:solidFill>
                <a:latin typeface="Cascadia Code"/>
              </a:rPr>
              <a:t>function </a:t>
            </a:r>
            <a:r>
              <a:rPr sz="1100">
                <a:solidFill>
                  <a:srgbClr val="69F0AE"/>
                </a:solidFill>
                <a:latin typeface="Cascadia Code"/>
              </a:rPr>
              <a:t>renderFaults</a:t>
            </a:r>
            <a:r>
              <a:rPr sz="1100">
                <a:solidFill>
                  <a:srgbClr val="B0BEC5"/>
                </a:solidFill>
                <a:latin typeface="Cascadia Code"/>
              </a:rPr>
              <a:t>(faults)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CE93D8"/>
                </a:solidFill>
                <a:latin typeface="Cascadia Code"/>
              </a:rPr>
              <a:t>  const </a:t>
            </a:r>
            <a:r>
              <a:rPr sz="1100">
                <a:solidFill>
                  <a:srgbClr val="E8F0FE"/>
                </a:solidFill>
                <a:latin typeface="Cascadia Code"/>
              </a:rPr>
              <a:t>tableBody </a:t>
            </a:r>
            <a:r>
              <a:rPr sz="1100">
                <a:solidFill>
                  <a:srgbClr val="B0BEC5"/>
                </a:solidFill>
                <a:latin typeface="Cascadia Code"/>
              </a:rPr>
              <a:t>= document.getElementById(</a:t>
            </a:r>
            <a:r>
              <a:rPr sz="1100">
                <a:solidFill>
                  <a:srgbClr val="FFD54F"/>
                </a:solidFill>
                <a:latin typeface="Cascadia Code"/>
              </a:rPr>
              <a:t>'faultsTableBody'</a:t>
            </a:r>
            <a:r>
              <a:rPr sz="1100">
                <a:solidFill>
                  <a:srgbClr val="B0BEC5"/>
                </a:solidFill>
                <a:latin typeface="Cascadia Code"/>
              </a:rPr>
              <a:t>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B0BEC5"/>
                </a:solidFill>
                <a:latin typeface="Cascadia Code"/>
              </a:rPr>
              <a:t>  tableBody.innerHTML = </a:t>
            </a:r>
            <a:r>
              <a:rPr sz="1100">
                <a:solidFill>
                  <a:srgbClr val="B0BEC5"/>
                </a:solidFill>
                <a:latin typeface="Cascadia Code"/>
              </a:rPr>
              <a:t>'';  </a:t>
            </a:r>
            <a:r>
              <a:rPr sz="1100">
                <a:solidFill>
                  <a:srgbClr val="607D8B"/>
                </a:solidFill>
                <a:latin typeface="Cascadia Code"/>
              </a:rPr>
              <a:t>// tabla torleése ujrarendereles elott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B0BEC5"/>
                </a:solidFill>
                <a:latin typeface="Cascadia Code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69F0AE"/>
                </a:solidFill>
                <a:latin typeface="Cascadia Code"/>
              </a:rPr>
              <a:t>  faults.forEach</a:t>
            </a:r>
            <a:r>
              <a:rPr sz="1100">
                <a:solidFill>
                  <a:srgbClr val="B0BEC5"/>
                </a:solidFill>
                <a:latin typeface="Cascadia Code"/>
              </a:rPr>
              <a:t>(fault =&gt;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CE93D8"/>
                </a:solidFill>
                <a:latin typeface="Cascadia Code"/>
              </a:rPr>
              <a:t>    const </a:t>
            </a:r>
            <a:r>
              <a:rPr sz="1100">
                <a:solidFill>
                  <a:srgbClr val="E8F0FE"/>
                </a:solidFill>
                <a:latin typeface="Cascadia Code"/>
              </a:rPr>
              <a:t>row </a:t>
            </a:r>
            <a:r>
              <a:rPr sz="1100">
                <a:solidFill>
                  <a:srgbClr val="B0BEC5"/>
                </a:solidFill>
                <a:latin typeface="Cascadia Code"/>
              </a:rPr>
              <a:t>= tableBody.insertRow();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B0BEC5"/>
                </a:solidFill>
                <a:latin typeface="Cascadia Code"/>
              </a:rPr>
              <a:t>    row.insertCell().textContent = fault.datum;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B0BEC5"/>
                </a:solidFill>
                <a:latin typeface="Cascadia Code"/>
              </a:rPr>
              <a:t>    row.insertCell().textContent = fault.terem;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B0BEC5"/>
                </a:solidFill>
                <a:latin typeface="Cascadia Code"/>
              </a:rPr>
              <a:t>    row.insertCell().textContent = fault.leiras;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B0BEC5"/>
                </a:solidFill>
                <a:latin typeface="Cascadia Code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607D8B"/>
                </a:solidFill>
                <a:latin typeface="Cascadia Code"/>
              </a:rPr>
              <a:t>    // Allapot - Bootstrap badge szinezessel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CE93D8"/>
                </a:solidFill>
                <a:latin typeface="Cascadia Code"/>
              </a:rPr>
              <a:t>    const </a:t>
            </a:r>
            <a:r>
              <a:rPr sz="1100">
                <a:solidFill>
                  <a:srgbClr val="E8F0FE"/>
                </a:solidFill>
                <a:latin typeface="Cascadia Code"/>
              </a:rPr>
              <a:t>szin </a:t>
            </a:r>
            <a:r>
              <a:rPr sz="1100">
                <a:solidFill>
                  <a:srgbClr val="B0BEC5"/>
                </a:solidFill>
                <a:latin typeface="Cascadia Code"/>
              </a:rPr>
              <a:t>= fault.allapot === </a:t>
            </a:r>
            <a:r>
              <a:rPr sz="1100">
                <a:solidFill>
                  <a:srgbClr val="FFD54F"/>
                </a:solidFill>
                <a:latin typeface="Cascadia Code"/>
              </a:rPr>
              <a:t>'bejelentve'</a:t>
            </a:r>
            <a:r>
              <a:rPr sz="1100">
                <a:solidFill>
                  <a:srgbClr val="B0BEC5"/>
                </a:solidFill>
                <a:latin typeface="Cascadia Code"/>
              </a:rPr>
              <a:t> ? </a:t>
            </a:r>
            <a:r>
              <a:rPr sz="1100">
                <a:solidFill>
                  <a:srgbClr val="FFD54F"/>
                </a:solidFill>
                <a:latin typeface="Cascadia Code"/>
              </a:rPr>
              <a:t>'warning'</a:t>
            </a:r>
            <a:r>
              <a:rPr sz="1100">
                <a:solidFill>
                  <a:srgbClr val="B0BEC5"/>
                </a:solidFill>
                <a:latin typeface="Cascadia Code"/>
              </a:rPr>
              <a:t> : </a:t>
            </a:r>
            <a:r>
              <a:rPr sz="1100">
                <a:solidFill>
                  <a:srgbClr val="FFD54F"/>
                </a:solidFill>
                <a:latin typeface="Cascadia Code"/>
              </a:rPr>
              <a:t>'success'</a:t>
            </a:r>
            <a:r>
              <a:rPr sz="1100">
                <a:solidFill>
                  <a:srgbClr val="B0BEC5"/>
                </a:solidFill>
                <a:latin typeface="Cascadia Code"/>
              </a:rPr>
              <a:t>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B0BEC5"/>
                </a:solidFill>
                <a:latin typeface="Cascadia Code"/>
              </a:rPr>
              <a:t>    row.insertCell().innerHTML = `&lt;span class="badge bg-${szin}"&gt;${fault.allapot}&lt;/span&gt;`;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B0BEC5"/>
                </a:solidFill>
                <a:latin typeface="Cascadia Code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607D8B"/>
                </a:solidFill>
                <a:latin typeface="Cascadia Code"/>
              </a:rPr>
              <a:t>    // Javitas gomb - csak karbantarto / admin latja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CE93D8"/>
                </a:solidFill>
                <a:latin typeface="Cascadia Code"/>
              </a:rPr>
              <a:t>    if </a:t>
            </a:r>
            <a:r>
              <a:rPr sz="1100">
                <a:solidFill>
                  <a:srgbClr val="B0BEC5"/>
                </a:solidFill>
                <a:latin typeface="Cascadia Code"/>
              </a:rPr>
              <a:t>(fault.allapot === </a:t>
            </a:r>
            <a:r>
              <a:rPr sz="1100">
                <a:solidFill>
                  <a:srgbClr val="FFD54F"/>
                </a:solidFill>
                <a:latin typeface="Cascadia Code"/>
              </a:rPr>
              <a:t>'bejelentve'</a:t>
            </a:r>
            <a:r>
              <a:rPr sz="1100">
                <a:solidFill>
                  <a:srgbClr val="B0BEC5"/>
                </a:solidFill>
                <a:latin typeface="Cascadia Code"/>
              </a:rPr>
              <a:t> &amp;&amp; (szerep === </a:t>
            </a:r>
            <a:r>
              <a:rPr sz="1100">
                <a:solidFill>
                  <a:srgbClr val="FFD54F"/>
                </a:solidFill>
                <a:latin typeface="Cascadia Code"/>
              </a:rPr>
              <a:t>'admin'</a:t>
            </a:r>
            <a:r>
              <a:rPr sz="1100">
                <a:solidFill>
                  <a:srgbClr val="B0BEC5"/>
                </a:solidFill>
                <a:latin typeface="Cascadia Code"/>
              </a:rPr>
              <a:t> || szerep === </a:t>
            </a:r>
            <a:r>
              <a:rPr sz="1100">
                <a:solidFill>
                  <a:srgbClr val="FFD54F"/>
                </a:solidFill>
                <a:latin typeface="Cascadia Code"/>
              </a:rPr>
              <a:t>'karbantarto'</a:t>
            </a:r>
            <a:r>
              <a:rPr sz="1100">
                <a:solidFill>
                  <a:srgbClr val="B0BEC5"/>
                </a:solidFill>
                <a:latin typeface="Cascadia Code"/>
              </a:rPr>
              <a:t>))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CE93D8"/>
                </a:solidFill>
                <a:latin typeface="Cascadia Code"/>
              </a:rPr>
              <a:t>      const </a:t>
            </a:r>
            <a:r>
              <a:rPr sz="1100">
                <a:solidFill>
                  <a:srgbClr val="E8F0FE"/>
                </a:solidFill>
                <a:latin typeface="Cascadia Code"/>
              </a:rPr>
              <a:t>btn </a:t>
            </a:r>
            <a:r>
              <a:rPr sz="1100">
                <a:solidFill>
                  <a:srgbClr val="B0BEC5"/>
                </a:solidFill>
                <a:latin typeface="Cascadia Code"/>
              </a:rPr>
              <a:t>= document.createElement(</a:t>
            </a:r>
            <a:r>
              <a:rPr sz="1100">
                <a:solidFill>
                  <a:srgbClr val="FFD54F"/>
                </a:solidFill>
                <a:latin typeface="Cascadia Code"/>
              </a:rPr>
              <a:t>'button'</a:t>
            </a:r>
            <a:r>
              <a:rPr sz="1100">
                <a:solidFill>
                  <a:srgbClr val="B0BEC5"/>
                </a:solidFill>
                <a:latin typeface="Cascadia Code"/>
              </a:rPr>
              <a:t>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B0BEC5"/>
                </a:solidFill>
                <a:latin typeface="Cascadia Code"/>
              </a:rPr>
              <a:t>      btn.textContent = </a:t>
            </a:r>
            <a:r>
              <a:rPr sz="1100">
                <a:solidFill>
                  <a:srgbClr val="FFD54F"/>
                </a:solidFill>
                <a:latin typeface="Cascadia Code"/>
              </a:rPr>
              <a:t>'Javitas'</a:t>
            </a:r>
            <a:r>
              <a:rPr sz="1100">
                <a:solidFill>
                  <a:srgbClr val="B0BEC5"/>
                </a:solidFill>
                <a:latin typeface="Cascadia Code"/>
              </a:rPr>
              <a:t>;  btn.onclick = () =&gt; handleMarkAsFixed(fault.id);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B0BEC5"/>
                </a:solidFill>
                <a:latin typeface="Cascadia Code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B0BEC5"/>
                </a:solidFill>
                <a:latin typeface="Cascadia Code"/>
              </a:rPr>
              <a:t>  });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B0BEC5"/>
                </a:solidFill>
                <a:latin typeface="Cascadia Code"/>
              </a:rP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07D8B"/>
                </a:solidFill>
                <a:latin typeface="Segoe UI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FC3F7"/>
                </a:solidFill>
                <a:latin typeface="Segoe UI"/>
              </a:rPr>
              <a:t>ADATBAZIS  -  SQLITE DDL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8F0FE"/>
                </a:solidFill>
                <a:latin typeface="Segoe UI"/>
              </a:rPr>
              <a:t>Adatbazis sema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74552" cy="27432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61872"/>
            <a:ext cx="11274552" cy="5257800"/>
          </a:xfrm>
          <a:prstGeom prst="rect">
            <a:avLst/>
          </a:prstGeom>
          <a:solidFill>
            <a:srgbClr val="05101A"/>
          </a:solidFill>
          <a:ln w="12700">
            <a:solidFill>
              <a:srgbClr val="1A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1000232" cy="50383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CE93D8"/>
                </a:solidFill>
                <a:latin typeface="Cascadia Code"/>
              </a:rPr>
              <a:t>CREATE TABLE </a:t>
            </a:r>
            <a:r>
              <a:rPr sz="1050">
                <a:solidFill>
                  <a:srgbClr val="69F0AE"/>
                </a:solidFill>
                <a:latin typeface="Cascadia Code"/>
              </a:rPr>
              <a:t>felhasznalok</a:t>
            </a:r>
            <a:r>
              <a:rPr sz="1050">
                <a:solidFill>
                  <a:srgbClr val="B0BEC5"/>
                </a:solidFill>
                <a:latin typeface="Cascadia Code"/>
              </a:rPr>
              <a:t> 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CE93D8"/>
                </a:solidFill>
                <a:latin typeface="Cascadia Code"/>
              </a:rPr>
              <a:t>  id             INTEGER  </a:t>
            </a:r>
            <a:r>
              <a:rPr sz="1050">
                <a:solidFill>
                  <a:srgbClr val="FFD54F"/>
                </a:solidFill>
                <a:latin typeface="Cascadia Code"/>
              </a:rPr>
              <a:t>PRIMARY KEY AUTOINCREMENT</a:t>
            </a:r>
            <a:r>
              <a:rPr sz="1050">
                <a:solidFill>
                  <a:srgbClr val="B0BEC5"/>
                </a:solidFill>
                <a:latin typeface="Cascadia Code"/>
              </a:rPr>
              <a:t>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B0BEC5"/>
                </a:solidFill>
                <a:latin typeface="Cascadia Code"/>
              </a:rPr>
              <a:t>  nev            TEXT     NOT NULL,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B0BEC5"/>
                </a:solidFill>
                <a:latin typeface="Cascadia Code"/>
              </a:rPr>
              <a:t>  felhasznalonev TEXT     UNIQUE NOT NULL,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B0BEC5"/>
                </a:solidFill>
                <a:latin typeface="Cascadia Code"/>
              </a:rPr>
              <a:t>  jelszo         TEXT     NOT NULL,      </a:t>
            </a:r>
            <a:r>
              <a:rPr sz="1050">
                <a:solidFill>
                  <a:srgbClr val="607D8B"/>
                </a:solidFill>
                <a:latin typeface="Cascadia Code"/>
              </a:rPr>
              <a:t>-- bcrypt hash, soha nem plain text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B0BEC5"/>
                </a:solidFill>
                <a:latin typeface="Cascadia Code"/>
              </a:rPr>
              <a:t>  szerep         TEXT     NOT NULL       </a:t>
            </a:r>
            <a:r>
              <a:rPr sz="1050">
                <a:solidFill>
                  <a:srgbClr val="607D8B"/>
                </a:solidFill>
                <a:latin typeface="Cascadia Code"/>
              </a:rPr>
              <a:t>-- tanar | karbantarto | admin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B0BEC5"/>
                </a:solidFill>
                <a:latin typeface="Cascadia Code"/>
              </a:rPr>
              <a:t>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B0BEC5"/>
                </a:solidFill>
                <a:latin typeface="Cascadia Code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CE93D8"/>
                </a:solidFill>
                <a:latin typeface="Cascadia Code"/>
              </a:rPr>
              <a:t>CREATE TABLE </a:t>
            </a:r>
            <a:r>
              <a:rPr sz="1050">
                <a:solidFill>
                  <a:srgbClr val="69F0AE"/>
                </a:solidFill>
                <a:latin typeface="Cascadia Code"/>
              </a:rPr>
              <a:t>hibak</a:t>
            </a:r>
            <a:r>
              <a:rPr sz="1050">
                <a:solidFill>
                  <a:srgbClr val="B0BEC5"/>
                </a:solidFill>
                <a:latin typeface="Cascadia Code"/>
              </a:rPr>
              <a:t> 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CE93D8"/>
                </a:solidFill>
                <a:latin typeface="Cascadia Code"/>
              </a:rPr>
              <a:t>  id               INTEGER  </a:t>
            </a:r>
            <a:r>
              <a:rPr sz="1050">
                <a:solidFill>
                  <a:srgbClr val="FFD54F"/>
                </a:solidFill>
                <a:latin typeface="Cascadia Code"/>
              </a:rPr>
              <a:t>PRIMARY KEY AUTOINCREMENT</a:t>
            </a:r>
            <a:r>
              <a:rPr sz="1050">
                <a:solidFill>
                  <a:srgbClr val="B0BEC5"/>
                </a:solidFill>
                <a:latin typeface="Cascadia Code"/>
              </a:rPr>
              <a:t>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B0BEC5"/>
                </a:solidFill>
                <a:latin typeface="Cascadia Code"/>
              </a:rPr>
              <a:t>  datum            TEXT     NOT NULL,  </a:t>
            </a:r>
            <a:r>
              <a:rPr sz="1050">
                <a:solidFill>
                  <a:srgbClr val="607D8B"/>
                </a:solidFill>
                <a:latin typeface="Cascadia Code"/>
              </a:rPr>
              <a:t>-- YYYY-MM-DD, auto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B0BEC5"/>
                </a:solidFill>
                <a:latin typeface="Cascadia Code"/>
              </a:rPr>
              <a:t>  bejelento_id     INTEGER  NOT NULL,  </a:t>
            </a:r>
            <a:r>
              <a:rPr sz="1050">
                <a:solidFill>
                  <a:srgbClr val="607D8B"/>
                </a:solidFill>
                <a:latin typeface="Cascadia Code"/>
              </a:rPr>
              <a:t>-- FK -&gt; felhasznalok.id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B0BEC5"/>
                </a:solidFill>
                <a:latin typeface="Cascadia Code"/>
              </a:rPr>
              <a:t>  terem            TEXT     NOT NULL,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B0BEC5"/>
                </a:solidFill>
                <a:latin typeface="Cascadia Code"/>
              </a:rPr>
              <a:t>  leiras           TEXT     NOT NULL,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B0BEC5"/>
                </a:solidFill>
                <a:latin typeface="Cascadia Code"/>
              </a:rPr>
              <a:t>  allapot          TEXT     NOT NULL,  </a:t>
            </a:r>
            <a:r>
              <a:rPr sz="1050">
                <a:solidFill>
                  <a:srgbClr val="607D8B"/>
                </a:solidFill>
                <a:latin typeface="Cascadia Code"/>
              </a:rPr>
              <a:t>-- bejelentve | kijavitva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B0BEC5"/>
                </a:solidFill>
                <a:latin typeface="Cascadia Code"/>
              </a:rPr>
              <a:t>  javito_id        INTEGER,            </a:t>
            </a:r>
            <a:r>
              <a:rPr sz="1050">
                <a:solidFill>
                  <a:srgbClr val="607D8B"/>
                </a:solidFill>
                <a:latin typeface="Cascadia Code"/>
              </a:rPr>
              <a:t>-- FK -&gt; felhasznalok.id (NULL amig nincs javitva)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B0BEC5"/>
                </a:solidFill>
                <a:latin typeface="Cascadia Code"/>
              </a:rPr>
              <a:t>  javitas_datuma   TEXT,               </a:t>
            </a:r>
            <a:r>
              <a:rPr sz="1050">
                <a:solidFill>
                  <a:srgbClr val="607D8B"/>
                </a:solidFill>
                <a:latin typeface="Cascadia Code"/>
              </a:rPr>
              <a:t>-- auto, YYYY-MM-DD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B0BEC5"/>
                </a:solidFill>
                <a:latin typeface="Cascadia Code"/>
              </a:rPr>
              <a:t>  FOREIGN KEY (bejelento_id) REFERENCES </a:t>
            </a:r>
            <a:r>
              <a:rPr sz="1050">
                <a:solidFill>
                  <a:srgbClr val="69F0AE"/>
                </a:solidFill>
                <a:latin typeface="Cascadia Code"/>
              </a:rPr>
              <a:t>felhasznalok</a:t>
            </a:r>
            <a:r>
              <a:rPr sz="1050">
                <a:solidFill>
                  <a:srgbClr val="B0BEC5"/>
                </a:solidFill>
                <a:latin typeface="Cascadia Code"/>
              </a:rPr>
              <a:t>(id),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B0BEC5"/>
                </a:solidFill>
                <a:latin typeface="Cascadia Code"/>
              </a:rPr>
              <a:t>  FOREIGN KEY (javito_id)    REFERENCES </a:t>
            </a:r>
            <a:r>
              <a:rPr sz="1050">
                <a:solidFill>
                  <a:srgbClr val="69F0AE"/>
                </a:solidFill>
                <a:latin typeface="Cascadia Code"/>
              </a:rPr>
              <a:t>felhasznalok</a:t>
            </a:r>
            <a:r>
              <a:rPr sz="1050">
                <a:solidFill>
                  <a:srgbClr val="B0BEC5"/>
                </a:solidFill>
                <a:latin typeface="Cascadia Code"/>
              </a:rPr>
              <a:t>(id)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B0BEC5"/>
                </a:solidFill>
                <a:latin typeface="Cascadia Code"/>
              </a:rPr>
              <a:t>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07D8B"/>
                </a:solidFill>
                <a:latin typeface="Segoe UI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FC3F7"/>
                </a:solidFill>
                <a:latin typeface="Segoe UI"/>
              </a:rPr>
              <a:t>FRONTEND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8F0FE"/>
                </a:solidFill>
                <a:latin typeface="Segoe UI"/>
              </a:rPr>
              <a:t>Az alkalmazas oldalai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74552" cy="27432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61872"/>
            <a:ext cx="5394960" cy="2487168"/>
          </a:xfrm>
          <a:prstGeom prst="rect">
            <a:avLst/>
          </a:prstGeom>
          <a:solidFill>
            <a:srgbClr val="1B2D45"/>
          </a:solidFill>
          <a:ln w="12700">
            <a:solidFill>
              <a:srgbClr val="2A4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53312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E8F0FE"/>
                </a:solidFill>
                <a:latin typeface="Segoe UI"/>
              </a:rPr>
              <a:t>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380743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FC3F7"/>
                </a:solidFill>
                <a:latin typeface="Segoe UI"/>
              </a:rPr>
              <a:t>Bejelentkezes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783079"/>
            <a:ext cx="4023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E082"/>
                </a:solidFill>
                <a:latin typeface="Cascadia Code"/>
              </a:rPr>
              <a:t>index.html + login.js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76272"/>
            <a:ext cx="49377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B0BEC5"/>
                </a:solidFill>
              </a:rPr>
              <a:t>  Felhasznalonev + jelszo bevitel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B0BEC5"/>
                </a:solidFill>
              </a:rPr>
              <a:t>  JWT -&gt; sessionStorage -&gt; main.html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261872"/>
            <a:ext cx="5394960" cy="2487168"/>
          </a:xfrm>
          <a:prstGeom prst="rect">
            <a:avLst/>
          </a:prstGeom>
          <a:solidFill>
            <a:srgbClr val="1B2D45"/>
          </a:solidFill>
          <a:ln w="12700">
            <a:solidFill>
              <a:srgbClr val="2A4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353312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E8F0FE"/>
                </a:solidFill>
                <a:latin typeface="Segoe UI"/>
              </a:rPr>
              <a:t>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1380743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FC3F7"/>
                </a:solidFill>
                <a:latin typeface="Segoe UI"/>
              </a:rPr>
              <a:t>Fooldal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1783079"/>
            <a:ext cx="4023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E082"/>
                </a:solidFill>
                <a:latin typeface="Cascadia Code"/>
              </a:rPr>
              <a:t>main.html + main-app.js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176272"/>
            <a:ext cx="49377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B0BEC5"/>
                </a:solidFill>
              </a:rPr>
              <a:t>  Hibak tablazata allapot-szuroval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B0BEC5"/>
                </a:solidFill>
              </a:rPr>
              <a:t>  Uj hiba urlap (tanar / admin)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B0BEC5"/>
                </a:solidFill>
              </a:rPr>
              <a:t>  Javitas gomb (karbantarto / admin)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858768"/>
            <a:ext cx="5394960" cy="2487168"/>
          </a:xfrm>
          <a:prstGeom prst="rect">
            <a:avLst/>
          </a:prstGeom>
          <a:solidFill>
            <a:srgbClr val="1B2D45"/>
          </a:solidFill>
          <a:ln w="12700">
            <a:solidFill>
              <a:srgbClr val="2A4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950207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E8F0FE"/>
                </a:solidFill>
                <a:latin typeface="Segoe UI"/>
              </a:rPr>
              <a:t>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977639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FC3F7"/>
                </a:solidFill>
                <a:latin typeface="Segoe UI"/>
              </a:rPr>
              <a:t>Felhasznalokézeles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4379976"/>
            <a:ext cx="4023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E082"/>
                </a:solidFill>
                <a:latin typeface="Cascadia Code"/>
              </a:rPr>
              <a:t>admin_users.html + .js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773168"/>
            <a:ext cx="49377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B0BEC5"/>
                </a:solidFill>
              </a:rPr>
              <a:t>  Csak adminisztratorninak lathato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B0BEC5"/>
                </a:solidFill>
              </a:rPr>
              <a:t>  Uj felhasznalo hozzaadasa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B0BEC5"/>
                </a:solidFill>
              </a:rPr>
              <a:t>  Felhasznalok torlese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3858768"/>
            <a:ext cx="5394960" cy="2487168"/>
          </a:xfrm>
          <a:prstGeom prst="rect">
            <a:avLst/>
          </a:prstGeom>
          <a:solidFill>
            <a:srgbClr val="1B2D45"/>
          </a:solidFill>
          <a:ln w="12700">
            <a:solidFill>
              <a:srgbClr val="2A4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3950207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E8F0FE"/>
                </a:solidFill>
                <a:latin typeface="Segoe UI"/>
              </a:rPr>
              <a:t>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3977639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FC3F7"/>
                </a:solidFill>
                <a:latin typeface="Segoe UI"/>
              </a:rPr>
              <a:t>Sugo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4379976"/>
            <a:ext cx="4023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E082"/>
                </a:solidFill>
                <a:latin typeface="Cascadia Code"/>
              </a:rPr>
              <a:t>help.html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4773168"/>
            <a:ext cx="49377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B0BEC5"/>
                </a:solidFill>
              </a:rPr>
              <a:t>  Statikus reszponziv oldal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B0BEC5"/>
                </a:solidFill>
              </a:rPr>
              <a:t>  Navigaciobol uj lapon nyilik meg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07D8B"/>
                </a:solidFill>
                <a:latin typeface="Segoe UI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FC3F7"/>
                </a:solidFill>
                <a:latin typeface="Segoe UI"/>
              </a:rPr>
              <a:t>MINOSEGBIZTOSITAS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8F0FE"/>
                </a:solidFill>
                <a:latin typeface="Segoe UI"/>
              </a:rPr>
              <a:t>Teszteles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74552" cy="27432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61872"/>
            <a:ext cx="3657600" cy="3657600"/>
          </a:xfrm>
          <a:prstGeom prst="rect">
            <a:avLst/>
          </a:prstGeom>
          <a:solidFill>
            <a:srgbClr val="1B2D45"/>
          </a:solidFill>
          <a:ln w="12700">
            <a:solidFill>
              <a:srgbClr val="2A4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E8F0FE"/>
                </a:solidFill>
                <a:latin typeface="Segoe UI"/>
              </a:rPr>
              <a:t>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481328"/>
            <a:ext cx="2377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FC3F7"/>
                </a:solidFill>
                <a:latin typeface="Segoe UI"/>
              </a:rPr>
              <a:t>API tesztek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48840"/>
            <a:ext cx="3200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>
                <a:solidFill>
                  <a:srgbClr val="B0BEC5"/>
                </a:solidFill>
              </a:rPr>
              <a:t>  api_test.http - REST Client fajl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B0BEC5"/>
                </a:solidFill>
              </a:rPr>
              <a:t>  Minden vegpont manuálisan tesztelt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B0BEC5"/>
                </a:solidFill>
              </a:rPr>
              <a:t>  Login, hibak, javitas, torles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261872"/>
            <a:ext cx="3657600" cy="3657600"/>
          </a:xfrm>
          <a:prstGeom prst="rect">
            <a:avLst/>
          </a:prstGeom>
          <a:solidFill>
            <a:srgbClr val="1B2D45"/>
          </a:solidFill>
          <a:ln w="12700">
            <a:solidFill>
              <a:srgbClr val="2A4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41732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E8F0FE"/>
                </a:solidFill>
                <a:latin typeface="Segoe UI"/>
              </a:rPr>
              <a:t>🖥️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0" y="1481328"/>
            <a:ext cx="2377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9A825"/>
                </a:solidFill>
                <a:latin typeface="Segoe UI"/>
              </a:rPr>
              <a:t>E2E tesztek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148840"/>
            <a:ext cx="3200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>
                <a:solidFill>
                  <a:srgbClr val="B0BEC5"/>
                </a:solidFill>
              </a:rPr>
              <a:t>  e2etests.md - forgatokonyvek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B0BEC5"/>
                </a:solidFill>
              </a:rPr>
              <a:t>  e2e_futtatás.xlsx - futtatasi naplo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B0BEC5"/>
                </a:solidFill>
              </a:rPr>
              <a:t>  Teljes felhasznaloi folyamatok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21040" y="1261872"/>
            <a:ext cx="3657600" cy="3657600"/>
          </a:xfrm>
          <a:prstGeom prst="rect">
            <a:avLst/>
          </a:prstGeom>
          <a:solidFill>
            <a:srgbClr val="1B2D45"/>
          </a:solidFill>
          <a:ln w="12700">
            <a:solidFill>
              <a:srgbClr val="2A4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19" y="141732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E8F0FE"/>
                </a:solidFill>
                <a:latin typeface="Segoe UI"/>
              </a:rPr>
              <a:t>🗃️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0" y="1481328"/>
            <a:ext cx="2377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3E97B"/>
                </a:solidFill>
                <a:latin typeface="Segoe UI"/>
              </a:rPr>
              <a:t>Tesztadatok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2148840"/>
            <a:ext cx="3200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>
                <a:solidFill>
                  <a:srgbClr val="B0BEC5"/>
                </a:solidFill>
              </a:rPr>
              <a:t>  tesztadatok.sql - 5 felhasznalo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B0BEC5"/>
                </a:solidFill>
              </a:rPr>
              <a:t>  admin / tanarok / karbantartok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B0BEC5"/>
                </a:solidFill>
              </a:rPr>
              <a:t>  5 elore definialt hibabejelentes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166360"/>
            <a:ext cx="11274552" cy="1344168"/>
          </a:xfrm>
          <a:prstGeom prst="rect">
            <a:avLst/>
          </a:prstGeom>
          <a:solidFill>
            <a:srgbClr val="1B2D45"/>
          </a:solidFill>
          <a:ln w="12700">
            <a:solidFill>
              <a:srgbClr val="2A4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525780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C3F7"/>
                </a:solidFill>
                <a:latin typeface="Segoe UI"/>
              </a:rPr>
              <a:t>Tesztkörnyezet inditasa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650992"/>
            <a:ext cx="11274552" cy="777240"/>
          </a:xfrm>
          <a:prstGeom prst="rect">
            <a:avLst/>
          </a:prstGeom>
          <a:solidFill>
            <a:srgbClr val="05101A"/>
          </a:solidFill>
          <a:ln w="12700">
            <a:solidFill>
              <a:srgbClr val="1A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5760720"/>
            <a:ext cx="11000232" cy="5577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69F0AE"/>
                </a:solidFill>
                <a:latin typeface="Cascadia Code"/>
              </a:rPr>
              <a:t>$ sqlite3 hibabejelento.db &lt; tests/tesztadatok.sql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69F0AE"/>
                </a:solidFill>
                <a:latin typeface="Cascadia Code"/>
              </a:rPr>
              <a:t>$ npm start</a:t>
            </a:r>
            <a:r>
              <a:rPr sz="1100">
                <a:solidFill>
                  <a:srgbClr val="607D8B"/>
                </a:solidFill>
                <a:latin typeface="Cascadia Code"/>
              </a:rPr>
              <a:t>   # -&gt; http://localhost:3000  (PORT konfiguralhato .env-ben)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07D8B"/>
                </a:solidFill>
                <a:latin typeface="Segoe UI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FC3F7"/>
                </a:solidFill>
                <a:latin typeface="Segoe UI"/>
              </a:rPr>
              <a:t>OSSZEFOGLALAS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8F0FE"/>
                </a:solidFill>
                <a:latin typeface="Segoe UI"/>
              </a:rPr>
              <a:t>Eredmeny &amp; Tovabbfejlesztesi lehetosegek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74552" cy="27432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61872"/>
            <a:ext cx="5394960" cy="5212080"/>
          </a:xfrm>
          <a:prstGeom prst="rect">
            <a:avLst/>
          </a:prstGeom>
          <a:solidFill>
            <a:srgbClr val="1B2D45"/>
          </a:solidFill>
          <a:ln w="12700">
            <a:solidFill>
              <a:srgbClr val="2A4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3E97B"/>
                </a:solidFill>
                <a:latin typeface="Segoe UI"/>
              </a:rPr>
              <a:t>✅  Elkeszult funkciok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>
                <a:solidFill>
                  <a:srgbClr val="B0BEC5"/>
                </a:solidFill>
              </a:rPr>
              <a:t>  Szerepkor-alapu bejelentkezes (JWT)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B0BEC5"/>
                </a:solidFill>
              </a:rPr>
              <a:t>  Hibabejelentes es listazas szuroval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B0BEC5"/>
                </a:solidFill>
              </a:rPr>
              <a:t>  Javitas kezelese - javito + datum rogzitve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B0BEC5"/>
                </a:solidFill>
              </a:rPr>
              <a:t>  Admin felhasznalokézelo panel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B0BEC5"/>
                </a:solidFill>
              </a:rPr>
              <a:t>  Reszponziv UI - Bootstrap 5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B0BEC5"/>
                </a:solidFill>
              </a:rPr>
              <a:t>  REST API teljes dokumentacioval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B0BEC5"/>
                </a:solidFill>
              </a:rPr>
              <a:t>  Manualis API- es E2E tesztek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261872"/>
            <a:ext cx="5394960" cy="5212080"/>
          </a:xfrm>
          <a:prstGeom prst="rect">
            <a:avLst/>
          </a:prstGeom>
          <a:solidFill>
            <a:srgbClr val="1B2D45"/>
          </a:solidFill>
          <a:ln w="12700">
            <a:solidFill>
              <a:srgbClr val="2A4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371600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FC3F7"/>
                </a:solidFill>
                <a:latin typeface="Segoe UI"/>
              </a:rPr>
              <a:t>🚀  Tovabbfejlesztesi iranyok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874519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>
                <a:solidFill>
                  <a:srgbClr val="B0BEC5"/>
                </a:solidFill>
              </a:rPr>
              <a:t>  E-mail ertesites karbantartoknak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B0BEC5"/>
                </a:solidFill>
              </a:rPr>
              <a:t>  Kepfeltoltes a hibakhoz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B0BEC5"/>
                </a:solidFill>
              </a:rPr>
              <a:t>  Prioritaskezeles a hibajegyeken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B0BEC5"/>
                </a:solidFill>
              </a:rPr>
              <a:t>  Jelszocserelehetoseg felhasznaloknak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B0BEC5"/>
                </a:solidFill>
              </a:rPr>
              <a:t>  Reszletesebb naplo / audit log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B0BEC5"/>
                </a:solidFill>
              </a:rPr>
              <a:t>  Automatizalt (Jest / Supertest) tesztek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6473952"/>
            <a:ext cx="2103120" cy="310896"/>
          </a:xfrm>
          <a:prstGeom prst="rect">
            <a:avLst/>
          </a:prstGeom>
          <a:solidFill>
            <a:srgbClr val="1B2D45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6473952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73E8"/>
                </a:solidFill>
                <a:latin typeface="Segoe UI"/>
              </a:rPr>
              <a:t>Node.js + Express.js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34639" y="6473952"/>
            <a:ext cx="2103120" cy="310896"/>
          </a:xfrm>
          <a:prstGeom prst="rect">
            <a:avLst/>
          </a:prstGeom>
          <a:solidFill>
            <a:srgbClr val="1B2D45"/>
          </a:solidFill>
          <a:ln w="12700">
            <a:solidFill>
              <a:srgbClr val="43E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34639" y="6473952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43E97B"/>
                </a:solidFill>
                <a:latin typeface="Segoe UI"/>
              </a:rPr>
              <a:t>SQLite + better-sqlite3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10912" y="6473952"/>
            <a:ext cx="2103120" cy="310896"/>
          </a:xfrm>
          <a:prstGeom prst="rect">
            <a:avLst/>
          </a:prstGeom>
          <a:solidFill>
            <a:srgbClr val="1B2D45"/>
          </a:solidFill>
          <a:ln w="12700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10912" y="6473952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9A825"/>
                </a:solidFill>
                <a:latin typeface="Segoe UI"/>
              </a:rPr>
              <a:t>Bootstrap 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87183" y="6473952"/>
            <a:ext cx="2103120" cy="310896"/>
          </a:xfrm>
          <a:prstGeom prst="rect">
            <a:avLst/>
          </a:prstGeom>
          <a:solidFill>
            <a:srgbClr val="1B2D45"/>
          </a:solidFill>
          <a:ln w="12700">
            <a:solidFill>
              <a:srgbClr val="EF5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87183" y="6473952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F5350"/>
                </a:solidFill>
                <a:latin typeface="Segoe UI"/>
              </a:rPr>
              <a:t>bcrypt.js + JWT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63455" y="6473952"/>
            <a:ext cx="2103120" cy="310896"/>
          </a:xfrm>
          <a:prstGeom prst="rect">
            <a:avLst/>
          </a:prstGeom>
          <a:solidFill>
            <a:srgbClr val="1B2D45"/>
          </a:solidFill>
          <a:ln w="12700">
            <a:solidFill>
              <a:srgbClr val="90C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63455" y="6473952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90CAF9"/>
                </a:solidFill>
                <a:latin typeface="Segoe UI"/>
              </a:rPr>
              <a:t>Vanilla JS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07D8B"/>
                </a:solidFill>
                <a:latin typeface="Segoe UI"/>
              </a:rP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